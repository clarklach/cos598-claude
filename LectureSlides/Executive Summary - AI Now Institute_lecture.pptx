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We're covering the AI Now Institute's 2023 Landscape Report, which reframes the entire AI governance debate away from technological risk and toward corporate power concentration. This is a provocative, politically engaged piece — approach it critically.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objectives map to what you'll need for the response paper. By the end, you should be able to both steelman and critique the report's central thesis.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move briskly. The first half establishes the framework; the second half interrogates it. Save detailed questions for the discussion segments.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set the stage. The report was published shortly after ChatGPT's release in late 2022, during a massive wave of AI hype. The authors had just returned from advising the FTC — this shapes their perspective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institutional positionality here. The authors aren't neutral academics — they're former FTC advisors turned advocates. This shapes both the report's strengths (insider knowledge of regulatory machinery) and its limitations (a particular political orientation).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is not anti-technology per se — it's arguing that these documented harms are symptoms of a deeper structural problem. The harms are the tip of the iceberg; the power concentration underneath is the real issue.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report's foundational normative claim. It directly challenges technological determinism — the idea that AI development follows a natural, unstoppable trajectory. Ask students: what assumptions does this challenge?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get to the heart of the report. The core move is a reframing: from 'How do we govern AI technology?' to 'How do we govern the corporations that control AI?'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'Big Tech' is a political label, not a precise legal category. The parallel to Big Tobacco is about political trajectory — how concentrated power eventually triggers accountability movements — not about transplanting specific tobacco regulations.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quote captures the rhetorical strategy. The 'Big Tech' label is itself a political move — it reframes these companies from innovative benefactors to entities whose power must be checked. Discuss how naming shapes political possibility.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advantages are mutually reinforcing — that's the key insight. Data feeds models, compute trains them, and the geopolitical narrative shields the whole apparatus from regulatory intervention. Walk through each pillar in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claim that 'data policy is AI policy' is one of the report's most important analytical moves. It means privacy regulation isn't just about individual rights — it's a structural lever against AI power concentration. This breaks down the silo between privacy and AI governance.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'barnacles' metaphor is vivid and important. Even seemingly independent AI startups like OpenAI are structurally dependent on Big Tech. Microsoft's move to restrict Bing data from potential GPT-4 competitors is a concrete example of wielding infrastructure control to throttle competition.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perhaps the most subtle of the three advantages. The report is NOT saying AI has no genuine security dimensions. It's arguing that the 'AI race' narrative is instrumentally deployed by companies to shield themselves from regulation. This is a critique of a rhetorical strategy, not a factual claim about national security.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from analysis to prescription. The report outlines four overarching strategic priorities and seven specific policy windows. These are concrete and actionable — that's what distinguishes this report from many academic treatments.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priorities structure all seven policy windows. Priority 1 is about regulatory orientation; Priority 2 is about institutional design; Priority 3 is about recognizing industry capture; Priority 4 is about building durable political coalitions. Walk students through how each operates.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fundamental shift in regulatory philosophy. Currently, the burden falls on civil society researchers to prove harm — think of the work done by Joy Buolamwini or ProPublica. The report argues this model is structurally inadequate against well-resourced corporations.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Privacy Sandbox example is the report's strongest illustration of silo exploitation. Google uses privacy rhetoric to gain a competition advantage. If privacy regulators and competition regulators don't coordinate, firms arbitrage the gap. Amsterdam's Court of Appeal ruled automated firing and opaque algorithmic wages illegal using existing data protection law — showing how cross-domain tools work.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sophisticated argument about regulatory capture. The report isn't saying audits are bad in principle — it's saying audits become harmful when they serve as the PRIMARY policy mechanism, displacing stronger structural interventions. Microsoft supporting a weak audit law to prevent a ban is the textbook case.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is crucial and often confused. The report argues that risk-based framing sounds reasonable but in practice gives industry the power to define what counts as risky — a fundamentally different power allocation than rights-based approaches where non-negotiable floors are set regardless of corporate preferences.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3-4 minutes on this. Push students to consider the counterfactual: in the absence of the audit law, would Washington have passed a ban, or nothing at all? The report assumes the stronger option was politically viable, which is debatable.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Sisters of St. Joseph example is remarkable — nuns using shareholder proposals to hold Microsoft accountable on facial recognition. It illustrates how non-legislative strategies can apply pressure through capital markets. Emphasize that 'beyond legislation' means 'in addition to,' not 'instead of.'</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identifies seven concrete policy windows. We'll cover these efficiently — the key is to see how each connects back to the four strategic priorities and the three pillars of Big Tech dominance.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Window 3 is especially timely. The debate over the EU AI Act included attempts to exempt 'general-purpose AI' from regulation — the report argues that systemic risk from LLMs requires MORE scrutiny, not less. The 'openness' point is subtle: open-source LLMs still depend on Big Tech compute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audits: a burgeoning industry of audit-as-a-service companies has emerged with no consensus on methodology, standards, or definitions of harm. The report sees this as a structural problem, not just growing pains. On biometrics: the 'quiet expansion' into cars and VR represents a surveillance creep that current narrow regulations miss.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Window 7 is the most overlooked and possibly the most consequential. Trade agreements operate outside normal democratic debate and can lock in provisions that preempt future national regulation. This is a largely invisible threat to AI governance that most policy discussions miss entirely.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AWS outage example is powerful: a typo in one company's server infrastructure took down healthcare systems across the country. This illustrates the 'single point of failure' argument concretely. When basic government and health functions depend on a handful of private firms, that's a structural vulnerability, not just a market issue.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shift to critical evaluation. The report makes strong claims — let's assess the evidence, consider counterarguments, and identify what's left unaddressed.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balanced here. The report's greatest strength — its laser focus on corporate power — is also its potential blind spot. By framing everything through the power lens, it may understate genuine technical governance challenges that exist independently of corporate concentration.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counterargument is about political feasibility. The report often implies that bans and structural reforms were available options, but in many contexts the political choice was between a weak audit law and no law at all. The report's framework struggles with second-best policy choices.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students on the scope question. The report focuses almost exclusively on GAFAM-scale firms. But significant AI harms come from smaller companies like Clearview AI or government-built systems. Does the corporate power framework adequately capture those cases?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4-5 minutes here. These are the hard questions the report raises but doesn't fully resolve. Encourage students to engage with the strongest version of the counterarguments, not just the strawmen. The geopolitical question is particularly thorny — dismissing it entirely seems as problematic as accepting it uncritically.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bring this home. What does the report's framework mean for people actually working in AI governance, building AI systems, or studying these issues?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practical takeaway for regulators is the silo-breaking insight. Italy banned ChatGPT using existing data protection law; Amsterdam courts used labor law against algorithmic management. The tools often already exist — the challenge is institutional coordination.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students building AI systems: the report challenges you to think about the structural conditions of your work, not just the technical properties of your models. Who controls the compute you use? Where does your training data come from? These aren't peripheral questions.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report's theory of change is explicitly coalitional. The Sisters of St. Joseph of Peace example — nuns using shareholder proposals against Microsoft — illustrates how unexpected alliances can apply pressure through novel channels. Encourage students to think creatively about leverage points.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most common misreadings from prior cohorts. The audit point is especially important — the report is making a nuanced argument about policy ecology (what mechanisms dominate the landscape), not a blanket rejection of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quote captures the report's urgency. The 'move fast and break things' ethos — originally Facebook's internal motto — is reframed here as a warning about what happens when we defer governance until after deployment. The report insists on ex ante rather than ex post regulation.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remaining time for open discussion. These questions are designed for the response paper prompt as well. Encourage students to take a position and defend it with specific evidence from the report.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reframing move: the report asks us to stop asking 'How do we make AI safe?' and start asking 'How do we check the power of the companies that control AI?' Whether or not you agree with this reframing, understanding its logic is essential for navigating the current policy landscape.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 students that the response paper should engage critically with the report's central thesis — not just summarize it. Encourage them to bring in counterarguments and to consider what the report's framework cannot explain.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457200"/>
          </a:xfrm>
          <a:prstGeom prst="rect">
            <a:avLst/>
          </a:prstGeom>
          <a:noFill/>
        </p:spPr>
        <p:txBody>
          <a:bodyPr wrap="square">
            <a:spAutoFit/>
          </a:bodyPr>
          <a:lstStyle/>
          <a:p>
            <a:pPr algn="l"/>
            <a:r>
              <a:rPr sz="1400" b="0" i="0">
                <a:solidFill>
                  <a:srgbClr val="16857B"/>
                </a:solidFill>
                <a:latin typeface="Calibri"/>
              </a:rPr>
              <a:t>COS598</a:t>
            </a:r>
          </a:p>
        </p:txBody>
      </p:sp>
      <p:sp>
        <p:nvSpPr>
          <p:cNvPr id="4" name="TextBox 3"/>
          <p:cNvSpPr txBox="1"/>
          <p:nvPr/>
        </p:nvSpPr>
        <p:spPr>
          <a:xfrm>
            <a:off x="548640" y="1280160"/>
            <a:ext cx="10972800" cy="2560320"/>
          </a:xfrm>
          <a:prstGeom prst="rect">
            <a:avLst/>
          </a:prstGeom>
          <a:noFill/>
        </p:spPr>
        <p:txBody>
          <a:bodyPr wrap="square">
            <a:spAutoFit/>
          </a:bodyPr>
          <a:lstStyle/>
          <a:p>
            <a:pPr algn="l"/>
            <a:r>
              <a:rPr sz="3400" b="1" i="0">
                <a:solidFill>
                  <a:srgbClr val="FFFFFF"/>
                </a:solidFill>
                <a:latin typeface="Calibri"/>
              </a:rPr>
              <a:t>Confronting Tech Power</a:t>
            </a:r>
          </a:p>
        </p:txBody>
      </p:sp>
      <p:sp>
        <p:nvSpPr>
          <p:cNvPr id="5" name="TextBox 4"/>
          <p:cNvSpPr txBox="1"/>
          <p:nvPr/>
        </p:nvSpPr>
        <p:spPr>
          <a:xfrm>
            <a:off x="548640" y="4023360"/>
            <a:ext cx="10972800" cy="640080"/>
          </a:xfrm>
          <a:prstGeom prst="rect">
            <a:avLst/>
          </a:prstGeom>
          <a:noFill/>
        </p:spPr>
        <p:txBody>
          <a:bodyPr wrap="square">
            <a:spAutoFit/>
          </a:bodyPr>
          <a:lstStyle/>
          <a:p>
            <a:pPr algn="l"/>
            <a:r>
              <a:rPr sz="2000" b="0" i="0">
                <a:solidFill>
                  <a:srgbClr val="CCCCCC"/>
                </a:solidFill>
                <a:latin typeface="Calibri"/>
              </a:rPr>
              <a:t>AI Now Institute 2023 Landscape Report — AI Governance as a Question of Corporate Power</a:t>
            </a:r>
          </a:p>
        </p:txBody>
      </p:sp>
      <p:sp>
        <p:nvSpPr>
          <p:cNvPr id="6" name="Rectangle 5"/>
          <p:cNvSpPr/>
          <p:nvPr/>
        </p:nvSpPr>
        <p:spPr>
          <a:xfrm>
            <a:off x="548640" y="4846320"/>
            <a:ext cx="7315200" cy="36576"/>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Learning Objectives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Articulate why AI Now frames AI governance as a corporate power problem, not a technology problem</a:t>
            </a:r>
          </a:p>
          <a:p>
            <a:pPr algn="l" lvl="0">
              <a:lnSpc>
                <a:spcPct val="115000"/>
              </a:lnSpc>
              <a:spcBef>
                <a:spcPts val="120"/>
              </a:spcBef>
            </a:pPr>
            <a:r>
              <a:rPr sz="1900" b="0">
                <a:solidFill>
                  <a:srgbClr val="1A1A2E"/>
                </a:solidFill>
                <a:latin typeface="Calibri"/>
              </a:rPr>
              <a:t>• Identify the three structural advantages (data, compute, geopolitical) that sustain Big Tech dominance</a:t>
            </a:r>
          </a:p>
          <a:p>
            <a:pPr algn="l" lvl="0">
              <a:lnSpc>
                <a:spcPct val="115000"/>
              </a:lnSpc>
              <a:spcBef>
                <a:spcPts val="120"/>
              </a:spcBef>
            </a:pPr>
            <a:r>
              <a:rPr sz="1900" b="0">
                <a:solidFill>
                  <a:srgbClr val="1A1A2E"/>
                </a:solidFill>
                <a:latin typeface="Calibri"/>
              </a:rPr>
              <a:t>• Evaluate the report's four strategic priorities and seven policy windows for action</a:t>
            </a:r>
          </a:p>
          <a:p>
            <a:pPr algn="l" lvl="0">
              <a:lnSpc>
                <a:spcPct val="115000"/>
              </a:lnSpc>
              <a:spcBef>
                <a:spcPts val="120"/>
              </a:spcBef>
            </a:pPr>
            <a:r>
              <a:rPr sz="1900" b="0">
                <a:solidFill>
                  <a:srgbClr val="1A1A2E"/>
                </a:solidFill>
                <a:latin typeface="Calibri"/>
              </a:rPr>
              <a:t>• Distinguish between rights-based and risk-based regulatory frameworks and their implications</a:t>
            </a:r>
          </a:p>
          <a:p>
            <a:pPr algn="l" lvl="0">
              <a:lnSpc>
                <a:spcPct val="115000"/>
              </a:lnSpc>
              <a:spcBef>
                <a:spcPts val="120"/>
              </a:spcBef>
            </a:pPr>
            <a:r>
              <a:rPr sz="1900" b="0">
                <a:solidFill>
                  <a:srgbClr val="1A1A2E"/>
                </a:solidFill>
                <a:latin typeface="Calibri"/>
              </a:rPr>
              <a:t>• Critically assess the strengths and limitations of the report's political-economic framing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Lecture Roadmap</a:t>
            </a:r>
          </a:p>
        </p:txBody>
      </p:sp>
      <p:sp>
        <p:nvSpPr>
          <p:cNvPr id="5" name="TextBox 4"/>
          <p:cNvSpPr txBox="1"/>
          <p:nvPr/>
        </p:nvSpPr>
        <p:spPr>
          <a:xfrm>
            <a:off x="457200" y="1280160"/>
            <a:ext cx="539496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Context &amp; Motivation: Why this report, why now? (5 min)</a:t>
            </a:r>
          </a:p>
          <a:p>
            <a:pPr algn="l" lvl="0">
              <a:lnSpc>
                <a:spcPct val="115000"/>
              </a:lnSpc>
              <a:spcBef>
                <a:spcPts val="120"/>
              </a:spcBef>
            </a:pPr>
            <a:r>
              <a:rPr sz="1900" b="0">
                <a:solidFill>
                  <a:srgbClr val="1A1A2E"/>
                </a:solidFill>
                <a:latin typeface="Calibri"/>
              </a:rPr>
              <a:t>• Core Argument: Power concentration as the root problem (12 min)</a:t>
            </a:r>
          </a:p>
          <a:p>
            <a:pPr algn="l" lvl="0">
              <a:lnSpc>
                <a:spcPct val="115000"/>
              </a:lnSpc>
              <a:spcBef>
                <a:spcPts val="120"/>
              </a:spcBef>
            </a:pPr>
            <a:r>
              <a:rPr sz="1900" b="0">
                <a:solidFill>
                  <a:srgbClr val="1A1A2E"/>
                </a:solidFill>
                <a:latin typeface="Calibri"/>
              </a:rPr>
              <a:t>• Three Pillars of Big Tech Dominance: Data, compute, geopolitics (8 min)</a:t>
            </a:r>
          </a:p>
        </p:txBody>
      </p:sp>
      <p:sp>
        <p:nvSpPr>
          <p:cNvPr id="6" name="TextBox 5"/>
          <p:cNvSpPr txBox="1"/>
          <p:nvPr/>
        </p:nvSpPr>
        <p:spPr>
          <a:xfrm>
            <a:off x="6217920" y="1280160"/>
            <a:ext cx="539496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Policy Windows &amp; Evidence: Seven concrete interventions (10 min)</a:t>
            </a:r>
          </a:p>
          <a:p>
            <a:pPr algn="l" lvl="0">
              <a:lnSpc>
                <a:spcPct val="115000"/>
              </a:lnSpc>
              <a:spcBef>
                <a:spcPts val="120"/>
              </a:spcBef>
            </a:pPr>
            <a:r>
              <a:rPr sz="1900" b="0">
                <a:solidFill>
                  <a:srgbClr val="1A1A2E"/>
                </a:solidFill>
                <a:latin typeface="Calibri"/>
              </a:rPr>
              <a:t>• Critical Analysis: Strengths, gaps, counterarguments (8 min)</a:t>
            </a:r>
          </a:p>
          <a:p>
            <a:pPr algn="l" lvl="0">
              <a:lnSpc>
                <a:spcPct val="115000"/>
              </a:lnSpc>
              <a:spcBef>
                <a:spcPts val="120"/>
              </a:spcBef>
            </a:pPr>
            <a:r>
              <a:rPr sz="1900" b="0">
                <a:solidFill>
                  <a:srgbClr val="1A1A2E"/>
                </a:solidFill>
                <a:latin typeface="Calibri"/>
              </a:rPr>
              <a:t>• Implications, Misconceptions &amp; Discussion (7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Context &amp; Motivation</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Why this report matters in 2023 and beyond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Moment: AI Hype Meets Regulatory Energy</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ChatGPT launched Nov 2022 — unleashing unprecedented AI hype cycle</a:t>
            </a:r>
          </a:p>
          <a:p>
            <a:pPr algn="l" lvl="0">
              <a:lnSpc>
                <a:spcPct val="115000"/>
              </a:lnSpc>
              <a:spcBef>
                <a:spcPts val="120"/>
              </a:spcBef>
            </a:pPr>
            <a:r>
              <a:rPr sz="1900" b="0">
                <a:solidFill>
                  <a:srgbClr val="1A1A2E"/>
                </a:solidFill>
                <a:latin typeface="Calibri"/>
              </a:rPr>
              <a:t>• AI Now authors had just served as advisors to FTC Chair Lina Khan's office (2021–2022)</a:t>
            </a:r>
          </a:p>
          <a:p>
            <a:pPr algn="l" lvl="0">
              <a:lnSpc>
                <a:spcPct val="115000"/>
              </a:lnSpc>
              <a:spcBef>
                <a:spcPts val="120"/>
              </a:spcBef>
            </a:pPr>
            <a:r>
              <a:rPr sz="1900" b="0">
                <a:solidFill>
                  <a:srgbClr val="1A1A2E"/>
                </a:solidFill>
                <a:latin typeface="Calibri"/>
              </a:rPr>
              <a:t>• Founded in 2017, AI Now has tracked multiple hype-and-backlash cycles</a:t>
            </a:r>
          </a:p>
          <a:p>
            <a:pPr algn="l" lvl="0">
              <a:lnSpc>
                <a:spcPct val="115000"/>
              </a:lnSpc>
              <a:spcBef>
                <a:spcPts val="120"/>
              </a:spcBef>
            </a:pPr>
            <a:r>
              <a:rPr sz="1900" b="0">
                <a:solidFill>
                  <a:srgbClr val="1A1A2E"/>
                </a:solidFill>
                <a:latin typeface="Calibri"/>
              </a:rPr>
              <a:t>• Previous cycle: facial recognition proliferation → community pushback → city-level bans</a:t>
            </a:r>
          </a:p>
          <a:p>
            <a:pPr algn="l" lvl="0">
              <a:lnSpc>
                <a:spcPct val="115000"/>
              </a:lnSpc>
              <a:spcBef>
                <a:spcPts val="120"/>
              </a:spcBef>
            </a:pPr>
            <a:r>
              <a:rPr sz="1900" b="0">
                <a:solidFill>
                  <a:srgbClr val="1A1A2E"/>
                </a:solidFill>
                <a:latin typeface="Calibri"/>
              </a:rPr>
              <a:t>• 2023 framed as 'primed for action': diagnosis phase complete, remediation must begin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Stakes: AI's Real-World Footprint</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AI shapes housing access, credit decisions, healthcare allocation, education quality</a:t>
            </a:r>
          </a:p>
          <a:p>
            <a:pPr algn="l" lvl="0">
              <a:lnSpc>
                <a:spcPct val="115000"/>
              </a:lnSpc>
              <a:spcBef>
                <a:spcPts val="120"/>
              </a:spcBef>
            </a:pPr>
            <a:r>
              <a:rPr sz="1900" b="0">
                <a:solidFill>
                  <a:srgbClr val="1A1A2E"/>
                </a:solidFill>
                <a:latin typeface="Calibri"/>
              </a:rPr>
              <a:t>• Algorithmic management determines job access, wages, and worker autonomy</a:t>
            </a:r>
          </a:p>
          <a:p>
            <a:pPr algn="l" lvl="0">
              <a:lnSpc>
                <a:spcPct val="115000"/>
              </a:lnSpc>
              <a:spcBef>
                <a:spcPts val="120"/>
              </a:spcBef>
            </a:pPr>
            <a:r>
              <a:rPr sz="1900" b="0">
                <a:solidFill>
                  <a:srgbClr val="1A1A2E"/>
                </a:solidFill>
                <a:latin typeface="Calibri"/>
              </a:rPr>
              <a:t>• Platform content algorithms linked to youth mental and physical health harms</a:t>
            </a:r>
          </a:p>
          <a:p>
            <a:pPr algn="l" lvl="0">
              <a:lnSpc>
                <a:spcPct val="115000"/>
              </a:lnSpc>
              <a:spcBef>
                <a:spcPts val="120"/>
              </a:spcBef>
            </a:pPr>
            <a:r>
              <a:rPr sz="1900" b="0">
                <a:solidFill>
                  <a:srgbClr val="1A1A2E"/>
                </a:solidFill>
                <a:latin typeface="Calibri"/>
              </a:rPr>
              <a:t>• Opacity ensures public has 'little to no say' about AI's impact on daily life</a:t>
            </a:r>
          </a:p>
          <a:p>
            <a:pPr algn="l" lvl="0">
              <a:lnSpc>
                <a:spcPct val="115000"/>
              </a:lnSpc>
              <a:spcBef>
                <a:spcPts val="120"/>
              </a:spcBef>
            </a:pPr>
            <a:r>
              <a:rPr sz="1900" b="0">
                <a:solidFill>
                  <a:srgbClr val="1A1A2E"/>
                </a:solidFill>
                <a:latin typeface="Calibri"/>
              </a:rPr>
              <a:t>• Core pattern: technology doesn't work as claimed; produces errors and discrimination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828800" cy="1828800"/>
          </a:xfrm>
          <a:prstGeom prst="rect">
            <a:avLst/>
          </a:prstGeom>
          <a:noFill/>
        </p:spPr>
        <p:txBody>
          <a:bodyPr wrap="square">
            <a:spAutoFit/>
          </a:bodyPr>
          <a:lstStyle/>
          <a:p>
            <a:pPr algn="l"/>
            <a:r>
              <a:rPr sz="12000" b="1" i="0">
                <a:solidFill>
                  <a:srgbClr val="E89C13"/>
                </a:solidFill>
                <a:latin typeface="Calibri"/>
              </a:rPr>
              <a:t>“</a:t>
            </a:r>
          </a:p>
        </p:txBody>
      </p:sp>
      <p:sp>
        <p:nvSpPr>
          <p:cNvPr id="4" name="TextBox 3"/>
          <p:cNvSpPr txBox="1"/>
          <p:nvPr/>
        </p:nvSpPr>
        <p:spPr>
          <a:xfrm>
            <a:off x="914400" y="1188720"/>
            <a:ext cx="9875520" cy="3474720"/>
          </a:xfrm>
          <a:prstGeom prst="rect">
            <a:avLst/>
          </a:prstGeom>
          <a:noFill/>
        </p:spPr>
        <p:txBody>
          <a:bodyPr wrap="square">
            <a:spAutoFit/>
          </a:bodyPr>
          <a:lstStyle/>
          <a:p>
            <a:pPr algn="l"/>
            <a:r>
              <a:rPr sz="2400" b="0" i="1">
                <a:solidFill>
                  <a:srgbClr val="FFFFFF"/>
                </a:solidFill>
                <a:latin typeface="Calibri"/>
              </a:rPr>
              <a:t>There is nothing about artificial intelligence that is inevitable. Only once we stop seeing AI as synonymous with progress can we establish popular control over the trajectory of these technologies.</a:t>
            </a:r>
          </a:p>
        </p:txBody>
      </p:sp>
      <p:sp>
        <p:nvSpPr>
          <p:cNvPr id="5" name="Rectangle 4"/>
          <p:cNvSpPr/>
          <p:nvPr/>
        </p:nvSpPr>
        <p:spPr>
          <a:xfrm>
            <a:off x="914400" y="4846320"/>
            <a:ext cx="27432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058400" cy="548640"/>
          </a:xfrm>
          <a:prstGeom prst="rect">
            <a:avLst/>
          </a:prstGeom>
          <a:noFill/>
        </p:spPr>
        <p:txBody>
          <a:bodyPr wrap="square">
            <a:spAutoFit/>
          </a:bodyPr>
          <a:lstStyle/>
          <a:p>
            <a:pPr algn="l"/>
            <a:r>
              <a:rPr sz="1600" b="0" i="0">
                <a:solidFill>
                  <a:srgbClr val="E89C13"/>
                </a:solidFill>
                <a:latin typeface="Calibri"/>
              </a:rPr>
              <a:t>— AI Now Institute, 2023 Landscape Report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Core Argument</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The central thesis: AI governance = confronting corporate power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Central Thesis: No AI Without Big Tech</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AI is 'foundationally reliant on resources owned and controlled by only a handful of Big Tech firms'</a:t>
            </a:r>
          </a:p>
          <a:p>
            <a:pPr algn="l" lvl="0">
              <a:lnSpc>
                <a:spcPct val="115000"/>
              </a:lnSpc>
              <a:spcBef>
                <a:spcPts val="120"/>
              </a:spcBef>
            </a:pPr>
            <a:r>
              <a:rPr sz="1900" b="0">
                <a:solidFill>
                  <a:srgbClr val="1A1A2E"/>
                </a:solidFill>
                <a:latin typeface="Calibri"/>
              </a:rPr>
              <a:t>• The core problem is not the technology — it is the concentration of economic and political power</a:t>
            </a:r>
          </a:p>
          <a:p>
            <a:pPr algn="l" lvl="0">
              <a:lnSpc>
                <a:spcPct val="115000"/>
              </a:lnSpc>
              <a:spcBef>
                <a:spcPts val="120"/>
              </a:spcBef>
            </a:pPr>
            <a:r>
              <a:rPr sz="1900" b="0">
                <a:solidFill>
                  <a:srgbClr val="1A1A2E"/>
                </a:solidFill>
                <a:latin typeface="Calibri"/>
              </a:rPr>
              <a:t>• Big Tech = typically Google, Apple, Facebook/Meta, Amazon, Microsoft (GAFAM)</a:t>
            </a:r>
          </a:p>
          <a:p>
            <a:pPr algn="l" lvl="0">
              <a:lnSpc>
                <a:spcPct val="115000"/>
              </a:lnSpc>
              <a:spcBef>
                <a:spcPts val="120"/>
              </a:spcBef>
            </a:pPr>
            <a:r>
              <a:rPr sz="1900" b="0">
                <a:solidFill>
                  <a:srgbClr val="1A1A2E"/>
                </a:solidFill>
                <a:latin typeface="Calibri"/>
              </a:rPr>
              <a:t>• Term draws on 'Big Tobacco,' 'Big Pharma,' 'Big Oil' — industries where consolidation provoked accountability</a:t>
            </a:r>
          </a:p>
          <a:p>
            <a:pPr algn="l" lvl="0">
              <a:lnSpc>
                <a:spcPct val="115000"/>
              </a:lnSpc>
              <a:spcBef>
                <a:spcPts val="120"/>
              </a:spcBef>
            </a:pPr>
            <a:r>
              <a:rPr sz="1900" b="0">
                <a:solidFill>
                  <a:srgbClr val="1A1A2E"/>
                </a:solidFill>
                <a:latin typeface="Calibri"/>
              </a:rPr>
              <a:t>• Firms motivated by growth, profit, and market valuations — not public interest, despite rhetoric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828800" cy="1828800"/>
          </a:xfrm>
          <a:prstGeom prst="rect">
            <a:avLst/>
          </a:prstGeom>
          <a:noFill/>
        </p:spPr>
        <p:txBody>
          <a:bodyPr wrap="square">
            <a:spAutoFit/>
          </a:bodyPr>
          <a:lstStyle/>
          <a:p>
            <a:pPr algn="l"/>
            <a:r>
              <a:rPr sz="12000" b="1" i="0">
                <a:solidFill>
                  <a:srgbClr val="E89C13"/>
                </a:solidFill>
                <a:latin typeface="Calibri"/>
              </a:rPr>
              <a:t>“</a:t>
            </a:r>
          </a:p>
        </p:txBody>
      </p:sp>
      <p:sp>
        <p:nvSpPr>
          <p:cNvPr id="4" name="TextBox 3"/>
          <p:cNvSpPr txBox="1"/>
          <p:nvPr/>
        </p:nvSpPr>
        <p:spPr>
          <a:xfrm>
            <a:off x="914400" y="1188720"/>
            <a:ext cx="9875520" cy="3474720"/>
          </a:xfrm>
          <a:prstGeom prst="rect">
            <a:avLst/>
          </a:prstGeom>
          <a:noFill/>
        </p:spPr>
        <p:txBody>
          <a:bodyPr wrap="square">
            <a:spAutoFit/>
          </a:bodyPr>
          <a:lstStyle/>
          <a:p>
            <a:pPr algn="l"/>
            <a:r>
              <a:rPr sz="2400" b="0" i="1">
                <a:solidFill>
                  <a:srgbClr val="FFFFFF"/>
                </a:solidFill>
                <a:latin typeface="Calibri"/>
              </a:rPr>
              <a:t>Society does not prepend the label 'Big' with a capital B to an industry out of respect or admiration. It does so out of loathing and fear — and in preparation for battle.</a:t>
            </a:r>
          </a:p>
        </p:txBody>
      </p:sp>
      <p:sp>
        <p:nvSpPr>
          <p:cNvPr id="5" name="Rectangle 4"/>
          <p:cNvSpPr/>
          <p:nvPr/>
        </p:nvSpPr>
        <p:spPr>
          <a:xfrm>
            <a:off x="914400" y="4846320"/>
            <a:ext cx="27432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058400" cy="548640"/>
          </a:xfrm>
          <a:prstGeom prst="rect">
            <a:avLst/>
          </a:prstGeom>
          <a:noFill/>
        </p:spPr>
        <p:txBody>
          <a:bodyPr wrap="square">
            <a:spAutoFit/>
          </a:bodyPr>
          <a:lstStyle/>
          <a:p>
            <a:pPr algn="l"/>
            <a:r>
              <a:rPr sz="1600" b="0" i="0">
                <a:solidFill>
                  <a:srgbClr val="E89C13"/>
                </a:solidFill>
                <a:latin typeface="Calibri"/>
              </a:rPr>
              <a:t>— Cited in AI Now 2023, from Kean Birch &amp; Kelly Bronson (2022)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Three Pillars of Big Tech AI Dominance</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Advantage</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1. Data Advantage</a:t>
            </a:r>
          </a:p>
          <a:p>
            <a:pPr algn="l" lvl="0">
              <a:lnSpc>
                <a:spcPct val="115000"/>
              </a:lnSpc>
              <a:spcBef>
                <a:spcPts val="120"/>
              </a:spcBef>
            </a:pPr>
            <a:r>
              <a:rPr sz="1700" b="0">
                <a:solidFill>
                  <a:srgbClr val="1A1A2E"/>
                </a:solidFill>
                <a:latin typeface="Calibri"/>
              </a:rPr>
              <a:t>• 2. Computing Power Advantage</a:t>
            </a:r>
          </a:p>
          <a:p>
            <a:pPr algn="l" lvl="0">
              <a:lnSpc>
                <a:spcPct val="115000"/>
              </a:lnSpc>
              <a:spcBef>
                <a:spcPts val="120"/>
              </a:spcBef>
            </a:pPr>
            <a:r>
              <a:rPr sz="1700" b="0">
                <a:solidFill>
                  <a:srgbClr val="1A1A2E"/>
                </a:solidFill>
                <a:latin typeface="Calibri"/>
              </a:rPr>
              <a:t>• 3. Geopolitical Advantage</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Mechanism</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Surveillance-based behavioral data collection at scale; strategic acquisitions expand this</a:t>
            </a:r>
          </a:p>
          <a:p>
            <a:pPr algn="l" lvl="0">
              <a:lnSpc>
                <a:spcPct val="115000"/>
              </a:lnSpc>
              <a:spcBef>
                <a:spcPts val="120"/>
              </a:spcBef>
            </a:pPr>
            <a:r>
              <a:rPr sz="1700" b="0">
                <a:solidFill>
                  <a:srgbClr val="1A1A2E"/>
                </a:solidFill>
                <a:latin typeface="Calibri"/>
              </a:rPr>
              <a:t>• Control over cloud infra, chip supply chains, and scarce specialized AI labor</a:t>
            </a:r>
          </a:p>
          <a:p>
            <a:pPr algn="l" lvl="0">
              <a:lnSpc>
                <a:spcPct val="115000"/>
              </a:lnSpc>
              <a:spcBef>
                <a:spcPts val="120"/>
              </a:spcBef>
            </a:pPr>
            <a:r>
              <a:rPr sz="1700" b="0">
                <a:solidFill>
                  <a:srgbClr val="1A1A2E"/>
                </a:solidFill>
                <a:latin typeface="Calibri"/>
              </a:rPr>
              <a:t>• US-China 'AI race' narrative positions firms as national security assets immune to regulation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Pillar 1: The Data Advantage</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Widest and deepest behavioral data through surveillance = edge in consumer AI products</a:t>
            </a:r>
          </a:p>
          <a:p>
            <a:pPr algn="l" lvl="0">
              <a:lnSpc>
                <a:spcPct val="115000"/>
              </a:lnSpc>
              <a:spcBef>
                <a:spcPts val="120"/>
              </a:spcBef>
            </a:pPr>
            <a:r>
              <a:rPr sz="1900" b="0">
                <a:solidFill>
                  <a:srgbClr val="1A1A2E"/>
                </a:solidFill>
                <a:latin typeface="Calibri"/>
              </a:rPr>
              <a:t>• Acquisitions strategically expand data reach across health, education, credit, consumer goods</a:t>
            </a:r>
          </a:p>
          <a:p>
            <a:pPr algn="l" lvl="0">
              <a:lnSpc>
                <a:spcPct val="115000"/>
              </a:lnSpc>
              <a:spcBef>
                <a:spcPts val="120"/>
              </a:spcBef>
            </a:pPr>
            <a:r>
              <a:rPr sz="1900" b="0">
                <a:solidFill>
                  <a:srgbClr val="1A1A2E"/>
                </a:solidFill>
                <a:latin typeface="Calibri"/>
              </a:rPr>
              <a:t>• Data advantage is self-reinforcing: more data → better products → more users → more data</a:t>
            </a:r>
          </a:p>
          <a:p>
            <a:pPr algn="l" lvl="0">
              <a:lnSpc>
                <a:spcPct val="115000"/>
              </a:lnSpc>
              <a:spcBef>
                <a:spcPts val="120"/>
              </a:spcBef>
            </a:pPr>
            <a:r>
              <a:rPr sz="1900" b="0">
                <a:solidFill>
                  <a:srgbClr val="1A1A2E"/>
                </a:solidFill>
                <a:latin typeface="Calibri"/>
              </a:rPr>
              <a:t>• Key implication: 'Data policy IS AI policy' — data minimization directly limits what AI can be built</a:t>
            </a:r>
          </a:p>
          <a:p>
            <a:pPr algn="l" lvl="1">
              <a:lnSpc>
                <a:spcPct val="115000"/>
              </a:lnSpc>
              <a:spcBef>
                <a:spcPts val="0"/>
              </a:spcBef>
            </a:pPr>
            <a:r>
              <a:rPr sz="1700" b="0">
                <a:solidFill>
                  <a:srgbClr val="444444"/>
                </a:solidFill>
                <a:latin typeface="Calibri"/>
              </a:rPr>
              <a:t>  – Italy's privacy regulator was first to ban ChatGPT, using data protection law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Pillar 2: The Computing Power Advantage</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AI training requires massive compute — expensive, with significant economies of scale</a:t>
            </a:r>
          </a:p>
          <a:p>
            <a:pPr algn="l" lvl="0">
              <a:lnSpc>
                <a:spcPct val="115000"/>
              </a:lnSpc>
              <a:spcBef>
                <a:spcPts val="120"/>
              </a:spcBef>
            </a:pPr>
            <a:r>
              <a:rPr sz="1900" b="0">
                <a:solidFill>
                  <a:srgbClr val="1A1A2E"/>
                </a:solidFill>
                <a:latin typeface="Calibri"/>
              </a:rPr>
              <a:t>• Only a handful of companies run their own cloud and compute infrastructure</a:t>
            </a:r>
          </a:p>
          <a:p>
            <a:pPr algn="l" lvl="0">
              <a:lnSpc>
                <a:spcPct val="115000"/>
              </a:lnSpc>
              <a:spcBef>
                <a:spcPts val="120"/>
              </a:spcBef>
            </a:pPr>
            <a:r>
              <a:rPr sz="1900" b="0">
                <a:solidFill>
                  <a:srgbClr val="1A1A2E"/>
                </a:solidFill>
                <a:latin typeface="Calibri"/>
              </a:rPr>
              <a:t>• AI startups described as 'barnacles on the hull of Big Tech' — licensing infrastructure, competing to be acquired</a:t>
            </a:r>
          </a:p>
          <a:p>
            <a:pPr algn="l" lvl="0">
              <a:lnSpc>
                <a:spcPct val="115000"/>
              </a:lnSpc>
              <a:spcBef>
                <a:spcPts val="120"/>
              </a:spcBef>
            </a:pPr>
            <a:r>
              <a:rPr sz="1900" b="0">
                <a:solidFill>
                  <a:srgbClr val="1A1A2E"/>
                </a:solidFill>
                <a:latin typeface="Calibri"/>
              </a:rPr>
              <a:t>• Microsoft rationed internal access to server hardware to ensure capacity for GPT-4</a:t>
            </a:r>
          </a:p>
          <a:p>
            <a:pPr algn="l" lvl="0">
              <a:lnSpc>
                <a:spcPct val="115000"/>
              </a:lnSpc>
              <a:spcBef>
                <a:spcPts val="120"/>
              </a:spcBef>
            </a:pPr>
            <a:r>
              <a:rPr sz="1900" b="0">
                <a:solidFill>
                  <a:srgbClr val="1A1A2E"/>
                </a:solidFill>
                <a:latin typeface="Calibri"/>
              </a:rPr>
              <a:t>• Microsoft threatened to restrict Bing search data to customers developing GPT-4 competitors</a:t>
            </a:r>
          </a:p>
          <a:p>
            <a:pPr algn="l" lvl="0">
              <a:lnSpc>
                <a:spcPct val="115000"/>
              </a:lnSpc>
              <a:spcBef>
                <a:spcPts val="120"/>
              </a:spcBef>
            </a:pPr>
            <a:r>
              <a:rPr sz="1900" b="0">
                <a:solidFill>
                  <a:srgbClr val="1A1A2E"/>
                </a:solidFill>
                <a:latin typeface="Calibri"/>
              </a:rPr>
              <a:t>• Material dependencies: chips, data center locations, small pool of highly skilled workers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Pillar 3: The Geopolitical Advantage</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US-China AI race rhetoric evolved from sporadic talking point to institutionalized stance</a:t>
            </a:r>
          </a:p>
          <a:p>
            <a:pPr algn="l" lvl="0">
              <a:lnSpc>
                <a:spcPct val="115000"/>
              </a:lnSpc>
              <a:spcBef>
                <a:spcPts val="120"/>
              </a:spcBef>
            </a:pPr>
            <a:r>
              <a:rPr sz="1900" b="0">
                <a:solidFill>
                  <a:srgbClr val="1A1A2E"/>
                </a:solidFill>
                <a:latin typeface="Calibri"/>
              </a:rPr>
              <a:t>• Collaborative initiatives between government, military, and Big Tech reinforce the framing</a:t>
            </a:r>
          </a:p>
          <a:p>
            <a:pPr algn="l" lvl="0">
              <a:lnSpc>
                <a:spcPct val="115000"/>
              </a:lnSpc>
              <a:spcBef>
                <a:spcPts val="120"/>
              </a:spcBef>
            </a:pPr>
            <a:r>
              <a:rPr sz="1900" b="0">
                <a:solidFill>
                  <a:srgbClr val="1A1A2E"/>
                </a:solidFill>
                <a:latin typeface="Calibri"/>
              </a:rPr>
              <a:t>• Narrative conflates Big Tech dominance with US economic prowess and national security</a:t>
            </a:r>
          </a:p>
          <a:p>
            <a:pPr algn="l" lvl="0">
              <a:lnSpc>
                <a:spcPct val="115000"/>
              </a:lnSpc>
              <a:spcBef>
                <a:spcPts val="120"/>
              </a:spcBef>
            </a:pPr>
            <a:r>
              <a:rPr sz="1900" b="0">
                <a:solidFill>
                  <a:srgbClr val="1A1A2E"/>
                </a:solidFill>
                <a:latin typeface="Calibri"/>
              </a:rPr>
              <a:t>• Effect: companies positioned as 'crucial levers' that must be boosted, never restrained</a:t>
            </a:r>
          </a:p>
          <a:p>
            <a:pPr algn="l" lvl="0">
              <a:lnSpc>
                <a:spcPct val="115000"/>
              </a:lnSpc>
              <a:spcBef>
                <a:spcPts val="120"/>
              </a:spcBef>
            </a:pPr>
            <a:r>
              <a:rPr sz="1900" b="0">
                <a:solidFill>
                  <a:srgbClr val="1A1A2E"/>
                </a:solidFill>
                <a:latin typeface="Calibri"/>
              </a:rPr>
              <a:t>• Ensures continued accrual of resources and political capital to these firms</a:t>
            </a:r>
          </a:p>
          <a:p>
            <a:pPr algn="l" lvl="1">
              <a:lnSpc>
                <a:spcPct val="115000"/>
              </a:lnSpc>
              <a:spcBef>
                <a:spcPts val="0"/>
              </a:spcBef>
            </a:pPr>
            <a:r>
              <a:rPr sz="1700" b="0">
                <a:solidFill>
                  <a:srgbClr val="444444"/>
                </a:solidFill>
                <a:latin typeface="Calibri"/>
              </a:rPr>
              <a:t>  – Used strategically to deflect regulation in competition, privacy, and accountability debates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Strategic Priorities &amp; Policy Windows</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From diagnosis to action: the report's reform agenda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Four Strategic Priorities</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Priority</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1. Shift burden to companies</a:t>
            </a:r>
          </a:p>
          <a:p>
            <a:pPr algn="l" lvl="0">
              <a:lnSpc>
                <a:spcPct val="115000"/>
              </a:lnSpc>
              <a:spcBef>
                <a:spcPts val="120"/>
              </a:spcBef>
            </a:pPr>
            <a:r>
              <a:rPr sz="1700" b="0">
                <a:solidFill>
                  <a:srgbClr val="1A1A2E"/>
                </a:solidFill>
                <a:latin typeface="Calibri"/>
              </a:rPr>
              <a:t>• 2. Break down policy silos</a:t>
            </a:r>
          </a:p>
          <a:p>
            <a:pPr algn="l" lvl="0">
              <a:lnSpc>
                <a:spcPct val="115000"/>
              </a:lnSpc>
              <a:spcBef>
                <a:spcPts val="120"/>
              </a:spcBef>
            </a:pPr>
            <a:r>
              <a:rPr sz="1700" b="0">
                <a:solidFill>
                  <a:srgbClr val="1A1A2E"/>
                </a:solidFill>
                <a:latin typeface="Calibri"/>
              </a:rPr>
              <a:t>• 3. Identify co-opted mechanisms</a:t>
            </a:r>
          </a:p>
          <a:p>
            <a:pPr algn="l" lvl="0">
              <a:lnSpc>
                <a:spcPct val="115000"/>
              </a:lnSpc>
              <a:spcBef>
                <a:spcPts val="120"/>
              </a:spcBef>
            </a:pPr>
            <a:r>
              <a:rPr sz="1700" b="0">
                <a:solidFill>
                  <a:srgbClr val="1A1A2E"/>
                </a:solidFill>
                <a:latin typeface="Calibri"/>
              </a:rPr>
              <a:t>• 4. Move beyond legislation</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Core Idea</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Due diligence model: firms prove safety, like pharma/finance/food sectors</a:t>
            </a:r>
          </a:p>
          <a:p>
            <a:pPr algn="l" lvl="0">
              <a:lnSpc>
                <a:spcPct val="115000"/>
              </a:lnSpc>
              <a:spcBef>
                <a:spcPts val="120"/>
              </a:spcBef>
            </a:pPr>
            <a:r>
              <a:rPr sz="1700" b="0">
                <a:solidFill>
                  <a:srgbClr val="1A1A2E"/>
                </a:solidFill>
                <a:latin typeface="Calibri"/>
              </a:rPr>
              <a:t>• Connect competition + privacy + AI governance — firms exploit disconnects</a:t>
            </a:r>
          </a:p>
          <a:p>
            <a:pPr algn="l" lvl="0">
              <a:lnSpc>
                <a:spcPct val="115000"/>
              </a:lnSpc>
              <a:spcBef>
                <a:spcPts val="120"/>
              </a:spcBef>
            </a:pPr>
            <a:r>
              <a:rPr sz="1700" b="0">
                <a:solidFill>
                  <a:srgbClr val="1A1A2E"/>
                </a:solidFill>
                <a:latin typeface="Calibri"/>
              </a:rPr>
              <a:t>• Audits &amp; impact assessments can displace bans and bright-line rules</a:t>
            </a:r>
          </a:p>
          <a:p>
            <a:pPr algn="l" lvl="0">
              <a:lnSpc>
                <a:spcPct val="115000"/>
              </a:lnSpc>
              <a:spcBef>
                <a:spcPts val="120"/>
              </a:spcBef>
            </a:pPr>
            <a:r>
              <a:rPr sz="1700" b="0">
                <a:solidFill>
                  <a:srgbClr val="1A1A2E"/>
                </a:solidFill>
                <a:latin typeface="Calibri"/>
              </a:rPr>
              <a:t>• Worker organizing, shareholder advocacy, cross-sector coalition-building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Priority 1: Shift the Burden to Companies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Current model: public/regulators must identify harms after they occur</a:t>
            </a:r>
          </a:p>
          <a:p>
            <a:pPr algn="l" lvl="0">
              <a:lnSpc>
                <a:spcPct val="115000"/>
              </a:lnSpc>
              <a:spcBef>
                <a:spcPts val="120"/>
              </a:spcBef>
            </a:pPr>
            <a:r>
              <a:rPr sz="1900" b="0">
                <a:solidFill>
                  <a:srgbClr val="1A1A2E"/>
                </a:solidFill>
                <a:latin typeface="Calibri"/>
              </a:rPr>
              <a:t>• Proposed model: companies must affirmatively demonstrate they are not causing harm</a:t>
            </a:r>
          </a:p>
          <a:p>
            <a:pPr algn="l" lvl="0">
              <a:lnSpc>
                <a:spcPct val="115000"/>
              </a:lnSpc>
              <a:spcBef>
                <a:spcPts val="120"/>
              </a:spcBef>
            </a:pPr>
            <a:r>
              <a:rPr sz="1900" b="0">
                <a:solidFill>
                  <a:srgbClr val="1A1A2E"/>
                </a:solidFill>
                <a:latin typeface="Calibri"/>
              </a:rPr>
              <a:t>• Analogy: finance sector due-diligence after repeated crisis cycles</a:t>
            </a:r>
          </a:p>
          <a:p>
            <a:pPr algn="l" lvl="1">
              <a:lnSpc>
                <a:spcPct val="115000"/>
              </a:lnSpc>
              <a:spcBef>
                <a:spcPts val="0"/>
              </a:spcBef>
            </a:pPr>
            <a:r>
              <a:rPr sz="1700" b="0">
                <a:solidFill>
                  <a:srgbClr val="444444"/>
                </a:solidFill>
                <a:latin typeface="Calibri"/>
              </a:rPr>
              <a:t>  – Food and pharmaceutical regulation already operate this way</a:t>
            </a:r>
          </a:p>
          <a:p>
            <a:pPr algn="l" lvl="0">
              <a:lnSpc>
                <a:spcPct val="115000"/>
              </a:lnSpc>
              <a:spcBef>
                <a:spcPts val="120"/>
              </a:spcBef>
            </a:pPr>
            <a:r>
              <a:rPr sz="1900" b="0">
                <a:solidFill>
                  <a:srgbClr val="1A1A2E"/>
                </a:solidFill>
                <a:latin typeface="Calibri"/>
              </a:rPr>
              <a:t>• Structural curbs needed: bright-line rules, no-go zones, bans (e.g., facial recognition bans)</a:t>
            </a:r>
          </a:p>
          <a:p>
            <a:pPr algn="l" lvl="0">
              <a:lnSpc>
                <a:spcPct val="115000"/>
              </a:lnSpc>
              <a:spcBef>
                <a:spcPts val="120"/>
              </a:spcBef>
            </a:pPr>
            <a:r>
              <a:rPr sz="1900" b="0">
                <a:solidFill>
                  <a:srgbClr val="1A1A2E"/>
                </a:solidFill>
                <a:latin typeface="Calibri"/>
              </a:rPr>
              <a:t>• Emotion recognition identified as technology that should never be deployed in workplaces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Priority 2: Breaking Policy Silos — The Google Privacy Sandbox Case</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Google's Privacy Sandbox: framed as a privacy-protective alternative to third-party cookies</a:t>
            </a:r>
          </a:p>
          <a:p>
            <a:pPr algn="l" lvl="0">
              <a:lnSpc>
                <a:spcPct val="115000"/>
              </a:lnSpc>
              <a:spcBef>
                <a:spcPts val="120"/>
              </a:spcBef>
            </a:pPr>
            <a:r>
              <a:rPr sz="1900" b="0">
                <a:solidFill>
                  <a:srgbClr val="1A1A2E"/>
                </a:solidFill>
                <a:latin typeface="Calibri"/>
              </a:rPr>
              <a:t>• Actual effect: strengthens Google's ability to collect data directly while hollowing out competitors</a:t>
            </a:r>
          </a:p>
          <a:p>
            <a:pPr algn="l" lvl="0">
              <a:lnSpc>
                <a:spcPct val="115000"/>
              </a:lnSpc>
              <a:spcBef>
                <a:spcPts val="120"/>
              </a:spcBef>
            </a:pPr>
            <a:r>
              <a:rPr sz="1900" b="0">
                <a:solidFill>
                  <a:srgbClr val="1A1A2E"/>
                </a:solidFill>
                <a:latin typeface="Calibri"/>
              </a:rPr>
              <a:t>• Exploits disconnect between privacy regulation and competition enforcement</a:t>
            </a:r>
          </a:p>
          <a:p>
            <a:pPr algn="l" lvl="0">
              <a:lnSpc>
                <a:spcPct val="115000"/>
              </a:lnSpc>
              <a:spcBef>
                <a:spcPts val="120"/>
              </a:spcBef>
            </a:pPr>
            <a:r>
              <a:rPr sz="1900" b="0">
                <a:solidFill>
                  <a:srgbClr val="1A1A2E"/>
                </a:solidFill>
                <a:latin typeface="Calibri"/>
              </a:rPr>
              <a:t>• Result: depletion of BOTH privacy AND competition simultaneously</a:t>
            </a:r>
          </a:p>
          <a:p>
            <a:pPr algn="l" lvl="0">
              <a:lnSpc>
                <a:spcPct val="115000"/>
              </a:lnSpc>
              <a:spcBef>
                <a:spcPts val="120"/>
              </a:spcBef>
            </a:pPr>
            <a:r>
              <a:rPr sz="1900" b="0">
                <a:solidFill>
                  <a:srgbClr val="1A1A2E"/>
                </a:solidFill>
                <a:latin typeface="Calibri"/>
              </a:rPr>
              <a:t>• Similar pattern: EU 'chat control' proposals assume AI content filtering works despite evidence otherwise</a:t>
            </a:r>
          </a:p>
          <a:p>
            <a:pPr algn="l" lvl="0">
              <a:lnSpc>
                <a:spcPct val="115000"/>
              </a:lnSpc>
              <a:spcBef>
                <a:spcPts val="120"/>
              </a:spcBef>
            </a:pPr>
            <a:r>
              <a:rPr sz="1900" b="0">
                <a:solidFill>
                  <a:srgbClr val="1A1A2E"/>
                </a:solidFill>
                <a:latin typeface="Calibri"/>
              </a:rPr>
              <a:t>• FTC officials called for leveraging antitrust to enhance worker power and curb surveillance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Priority 3: Recognizing Industry Co-optation</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Tech firms pivoted from resisting regulation to claiming to support it — read the fine print</a:t>
            </a:r>
          </a:p>
          <a:p>
            <a:pPr algn="l" lvl="0">
              <a:lnSpc>
                <a:spcPct val="115000"/>
              </a:lnSpc>
              <a:spcBef>
                <a:spcPts val="120"/>
              </a:spcBef>
            </a:pPr>
            <a:r>
              <a:rPr sz="1900" b="0">
                <a:solidFill>
                  <a:srgbClr val="1A1A2E"/>
                </a:solidFill>
                <a:latin typeface="Calibri"/>
              </a:rPr>
              <a:t>• Washington state facial recognition law: passed with Microsoft's support</a:t>
            </a:r>
          </a:p>
          <a:p>
            <a:pPr algn="l" lvl="1">
              <a:lnSpc>
                <a:spcPct val="115000"/>
              </a:lnSpc>
              <a:spcBef>
                <a:spcPts val="0"/>
              </a:spcBef>
            </a:pPr>
            <a:r>
              <a:rPr sz="1700" b="0">
                <a:solidFill>
                  <a:srgbClr val="444444"/>
                </a:solidFill>
                <a:latin typeface="Calibri"/>
              </a:rPr>
              <a:t>  – Prescribed audits and stakeholder engagement instead of the police-use ban advocates sought</a:t>
            </a:r>
          </a:p>
          <a:p>
            <a:pPr algn="l" lvl="0">
              <a:lnSpc>
                <a:spcPct val="115000"/>
              </a:lnSpc>
              <a:spcBef>
                <a:spcPts val="120"/>
              </a:spcBef>
            </a:pPr>
            <a:r>
              <a:rPr sz="1900" b="0">
                <a:solidFill>
                  <a:srgbClr val="1A1A2E"/>
                </a:solidFill>
                <a:latin typeface="Calibri"/>
              </a:rPr>
              <a:t>• Industry accepts 'bias' as issue but narrowly casts it as a technical problem with a technical fix</a:t>
            </a:r>
          </a:p>
          <a:p>
            <a:pPr algn="l" lvl="0">
              <a:lnSpc>
                <a:spcPct val="115000"/>
              </a:lnSpc>
              <a:spcBef>
                <a:spcPts val="120"/>
              </a:spcBef>
            </a:pPr>
            <a:r>
              <a:rPr sz="1900" b="0">
                <a:solidFill>
                  <a:srgbClr val="1A1A2E"/>
                </a:solidFill>
                <a:latin typeface="Calibri"/>
              </a:rPr>
              <a:t>• Rights-based frameworks (GDPR) vs. risk-based frameworks (EU AI Act)</a:t>
            </a:r>
          </a:p>
          <a:p>
            <a:pPr algn="l" lvl="1">
              <a:lnSpc>
                <a:spcPct val="115000"/>
              </a:lnSpc>
              <a:spcBef>
                <a:spcPts val="0"/>
              </a:spcBef>
            </a:pPr>
            <a:r>
              <a:rPr sz="1700" b="0">
                <a:solidFill>
                  <a:srgbClr val="444444"/>
                </a:solidFill>
                <a:latin typeface="Calibri"/>
              </a:rPr>
              <a:t>  – Risk-based approach allows industry to define acceptable risk levels → corporate self-regulation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Rights-Based vs. Risk-Based Regulation</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Rights-Based (e.g., GDPR)</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Sets non-negotiable protections</a:t>
            </a:r>
          </a:p>
          <a:p>
            <a:pPr algn="l" lvl="0">
              <a:lnSpc>
                <a:spcPct val="115000"/>
              </a:lnSpc>
              <a:spcBef>
                <a:spcPts val="120"/>
              </a:spcBef>
            </a:pPr>
            <a:r>
              <a:rPr sz="1700" b="0">
                <a:solidFill>
                  <a:srgbClr val="1A1A2E"/>
                </a:solidFill>
                <a:latin typeface="Calibri"/>
              </a:rPr>
              <a:t>• Protections apply regardless of context</a:t>
            </a:r>
          </a:p>
          <a:p>
            <a:pPr algn="l" lvl="0">
              <a:lnSpc>
                <a:spcPct val="115000"/>
              </a:lnSpc>
              <a:spcBef>
                <a:spcPts val="120"/>
              </a:spcBef>
            </a:pPr>
            <a:r>
              <a:rPr sz="1700" b="0">
                <a:solidFill>
                  <a:srgbClr val="1A1A2E"/>
                </a:solidFill>
                <a:latin typeface="Calibri"/>
              </a:rPr>
              <a:t>• Floors cannot be lowered by industry</a:t>
            </a:r>
          </a:p>
          <a:p>
            <a:pPr algn="l" lvl="0">
              <a:lnSpc>
                <a:spcPct val="115000"/>
              </a:lnSpc>
              <a:spcBef>
                <a:spcPts val="120"/>
              </a:spcBef>
            </a:pPr>
            <a:r>
              <a:rPr sz="1700" b="0">
                <a:solidFill>
                  <a:srgbClr val="1A1A2E"/>
                </a:solidFill>
                <a:latin typeface="Calibri"/>
              </a:rPr>
              <a:t>• Government defines the baseline</a:t>
            </a:r>
          </a:p>
          <a:p>
            <a:pPr algn="l" lvl="0">
              <a:lnSpc>
                <a:spcPct val="115000"/>
              </a:lnSpc>
              <a:spcBef>
                <a:spcPts val="120"/>
              </a:spcBef>
            </a:pPr>
            <a:r>
              <a:rPr sz="1700" b="0">
                <a:solidFill>
                  <a:srgbClr val="1A1A2E"/>
                </a:solidFill>
                <a:latin typeface="Calibri"/>
              </a:rPr>
              <a:t>• Favors structural constraints</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Risk-Based (e.g., EU AI Act)</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Allows calibration based on risk level</a:t>
            </a:r>
          </a:p>
          <a:p>
            <a:pPr algn="l" lvl="0">
              <a:lnSpc>
                <a:spcPct val="115000"/>
              </a:lnSpc>
              <a:spcBef>
                <a:spcPts val="120"/>
              </a:spcBef>
            </a:pPr>
            <a:r>
              <a:rPr sz="1700" b="0">
                <a:solidFill>
                  <a:srgbClr val="1A1A2E"/>
                </a:solidFill>
                <a:latin typeface="Calibri"/>
              </a:rPr>
              <a:t>• Industry helps define 'acceptable risk'</a:t>
            </a:r>
          </a:p>
          <a:p>
            <a:pPr algn="l" lvl="0">
              <a:lnSpc>
                <a:spcPct val="115000"/>
              </a:lnSpc>
              <a:spcBef>
                <a:spcPts val="120"/>
              </a:spcBef>
            </a:pPr>
            <a:r>
              <a:rPr sz="1700" b="0">
                <a:solidFill>
                  <a:srgbClr val="1A1A2E"/>
                </a:solidFill>
                <a:latin typeface="Calibri"/>
              </a:rPr>
              <a:t>• Flexibility can become loopholes</a:t>
            </a:r>
          </a:p>
          <a:p>
            <a:pPr algn="l" lvl="0">
              <a:lnSpc>
                <a:spcPct val="115000"/>
              </a:lnSpc>
              <a:spcBef>
                <a:spcPts val="120"/>
              </a:spcBef>
            </a:pPr>
            <a:r>
              <a:rPr sz="1700" b="0">
                <a:solidFill>
                  <a:srgbClr val="1A1A2E"/>
                </a:solidFill>
                <a:latin typeface="Calibri"/>
              </a:rPr>
              <a:t>• Can tip toward voluntary self-regulation</a:t>
            </a:r>
          </a:p>
          <a:p>
            <a:pPr algn="l" lvl="0">
              <a:lnSpc>
                <a:spcPct val="115000"/>
              </a:lnSpc>
              <a:spcBef>
                <a:spcPts val="120"/>
              </a:spcBef>
            </a:pPr>
            <a:r>
              <a:rPr sz="1700" b="0">
                <a:solidFill>
                  <a:srgbClr val="1A1A2E"/>
                </a:solidFill>
                <a:latin typeface="Calibri"/>
              </a:rPr>
              <a:t>• Favors audits and assessments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1A1A2E"/>
                </a:solidFill>
                <a:latin typeface="Calibri"/>
              </a:rPr>
              <a:t>Check-In: Audits vs. Bans</a:t>
            </a:r>
          </a:p>
        </p:txBody>
      </p:sp>
      <p:sp>
        <p:nvSpPr>
          <p:cNvPr id="5" name="Rectangle 4"/>
          <p:cNvSpPr/>
          <p:nvPr/>
        </p:nvSpPr>
        <p:spPr>
          <a:xfrm>
            <a:off x="365760" y="137160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 y="1422400"/>
            <a:ext cx="438912" cy="411480"/>
          </a:xfrm>
          <a:prstGeom prst="rect">
            <a:avLst/>
          </a:prstGeom>
          <a:noFill/>
        </p:spPr>
        <p:txBody>
          <a:bodyPr wrap="square">
            <a:spAutoFit/>
          </a:bodyPr>
          <a:lstStyle/>
          <a:p>
            <a:pPr algn="ctr"/>
            <a:r>
              <a:rPr sz="1800" b="1" i="0">
                <a:solidFill>
                  <a:srgbClr val="FFFFFF"/>
                </a:solidFill>
                <a:latin typeface="Calibri"/>
              </a:rPr>
              <a:t>1</a:t>
            </a:r>
          </a:p>
        </p:txBody>
      </p:sp>
      <p:sp>
        <p:nvSpPr>
          <p:cNvPr id="7" name="TextBox 6"/>
          <p:cNvSpPr txBox="1"/>
          <p:nvPr/>
        </p:nvSpPr>
        <p:spPr>
          <a:xfrm>
            <a:off x="1005840" y="1371600"/>
            <a:ext cx="10515600" cy="1097280"/>
          </a:xfrm>
          <a:prstGeom prst="rect">
            <a:avLst/>
          </a:prstGeom>
          <a:noFill/>
        </p:spPr>
        <p:txBody>
          <a:bodyPr wrap="square">
            <a:spAutoFit/>
          </a:bodyPr>
          <a:lstStyle/>
          <a:p>
            <a:pPr algn="l"/>
            <a:r>
              <a:rPr sz="1800" b="0" i="0">
                <a:solidFill>
                  <a:srgbClr val="444444"/>
                </a:solidFill>
                <a:latin typeface="Calibri"/>
              </a:rPr>
              <a:t>Is the report correct that algorithmic audits can function as a substitute for stronger regulation? What conditions would make audits genuinely effective?</a:t>
            </a:r>
          </a:p>
        </p:txBody>
      </p:sp>
      <p:sp>
        <p:nvSpPr>
          <p:cNvPr id="8" name="Rectangle 7"/>
          <p:cNvSpPr/>
          <p:nvPr/>
        </p:nvSpPr>
        <p:spPr>
          <a:xfrm>
            <a:off x="365760" y="265176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2702560"/>
            <a:ext cx="438912" cy="411480"/>
          </a:xfrm>
          <a:prstGeom prst="rect">
            <a:avLst/>
          </a:prstGeom>
          <a:noFill/>
        </p:spPr>
        <p:txBody>
          <a:bodyPr wrap="square">
            <a:spAutoFit/>
          </a:bodyPr>
          <a:lstStyle/>
          <a:p>
            <a:pPr algn="ctr"/>
            <a:r>
              <a:rPr sz="1800" b="1" i="0">
                <a:solidFill>
                  <a:srgbClr val="FFFFFF"/>
                </a:solidFill>
                <a:latin typeface="Calibri"/>
              </a:rPr>
              <a:t>2</a:t>
            </a:r>
          </a:p>
        </p:txBody>
      </p:sp>
      <p:sp>
        <p:nvSpPr>
          <p:cNvPr id="10" name="TextBox 9"/>
          <p:cNvSpPr txBox="1"/>
          <p:nvPr/>
        </p:nvSpPr>
        <p:spPr>
          <a:xfrm>
            <a:off x="1005840" y="2651760"/>
            <a:ext cx="10515600" cy="1097280"/>
          </a:xfrm>
          <a:prstGeom prst="rect">
            <a:avLst/>
          </a:prstGeom>
          <a:noFill/>
        </p:spPr>
        <p:txBody>
          <a:bodyPr wrap="square">
            <a:spAutoFit/>
          </a:bodyPr>
          <a:lstStyle/>
          <a:p>
            <a:pPr algn="l"/>
            <a:r>
              <a:rPr sz="1800" b="0" i="0">
                <a:solidFill>
                  <a:srgbClr val="444444"/>
                </a:solidFill>
                <a:latin typeface="Calibri"/>
              </a:rPr>
              <a:t>When Microsoft supported Washington state's audit-based facial recognition law over a ban, was this co-optation or pragmatic compromise?</a:t>
            </a:r>
          </a:p>
        </p:txBody>
      </p:sp>
      <p:sp>
        <p:nvSpPr>
          <p:cNvPr id="11" name="Rectangle 10"/>
          <p:cNvSpPr/>
          <p:nvPr/>
        </p:nvSpPr>
        <p:spPr>
          <a:xfrm>
            <a:off x="365760" y="393192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3982720"/>
            <a:ext cx="438912" cy="411480"/>
          </a:xfrm>
          <a:prstGeom prst="rect">
            <a:avLst/>
          </a:prstGeom>
          <a:noFill/>
        </p:spPr>
        <p:txBody>
          <a:bodyPr wrap="square">
            <a:spAutoFit/>
          </a:bodyPr>
          <a:lstStyle/>
          <a:p>
            <a:pPr algn="ctr"/>
            <a:r>
              <a:rPr sz="1800" b="1" i="0">
                <a:solidFill>
                  <a:srgbClr val="FFFFFF"/>
                </a:solidFill>
                <a:latin typeface="Calibri"/>
              </a:rPr>
              <a:t>3</a:t>
            </a:r>
          </a:p>
        </p:txBody>
      </p:sp>
      <p:sp>
        <p:nvSpPr>
          <p:cNvPr id="13" name="TextBox 12"/>
          <p:cNvSpPr txBox="1"/>
          <p:nvPr/>
        </p:nvSpPr>
        <p:spPr>
          <a:xfrm>
            <a:off x="1005840" y="3931920"/>
            <a:ext cx="10515600" cy="1097280"/>
          </a:xfrm>
          <a:prstGeom prst="rect">
            <a:avLst/>
          </a:prstGeom>
          <a:noFill/>
        </p:spPr>
        <p:txBody>
          <a:bodyPr wrap="square">
            <a:spAutoFit/>
          </a:bodyPr>
          <a:lstStyle/>
          <a:p>
            <a:pPr algn="l"/>
            <a:r>
              <a:rPr sz="1800" b="0" i="0">
                <a:solidFill>
                  <a:srgbClr val="444444"/>
                </a:solidFill>
                <a:latin typeface="Calibri"/>
              </a:rPr>
              <a:t>Can you think of other domains where transparency mechanisms replaced rather than complemented structural regulation?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Priority 4: Beyond Legislation</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Legislation alone is insufficient — political stalemates and industry lobbying stall or weaken laws</a:t>
            </a:r>
          </a:p>
          <a:p>
            <a:pPr algn="l" lvl="0">
              <a:lnSpc>
                <a:spcPct val="115000"/>
              </a:lnSpc>
              <a:spcBef>
                <a:spcPts val="120"/>
              </a:spcBef>
            </a:pPr>
            <a:r>
              <a:rPr sz="1900" b="0">
                <a:solidFill>
                  <a:srgbClr val="1A1A2E"/>
                </a:solidFill>
                <a:latin typeface="Calibri"/>
              </a:rPr>
              <a:t>• Worker organizing: one of most effective approaches to changing tech company practice</a:t>
            </a:r>
          </a:p>
          <a:p>
            <a:pPr algn="l" lvl="0">
              <a:lnSpc>
                <a:spcPct val="115000"/>
              </a:lnSpc>
              <a:spcBef>
                <a:spcPts val="120"/>
              </a:spcBef>
            </a:pPr>
            <a:r>
              <a:rPr sz="1900" b="0">
                <a:solidFill>
                  <a:srgbClr val="1A1A2E"/>
                </a:solidFill>
                <a:latin typeface="Calibri"/>
              </a:rPr>
              <a:t>• Shareholder advocacy: Sisters of St. Joseph of Peace used shareholder proposals at Microsoft</a:t>
            </a:r>
          </a:p>
          <a:p>
            <a:pPr algn="l" lvl="1">
              <a:lnSpc>
                <a:spcPct val="115000"/>
              </a:lnSpc>
              <a:spcBef>
                <a:spcPts val="0"/>
              </a:spcBef>
            </a:pPr>
            <a:r>
              <a:rPr sz="1700" b="0">
                <a:solidFill>
                  <a:srgbClr val="444444"/>
                </a:solidFill>
                <a:latin typeface="Calibri"/>
              </a:rPr>
              <a:t>  – Pushed for human rights accountability, facial recognition sales ban, lobbying alignment review</a:t>
            </a:r>
          </a:p>
          <a:p>
            <a:pPr algn="l" lvl="0">
              <a:lnSpc>
                <a:spcPct val="115000"/>
              </a:lnSpc>
              <a:spcBef>
                <a:spcPts val="120"/>
              </a:spcBef>
            </a:pPr>
            <a:r>
              <a:rPr sz="1900" b="0">
                <a:solidFill>
                  <a:srgbClr val="1A1A2E"/>
                </a:solidFill>
                <a:latin typeface="Calibri"/>
              </a:rPr>
              <a:t>• Cross-sector coalition-building with climate advocates, labor organizers, and financial reformers</a:t>
            </a:r>
          </a:p>
          <a:p>
            <a:pPr algn="l" lvl="0">
              <a:lnSpc>
                <a:spcPct val="115000"/>
              </a:lnSpc>
              <a:spcBef>
                <a:spcPts val="120"/>
              </a:spcBef>
            </a:pPr>
            <a:r>
              <a:rPr sz="1900" b="0">
                <a:solidFill>
                  <a:srgbClr val="1A1A2E"/>
                </a:solidFill>
                <a:latin typeface="Calibri"/>
              </a:rPr>
              <a:t>• This is NOT anti-regulatory — it argues legislation needs complementary strategies for durability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Seven Policy Windows</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Specific interventions for the current regulatory moment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Policy Windows 1–3: Data, Competition, GenAI</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1. Unwind data advantage: data minimization rules, link privacy &amp; competition law enforcement</a:t>
            </a:r>
          </a:p>
          <a:p>
            <a:pPr algn="l" lvl="1">
              <a:lnSpc>
                <a:spcPct val="115000"/>
              </a:lnSpc>
              <a:spcBef>
                <a:spcPts val="0"/>
              </a:spcBef>
            </a:pPr>
            <a:r>
              <a:rPr sz="1700" b="0">
                <a:solidFill>
                  <a:srgbClr val="444444"/>
                </a:solidFill>
                <a:latin typeface="Calibri"/>
              </a:rPr>
              <a:t>  – Reform merger guidelines to scrutinize data consolidation; intervene before harms occur</a:t>
            </a:r>
          </a:p>
          <a:p>
            <a:pPr algn="l" lvl="0">
              <a:lnSpc>
                <a:spcPct val="115000"/>
              </a:lnSpc>
              <a:spcBef>
                <a:spcPts val="120"/>
              </a:spcBef>
            </a:pPr>
            <a:r>
              <a:rPr sz="1900" b="0">
                <a:solidFill>
                  <a:srgbClr val="1A1A2E"/>
                </a:solidFill>
                <a:latin typeface="Calibri"/>
              </a:rPr>
              <a:t>• 2. Reform competition law: aggressively curb data-expanding mergers, pass 117th Congress antitrust bills</a:t>
            </a:r>
          </a:p>
          <a:p>
            <a:pPr algn="l" lvl="1">
              <a:lnSpc>
                <a:spcPct val="115000"/>
              </a:lnSpc>
              <a:spcBef>
                <a:spcPts val="0"/>
              </a:spcBef>
            </a:pPr>
            <a:r>
              <a:rPr sz="1700" b="0">
                <a:solidFill>
                  <a:srgbClr val="444444"/>
                </a:solidFill>
                <a:latin typeface="Calibri"/>
              </a:rPr>
              <a:t>  – Resist US-China 'AI race' rhetoric used as deregulatory argument</a:t>
            </a:r>
          </a:p>
          <a:p>
            <a:pPr algn="l" lvl="0">
              <a:lnSpc>
                <a:spcPct val="115000"/>
              </a:lnSpc>
              <a:spcBef>
                <a:spcPts val="120"/>
              </a:spcBef>
            </a:pPr>
            <a:r>
              <a:rPr sz="1900" b="0">
                <a:solidFill>
                  <a:srgbClr val="1A1A2E"/>
                </a:solidFill>
                <a:latin typeface="Calibri"/>
              </a:rPr>
              <a:t>• 3. Regulate large-scale models (ChatGPT, BARD): no carve-outs for 'general-purpose AI'</a:t>
            </a:r>
          </a:p>
          <a:p>
            <a:pPr algn="l" lvl="1">
              <a:lnSpc>
                <a:spcPct val="115000"/>
              </a:lnSpc>
              <a:spcBef>
                <a:spcPts val="0"/>
              </a:spcBef>
            </a:pPr>
            <a:r>
              <a:rPr sz="1700" b="0">
                <a:solidFill>
                  <a:srgbClr val="444444"/>
                </a:solidFill>
                <a:latin typeface="Calibri"/>
              </a:rPr>
              <a:t>  – Mandate documentation requirements; enforce existing consumer protection law; scrutinize 'openness' claims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Policy Windows 4–5: Audits &amp; Biometrics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4. Displace audits as primary policy response to harmful AI</a:t>
            </a:r>
          </a:p>
          <a:p>
            <a:pPr algn="l" lvl="1">
              <a:lnSpc>
                <a:spcPct val="115000"/>
              </a:lnSpc>
              <a:spcBef>
                <a:spcPts val="0"/>
              </a:spcBef>
            </a:pPr>
            <a:r>
              <a:rPr sz="1700" b="0">
                <a:solidFill>
                  <a:srgbClr val="444444"/>
                </a:solidFill>
                <a:latin typeface="Calibri"/>
              </a:rPr>
              <a:t>  – Scrutinize 'audit economy' companies offering audits-as-a-service with no agreed standards</a:t>
            </a:r>
          </a:p>
          <a:p>
            <a:pPr algn="l" lvl="1">
              <a:lnSpc>
                <a:spcPct val="115000"/>
              </a:lnSpc>
              <a:spcBef>
                <a:spcPts val="0"/>
              </a:spcBef>
            </a:pPr>
            <a:r>
              <a:rPr sz="1700" b="0">
                <a:solidFill>
                  <a:srgbClr val="444444"/>
                </a:solidFill>
                <a:latin typeface="Calibri"/>
              </a:rPr>
              <a:t>  – Impose bans, moratoria, and burden-shifting rules alongside any transparency measures</a:t>
            </a:r>
          </a:p>
          <a:p>
            <a:pPr algn="l" lvl="0">
              <a:lnSpc>
                <a:spcPct val="115000"/>
              </a:lnSpc>
              <a:spcBef>
                <a:spcPts val="120"/>
              </a:spcBef>
            </a:pPr>
            <a:r>
              <a:rPr sz="1900" b="0">
                <a:solidFill>
                  <a:srgbClr val="1A1A2E"/>
                </a:solidFill>
                <a:latin typeface="Calibri"/>
              </a:rPr>
              <a:t>• 5. Future-proof biometric surveillance regulation</a:t>
            </a:r>
          </a:p>
          <a:p>
            <a:pPr algn="l" lvl="1">
              <a:lnSpc>
                <a:spcPct val="115000"/>
              </a:lnSpc>
              <a:spcBef>
                <a:spcPts val="0"/>
              </a:spcBef>
            </a:pPr>
            <a:r>
              <a:rPr sz="1700" b="0">
                <a:solidFill>
                  <a:srgbClr val="444444"/>
                </a:solidFill>
                <a:latin typeface="Calibri"/>
              </a:rPr>
              <a:t>  – Comprehensive bright-line rules to address changing forms: cars, VR, new use cases</a:t>
            </a:r>
          </a:p>
          <a:p>
            <a:pPr algn="l" lvl="1">
              <a:lnSpc>
                <a:spcPct val="115000"/>
              </a:lnSpc>
              <a:spcBef>
                <a:spcPts val="0"/>
              </a:spcBef>
            </a:pPr>
            <a:r>
              <a:rPr sz="1700" b="0">
                <a:solidFill>
                  <a:srgbClr val="444444"/>
                </a:solidFill>
                <a:latin typeface="Calibri"/>
              </a:rPr>
              <a:t>  – Address broader inferences beyond just identification</a:t>
            </a:r>
          </a:p>
          <a:p>
            <a:pPr algn="l" lvl="1">
              <a:lnSpc>
                <a:spcPct val="115000"/>
              </a:lnSpc>
              <a:spcBef>
                <a:spcPts val="0"/>
              </a:spcBef>
            </a:pPr>
            <a:r>
              <a:rPr sz="1700" b="0">
                <a:solidFill>
                  <a:srgbClr val="444444"/>
                </a:solidFill>
                <a:latin typeface="Calibri"/>
              </a:rPr>
              <a:t>  – Enforce data minimization provisions in existing data protection laws globally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Policy Windows 6–7: Workers &amp; Trade</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6. Enact strong curbs on worker surveillance</a:t>
            </a:r>
          </a:p>
          <a:p>
            <a:pPr algn="l" lvl="1">
              <a:lnSpc>
                <a:spcPct val="115000"/>
              </a:lnSpc>
              <a:spcBef>
                <a:spcPts val="0"/>
              </a:spcBef>
            </a:pPr>
            <a:r>
              <a:rPr sz="1700" b="0">
                <a:solidFill>
                  <a:srgbClr val="444444"/>
                </a:solidFill>
                <a:latin typeface="Calibri"/>
              </a:rPr>
              <a:t>  – Worker surveillance is fundamentally about employers gaining and maintaining control</a:t>
            </a:r>
          </a:p>
          <a:p>
            <a:pPr algn="l" lvl="1">
              <a:lnSpc>
                <a:spcPct val="115000"/>
              </a:lnSpc>
              <a:spcBef>
                <a:spcPts val="0"/>
              </a:spcBef>
            </a:pPr>
            <a:r>
              <a:rPr sz="1700" b="0">
                <a:solidFill>
                  <a:srgbClr val="444444"/>
                </a:solidFill>
                <a:latin typeface="Calibri"/>
              </a:rPr>
              <a:t>  – Establish baseline protections from algorithmic management across all workplaces</a:t>
            </a:r>
          </a:p>
          <a:p>
            <a:pPr algn="l" lvl="1">
              <a:lnSpc>
                <a:spcPct val="115000"/>
              </a:lnSpc>
              <a:spcBef>
                <a:spcPts val="0"/>
              </a:spcBef>
            </a:pPr>
            <a:r>
              <a:rPr sz="1700" b="0">
                <a:solidFill>
                  <a:srgbClr val="444444"/>
                </a:solidFill>
                <a:latin typeface="Calibri"/>
              </a:rPr>
              <a:t>  – Red lines: automated hiring/firing, emotion recognition — inappropriate in any context</a:t>
            </a:r>
          </a:p>
          <a:p>
            <a:pPr algn="l" lvl="0">
              <a:lnSpc>
                <a:spcPct val="115000"/>
              </a:lnSpc>
              <a:spcBef>
                <a:spcPts val="120"/>
              </a:spcBef>
            </a:pPr>
            <a:r>
              <a:rPr sz="1900" b="0">
                <a:solidFill>
                  <a:srgbClr val="1A1A2E"/>
                </a:solidFill>
                <a:latin typeface="Calibri"/>
              </a:rPr>
              <a:t>• 7. Prevent international preemption via digital trade agreements</a:t>
            </a:r>
          </a:p>
          <a:p>
            <a:pPr algn="l" lvl="1">
              <a:lnSpc>
                <a:spcPct val="115000"/>
              </a:lnSpc>
              <a:spcBef>
                <a:spcPts val="0"/>
              </a:spcBef>
            </a:pPr>
            <a:r>
              <a:rPr sz="1700" b="0">
                <a:solidFill>
                  <a:srgbClr val="444444"/>
                </a:solidFill>
                <a:latin typeface="Calibri"/>
              </a:rPr>
              <a:t>  – Source code secrecy provisions can undercut algorithmic transparency laws</a:t>
            </a:r>
          </a:p>
          <a:p>
            <a:pPr algn="l" lvl="1">
              <a:lnSpc>
                <a:spcPct val="115000"/>
              </a:lnSpc>
              <a:spcBef>
                <a:spcPts val="0"/>
              </a:spcBef>
            </a:pPr>
            <a:r>
              <a:rPr sz="1700" b="0">
                <a:solidFill>
                  <a:srgbClr val="444444"/>
                </a:solidFill>
                <a:latin typeface="Calibri"/>
              </a:rPr>
              <a:t>  – Nondiscrimination clauses can shield Big Tech from foreign competition regulation</a:t>
            </a:r>
          </a:p>
          <a:p>
            <a:pPr algn="l" lvl="1">
              <a:lnSpc>
                <a:spcPct val="115000"/>
              </a:lnSpc>
              <a:spcBef>
                <a:spcPts val="0"/>
              </a:spcBef>
            </a:pPr>
            <a:r>
              <a:rPr sz="1700" b="0">
                <a:solidFill>
                  <a:srgbClr val="444444"/>
                </a:solidFill>
                <a:latin typeface="Calibri"/>
              </a:rPr>
              <a:t>  – Indo-Pacific Economic Framework as opportunity for progressive digital policy baseline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The Ecosystem of Dependency</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Amazon Web Services 2017 S3 outage: a single typo took down hospital systems nationwide</a:t>
            </a:r>
          </a:p>
          <a:p>
            <a:pPr algn="l" lvl="0">
              <a:lnSpc>
                <a:spcPct val="115000"/>
              </a:lnSpc>
              <a:spcBef>
                <a:spcPts val="120"/>
              </a:spcBef>
            </a:pPr>
            <a:r>
              <a:rPr sz="1900" b="0">
                <a:solidFill>
                  <a:srgbClr val="1A1A2E"/>
                </a:solidFill>
                <a:latin typeface="Calibri"/>
              </a:rPr>
              <a:t>• Government dependence on Big Tech surged during COVID-19 for basic governance functions</a:t>
            </a:r>
          </a:p>
          <a:p>
            <a:pPr algn="l" lvl="0">
              <a:lnSpc>
                <a:spcPct val="115000"/>
              </a:lnSpc>
              <a:spcBef>
                <a:spcPts val="120"/>
              </a:spcBef>
            </a:pPr>
            <a:r>
              <a:rPr sz="1900" b="0">
                <a:solidFill>
                  <a:srgbClr val="1A1A2E"/>
                </a:solidFill>
                <a:latin typeface="Calibri"/>
              </a:rPr>
              <a:t>• Microsoft internally rationed AI hardware access to maintain GPT-4 capacity</a:t>
            </a:r>
          </a:p>
          <a:p>
            <a:pPr algn="l" lvl="0">
              <a:lnSpc>
                <a:spcPct val="115000"/>
              </a:lnSpc>
              <a:spcBef>
                <a:spcPts val="120"/>
              </a:spcBef>
            </a:pPr>
            <a:r>
              <a:rPr sz="1900" b="0">
                <a:solidFill>
                  <a:srgbClr val="1A1A2E"/>
                </a:solidFill>
                <a:latin typeface="Calibri"/>
              </a:rPr>
              <a:t>• Microsoft threatened Bing data restriction against customers building GPT-4 competitors</a:t>
            </a:r>
          </a:p>
          <a:p>
            <a:pPr algn="l" lvl="0">
              <a:lnSpc>
                <a:spcPct val="115000"/>
              </a:lnSpc>
              <a:spcBef>
                <a:spcPts val="120"/>
              </a:spcBef>
            </a:pPr>
            <a:r>
              <a:rPr sz="1900" b="0">
                <a:solidFill>
                  <a:srgbClr val="1A1A2E"/>
                </a:solidFill>
                <a:latin typeface="Calibri"/>
              </a:rPr>
              <a:t>• Even 'AI startups' license server infrastructure from the same few cloud providers</a:t>
            </a:r>
          </a:p>
          <a:p>
            <a:pPr algn="l" lvl="0">
              <a:lnSpc>
                <a:spcPct val="115000"/>
              </a:lnSpc>
              <a:spcBef>
                <a:spcPts val="120"/>
              </a:spcBef>
            </a:pPr>
            <a:r>
              <a:rPr sz="1900" b="0">
                <a:solidFill>
                  <a:srgbClr val="1A1A2E"/>
                </a:solidFill>
                <a:latin typeface="Calibri"/>
              </a:rPr>
              <a:t>• Big Tech firms function as both choke points and single points of failure for society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Critical Analysis</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Evaluating the report's framework, evidence, and blind spots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Strengths &amp; Limitations of the Framework</a:t>
            </a:r>
          </a:p>
        </p:txBody>
      </p:sp>
      <p:sp>
        <p:nvSpPr>
          <p:cNvPr id="5" name="Rectangle 4"/>
          <p:cNvSpPr/>
          <p:nvPr/>
        </p:nvSpPr>
        <p:spPr>
          <a:xfrm>
            <a:off x="5998464" y="1143000"/>
            <a:ext cx="36576" cy="55778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5486400" cy="384048"/>
          </a:xfrm>
          <a:prstGeom prst="rect">
            <a:avLst/>
          </a:prstGeom>
          <a:solidFill>
            <a:srgbClr val="2C5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5394960" cy="347472"/>
          </a:xfrm>
          <a:prstGeom prst="rect">
            <a:avLst/>
          </a:prstGeom>
          <a:noFill/>
        </p:spPr>
        <p:txBody>
          <a:bodyPr wrap="square">
            <a:spAutoFit/>
          </a:bodyPr>
          <a:lstStyle/>
          <a:p>
            <a:pPr algn="l"/>
            <a:r>
              <a:rPr sz="1500" b="1" i="0">
                <a:solidFill>
                  <a:srgbClr val="FFFFFF"/>
                </a:solidFill>
                <a:latin typeface="Calibri"/>
              </a:rPr>
              <a:t>Strengths</a:t>
            </a:r>
          </a:p>
        </p:txBody>
      </p:sp>
      <p:sp>
        <p:nvSpPr>
          <p:cNvPr id="8" name="TextBox 7"/>
          <p:cNvSpPr txBox="1"/>
          <p:nvPr/>
        </p:nvSpPr>
        <p:spPr>
          <a:xfrm>
            <a:off x="365760"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Reframes AI governance around structural power, not just technical risk</a:t>
            </a:r>
          </a:p>
          <a:p>
            <a:pPr algn="l" lvl="0">
              <a:lnSpc>
                <a:spcPct val="115000"/>
              </a:lnSpc>
              <a:spcBef>
                <a:spcPts val="120"/>
              </a:spcBef>
            </a:pPr>
            <a:r>
              <a:rPr sz="1700" b="0">
                <a:solidFill>
                  <a:srgbClr val="1A1A2E"/>
                </a:solidFill>
                <a:latin typeface="Calibri"/>
              </a:rPr>
              <a:t>• Concrete, actionable policy recommendations grounded in regulatory experience</a:t>
            </a:r>
          </a:p>
          <a:p>
            <a:pPr algn="l" lvl="0">
              <a:lnSpc>
                <a:spcPct val="115000"/>
              </a:lnSpc>
              <a:spcBef>
                <a:spcPts val="120"/>
              </a:spcBef>
            </a:pPr>
            <a:r>
              <a:rPr sz="1700" b="0">
                <a:solidFill>
                  <a:srgbClr val="1A1A2E"/>
                </a:solidFill>
                <a:latin typeface="Calibri"/>
              </a:rPr>
              <a:t>• Breaks down silos between privacy, competition, and AI policy domains</a:t>
            </a:r>
          </a:p>
          <a:p>
            <a:pPr algn="l" lvl="0">
              <a:lnSpc>
                <a:spcPct val="115000"/>
              </a:lnSpc>
              <a:spcBef>
                <a:spcPts val="120"/>
              </a:spcBef>
            </a:pPr>
            <a:r>
              <a:rPr sz="1700" b="0">
                <a:solidFill>
                  <a:srgbClr val="1A1A2E"/>
                </a:solidFill>
                <a:latin typeface="Calibri"/>
              </a:rPr>
              <a:t>• Centers the political economy of AI, not just ethics or fairness</a:t>
            </a:r>
          </a:p>
        </p:txBody>
      </p:sp>
      <p:sp>
        <p:nvSpPr>
          <p:cNvPr id="9" name="Rectangle 8"/>
          <p:cNvSpPr/>
          <p:nvPr/>
        </p:nvSpPr>
        <p:spPr>
          <a:xfrm>
            <a:off x="6153912" y="1234440"/>
            <a:ext cx="5486400" cy="384048"/>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252728"/>
            <a:ext cx="5394960" cy="347472"/>
          </a:xfrm>
          <a:prstGeom prst="rect">
            <a:avLst/>
          </a:prstGeom>
          <a:noFill/>
        </p:spPr>
        <p:txBody>
          <a:bodyPr wrap="square">
            <a:spAutoFit/>
          </a:bodyPr>
          <a:lstStyle/>
          <a:p>
            <a:pPr algn="l"/>
            <a:r>
              <a:rPr sz="1500" b="1" i="0">
                <a:solidFill>
                  <a:srgbClr val="FFFFFF"/>
                </a:solidFill>
                <a:latin typeface="Calibri"/>
              </a:rPr>
              <a:t>Limitations</a:t>
            </a:r>
          </a:p>
        </p:txBody>
      </p:sp>
      <p:sp>
        <p:nvSpPr>
          <p:cNvPr id="11" name="TextBox 10"/>
          <p:cNvSpPr txBox="1"/>
          <p:nvPr/>
        </p:nvSpPr>
        <p:spPr>
          <a:xfrm>
            <a:off x="6153912" y="1737360"/>
            <a:ext cx="5394960" cy="4846320"/>
          </a:xfrm>
          <a:prstGeom prst="rect">
            <a:avLst/>
          </a:prstGeom>
          <a:noFill/>
        </p:spPr>
        <p:txBody>
          <a:bodyPr wrap="square">
            <a:spAutoFit/>
          </a:bodyPr>
          <a:lstStyle/>
          <a:p>
            <a:pPr algn="l" lvl="0">
              <a:lnSpc>
                <a:spcPct val="115000"/>
              </a:lnSpc>
              <a:spcBef>
                <a:spcPts val="120"/>
              </a:spcBef>
            </a:pPr>
            <a:r>
              <a:rPr sz="1700" b="0">
                <a:solidFill>
                  <a:srgbClr val="1A1A2E"/>
                </a:solidFill>
                <a:latin typeface="Calibri"/>
              </a:rPr>
              <a:t>• Primarily US-centric despite gestures to EU and global context</a:t>
            </a:r>
          </a:p>
          <a:p>
            <a:pPr algn="l" lvl="0">
              <a:lnSpc>
                <a:spcPct val="115000"/>
              </a:lnSpc>
              <a:spcBef>
                <a:spcPts val="120"/>
              </a:spcBef>
            </a:pPr>
            <a:r>
              <a:rPr sz="1700" b="0">
                <a:solidFill>
                  <a:srgbClr val="1A1A2E"/>
                </a:solidFill>
                <a:latin typeface="Calibri"/>
              </a:rPr>
              <a:t>• Limited engagement with beneficial AI applications or innovation tradeoffs</a:t>
            </a:r>
          </a:p>
          <a:p>
            <a:pPr algn="l" lvl="0">
              <a:lnSpc>
                <a:spcPct val="115000"/>
              </a:lnSpc>
              <a:spcBef>
                <a:spcPts val="120"/>
              </a:spcBef>
            </a:pPr>
            <a:r>
              <a:rPr sz="1700" b="0">
                <a:solidFill>
                  <a:srgbClr val="1A1A2E"/>
                </a:solidFill>
                <a:latin typeface="Calibri"/>
              </a:rPr>
              <a:t>• Assumes stronger regulations were politically viable alternatives in each case</a:t>
            </a:r>
          </a:p>
          <a:p>
            <a:pPr algn="l" lvl="0">
              <a:lnSpc>
                <a:spcPct val="115000"/>
              </a:lnSpc>
              <a:spcBef>
                <a:spcPts val="120"/>
              </a:spcBef>
            </a:pPr>
            <a:r>
              <a:rPr sz="1700" b="0">
                <a:solidFill>
                  <a:srgbClr val="1A1A2E"/>
                </a:solidFill>
                <a:latin typeface="Calibri"/>
              </a:rPr>
              <a:t>• Underspecified on how to operationalize 'bright-line rules' at technical level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Counterarguments Worth Considering</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Innovation defense: does aggressive regulation risk ceding AI leadership to less rights-respecting regimes?</a:t>
            </a:r>
          </a:p>
          <a:p>
            <a:pPr algn="l" lvl="1">
              <a:lnSpc>
                <a:spcPct val="115000"/>
              </a:lnSpc>
              <a:spcBef>
                <a:spcPts val="0"/>
              </a:spcBef>
            </a:pPr>
            <a:r>
              <a:rPr sz="1700" b="0">
                <a:solidFill>
                  <a:srgbClr val="444444"/>
                </a:solidFill>
                <a:latin typeface="Calibri"/>
              </a:rPr>
              <a:t>  – Report dismisses this as narrative strategy, but it may have some empirical substance</a:t>
            </a:r>
          </a:p>
          <a:p>
            <a:pPr algn="l" lvl="0">
              <a:lnSpc>
                <a:spcPct val="115000"/>
              </a:lnSpc>
              <a:spcBef>
                <a:spcPts val="120"/>
              </a:spcBef>
            </a:pPr>
            <a:r>
              <a:rPr sz="1900" b="0">
                <a:solidFill>
                  <a:srgbClr val="1A1A2E"/>
                </a:solidFill>
                <a:latin typeface="Calibri"/>
              </a:rPr>
              <a:t>• Structural dependency: is Big Tech dominance an inherent feature of capital-intensive technologies?</a:t>
            </a:r>
          </a:p>
          <a:p>
            <a:pPr algn="l" lvl="1">
              <a:lnSpc>
                <a:spcPct val="115000"/>
              </a:lnSpc>
              <a:spcBef>
                <a:spcPts val="0"/>
              </a:spcBef>
            </a:pPr>
            <a:r>
              <a:rPr sz="1700" b="0">
                <a:solidFill>
                  <a:srgbClr val="444444"/>
                </a:solidFill>
                <a:latin typeface="Calibri"/>
              </a:rPr>
              <a:t>  – If so, regulation may need to accommodate rather than attempt to dissolve concentration</a:t>
            </a:r>
          </a:p>
          <a:p>
            <a:pPr algn="l" lvl="0">
              <a:lnSpc>
                <a:spcPct val="115000"/>
              </a:lnSpc>
              <a:spcBef>
                <a:spcPts val="120"/>
              </a:spcBef>
            </a:pPr>
            <a:r>
              <a:rPr sz="1900" b="0">
                <a:solidFill>
                  <a:srgbClr val="1A1A2E"/>
                </a:solidFill>
                <a:latin typeface="Calibri"/>
              </a:rPr>
              <a:t>• Audit defense: might audits be a necessary pragmatic step in political contexts where bans are infeasible?</a:t>
            </a:r>
          </a:p>
          <a:p>
            <a:pPr algn="l" lvl="0">
              <a:lnSpc>
                <a:spcPct val="115000"/>
              </a:lnSpc>
              <a:spcBef>
                <a:spcPts val="120"/>
              </a:spcBef>
            </a:pPr>
            <a:r>
              <a:rPr sz="1900" b="0">
                <a:solidFill>
                  <a:srgbClr val="1A1A2E"/>
                </a:solidFill>
                <a:latin typeface="Calibri"/>
              </a:rPr>
              <a:t>• Global coordination: trade agreement preemption may be a genuine coordination problem, not just corporate capture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What the Report Leaves Open</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How to govern AI in genuinely competitive markets — is power concentration the ONLY problem?</a:t>
            </a:r>
          </a:p>
          <a:p>
            <a:pPr algn="l" lvl="0">
              <a:lnSpc>
                <a:spcPct val="115000"/>
              </a:lnSpc>
              <a:spcBef>
                <a:spcPts val="120"/>
              </a:spcBef>
            </a:pPr>
            <a:r>
              <a:rPr sz="1900" b="0">
                <a:solidFill>
                  <a:srgbClr val="1A1A2E"/>
                </a:solidFill>
                <a:latin typeface="Calibri"/>
              </a:rPr>
              <a:t>• Role of smaller tech companies and non-GAFAM actors (e.g., Palantir, Clearview AI)</a:t>
            </a:r>
          </a:p>
          <a:p>
            <a:pPr algn="l" lvl="0">
              <a:lnSpc>
                <a:spcPct val="115000"/>
              </a:lnSpc>
              <a:spcBef>
                <a:spcPts val="120"/>
              </a:spcBef>
            </a:pPr>
            <a:r>
              <a:rPr sz="1900" b="0">
                <a:solidFill>
                  <a:srgbClr val="1A1A2E"/>
                </a:solidFill>
                <a:latin typeface="Calibri"/>
              </a:rPr>
              <a:t>• How Global South nations should position themselves — beyond US-EU regulatory axis</a:t>
            </a:r>
          </a:p>
          <a:p>
            <a:pPr algn="l" lvl="0">
              <a:lnSpc>
                <a:spcPct val="115000"/>
              </a:lnSpc>
              <a:spcBef>
                <a:spcPts val="120"/>
              </a:spcBef>
            </a:pPr>
            <a:r>
              <a:rPr sz="1900" b="0">
                <a:solidFill>
                  <a:srgbClr val="1A1A2E"/>
                </a:solidFill>
                <a:latin typeface="Calibri"/>
              </a:rPr>
              <a:t>• Technical governance specifics: what documentation requirements, what audit standards, what metrics?</a:t>
            </a:r>
          </a:p>
          <a:p>
            <a:pPr algn="l" lvl="0">
              <a:lnSpc>
                <a:spcPct val="115000"/>
              </a:lnSpc>
              <a:spcBef>
                <a:spcPts val="120"/>
              </a:spcBef>
            </a:pPr>
            <a:r>
              <a:rPr sz="1900" b="0">
                <a:solidFill>
                  <a:srgbClr val="1A1A2E"/>
                </a:solidFill>
                <a:latin typeface="Calibri"/>
              </a:rPr>
              <a:t>• Whether the 'Big Tobacco' analogy predicts regulatory success or prolonged political stalemate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1A1A2E"/>
                </a:solidFill>
                <a:latin typeface="Calibri"/>
              </a:rPr>
              <a:t>Discussion: Evaluating the Power Thesis</a:t>
            </a:r>
          </a:p>
        </p:txBody>
      </p:sp>
      <p:sp>
        <p:nvSpPr>
          <p:cNvPr id="5" name="Rectangle 4"/>
          <p:cNvSpPr/>
          <p:nvPr/>
        </p:nvSpPr>
        <p:spPr>
          <a:xfrm>
            <a:off x="365760" y="137160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 y="1422400"/>
            <a:ext cx="438912" cy="411480"/>
          </a:xfrm>
          <a:prstGeom prst="rect">
            <a:avLst/>
          </a:prstGeom>
          <a:noFill/>
        </p:spPr>
        <p:txBody>
          <a:bodyPr wrap="square">
            <a:spAutoFit/>
          </a:bodyPr>
          <a:lstStyle/>
          <a:p>
            <a:pPr algn="ctr"/>
            <a:r>
              <a:rPr sz="1800" b="1" i="0">
                <a:solidFill>
                  <a:srgbClr val="FFFFFF"/>
                </a:solidFill>
                <a:latin typeface="Calibri"/>
              </a:rPr>
              <a:t>1</a:t>
            </a:r>
          </a:p>
        </p:txBody>
      </p:sp>
      <p:sp>
        <p:nvSpPr>
          <p:cNvPr id="7" name="TextBox 6"/>
          <p:cNvSpPr txBox="1"/>
          <p:nvPr/>
        </p:nvSpPr>
        <p:spPr>
          <a:xfrm>
            <a:off x="1005840" y="1371600"/>
            <a:ext cx="10515600" cy="1097280"/>
          </a:xfrm>
          <a:prstGeom prst="rect">
            <a:avLst/>
          </a:prstGeom>
          <a:noFill/>
        </p:spPr>
        <p:txBody>
          <a:bodyPr wrap="square">
            <a:spAutoFit/>
          </a:bodyPr>
          <a:lstStyle/>
          <a:p>
            <a:pPr algn="l"/>
            <a:r>
              <a:rPr sz="1800" b="0" i="0">
                <a:solidFill>
                  <a:srgbClr val="444444"/>
                </a:solidFill>
                <a:latin typeface="Calibri"/>
              </a:rPr>
              <a:t>If you broke up Big Tech firms tomorrow, would AI governance problems be substantially reduced, or would new problems emerge?</a:t>
            </a:r>
          </a:p>
        </p:txBody>
      </p:sp>
      <p:sp>
        <p:nvSpPr>
          <p:cNvPr id="8" name="Rectangle 7"/>
          <p:cNvSpPr/>
          <p:nvPr/>
        </p:nvSpPr>
        <p:spPr>
          <a:xfrm>
            <a:off x="365760" y="265176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2702560"/>
            <a:ext cx="438912" cy="411480"/>
          </a:xfrm>
          <a:prstGeom prst="rect">
            <a:avLst/>
          </a:prstGeom>
          <a:noFill/>
        </p:spPr>
        <p:txBody>
          <a:bodyPr wrap="square">
            <a:spAutoFit/>
          </a:bodyPr>
          <a:lstStyle/>
          <a:p>
            <a:pPr algn="ctr"/>
            <a:r>
              <a:rPr sz="1800" b="1" i="0">
                <a:solidFill>
                  <a:srgbClr val="FFFFFF"/>
                </a:solidFill>
                <a:latin typeface="Calibri"/>
              </a:rPr>
              <a:t>2</a:t>
            </a:r>
          </a:p>
        </p:txBody>
      </p:sp>
      <p:sp>
        <p:nvSpPr>
          <p:cNvPr id="10" name="TextBox 9"/>
          <p:cNvSpPr txBox="1"/>
          <p:nvPr/>
        </p:nvSpPr>
        <p:spPr>
          <a:xfrm>
            <a:off x="1005840" y="2651760"/>
            <a:ext cx="10515600" cy="1097280"/>
          </a:xfrm>
          <a:prstGeom prst="rect">
            <a:avLst/>
          </a:prstGeom>
          <a:noFill/>
        </p:spPr>
        <p:txBody>
          <a:bodyPr wrap="square">
            <a:spAutoFit/>
          </a:bodyPr>
          <a:lstStyle/>
          <a:p>
            <a:pPr algn="l"/>
            <a:r>
              <a:rPr sz="1800" b="0" i="0">
                <a:solidFill>
                  <a:srgbClr val="444444"/>
                </a:solidFill>
                <a:latin typeface="Calibri"/>
              </a:rPr>
              <a:t>The report draws parallels to Big Tobacco and Big Pharma. Are these analogies apt, or does AI's infrastructural role make it fundamentally different?</a:t>
            </a:r>
          </a:p>
        </p:txBody>
      </p:sp>
      <p:sp>
        <p:nvSpPr>
          <p:cNvPr id="11" name="Rectangle 10"/>
          <p:cNvSpPr/>
          <p:nvPr/>
        </p:nvSpPr>
        <p:spPr>
          <a:xfrm>
            <a:off x="365760" y="393192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3982720"/>
            <a:ext cx="438912" cy="411480"/>
          </a:xfrm>
          <a:prstGeom prst="rect">
            <a:avLst/>
          </a:prstGeom>
          <a:noFill/>
        </p:spPr>
        <p:txBody>
          <a:bodyPr wrap="square">
            <a:spAutoFit/>
          </a:bodyPr>
          <a:lstStyle/>
          <a:p>
            <a:pPr algn="ctr"/>
            <a:r>
              <a:rPr sz="1800" b="1" i="0">
                <a:solidFill>
                  <a:srgbClr val="FFFFFF"/>
                </a:solidFill>
                <a:latin typeface="Calibri"/>
              </a:rPr>
              <a:t>3</a:t>
            </a:r>
          </a:p>
        </p:txBody>
      </p:sp>
      <p:sp>
        <p:nvSpPr>
          <p:cNvPr id="13" name="TextBox 12"/>
          <p:cNvSpPr txBox="1"/>
          <p:nvPr/>
        </p:nvSpPr>
        <p:spPr>
          <a:xfrm>
            <a:off x="1005840" y="3931920"/>
            <a:ext cx="10515600" cy="1097280"/>
          </a:xfrm>
          <a:prstGeom prst="rect">
            <a:avLst/>
          </a:prstGeom>
          <a:noFill/>
        </p:spPr>
        <p:txBody>
          <a:bodyPr wrap="square">
            <a:spAutoFit/>
          </a:bodyPr>
          <a:lstStyle/>
          <a:p>
            <a:pPr algn="l"/>
            <a:r>
              <a:rPr sz="1800" b="0" i="0">
                <a:solidFill>
                  <a:srgbClr val="444444"/>
                </a:solidFill>
                <a:latin typeface="Calibri"/>
              </a:rPr>
              <a:t>Is it possible to confront corporate power concentration AND maintain rapid AI innovation, or is there a genuine tradeoff?</a:t>
            </a:r>
          </a:p>
        </p:txBody>
      </p:sp>
      <p:sp>
        <p:nvSpPr>
          <p:cNvPr id="14" name="Rectangle 13"/>
          <p:cNvSpPr/>
          <p:nvPr/>
        </p:nvSpPr>
        <p:spPr>
          <a:xfrm>
            <a:off x="365760" y="521208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5262880"/>
            <a:ext cx="438912" cy="411480"/>
          </a:xfrm>
          <a:prstGeom prst="rect">
            <a:avLst/>
          </a:prstGeom>
          <a:noFill/>
        </p:spPr>
        <p:txBody>
          <a:bodyPr wrap="square">
            <a:spAutoFit/>
          </a:bodyPr>
          <a:lstStyle/>
          <a:p>
            <a:pPr algn="ctr"/>
            <a:r>
              <a:rPr sz="1800" b="1" i="0">
                <a:solidFill>
                  <a:srgbClr val="FFFFFF"/>
                </a:solidFill>
                <a:latin typeface="Calibri"/>
              </a:rPr>
              <a:t>4</a:t>
            </a:r>
          </a:p>
        </p:txBody>
      </p:sp>
      <p:sp>
        <p:nvSpPr>
          <p:cNvPr id="16" name="TextBox 15"/>
          <p:cNvSpPr txBox="1"/>
          <p:nvPr/>
        </p:nvSpPr>
        <p:spPr>
          <a:xfrm>
            <a:off x="1005840" y="5212080"/>
            <a:ext cx="10515600" cy="1097280"/>
          </a:xfrm>
          <a:prstGeom prst="rect">
            <a:avLst/>
          </a:prstGeom>
          <a:noFill/>
        </p:spPr>
        <p:txBody>
          <a:bodyPr wrap="square">
            <a:spAutoFit/>
          </a:bodyPr>
          <a:lstStyle/>
          <a:p>
            <a:pPr algn="l"/>
            <a:r>
              <a:rPr sz="1800" b="0" i="0">
                <a:solidFill>
                  <a:srgbClr val="444444"/>
                </a:solidFill>
                <a:latin typeface="Calibri"/>
              </a:rPr>
              <a:t>How should policymakers weigh the geopolitical argument — is it entirely a corporate narrative, or does it contain legitimate concerns?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C5F8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789920" cy="1371600"/>
          </a:xfrm>
          <a:prstGeom prst="rect">
            <a:avLst/>
          </a:prstGeom>
          <a:noFill/>
        </p:spPr>
        <p:txBody>
          <a:bodyPr wrap="square">
            <a:spAutoFit/>
          </a:bodyPr>
          <a:lstStyle/>
          <a:p>
            <a:pPr algn="l"/>
            <a:r>
              <a:rPr sz="4000" b="1" i="0">
                <a:solidFill>
                  <a:srgbClr val="FFFFFF"/>
                </a:solidFill>
                <a:latin typeface="Calibri"/>
              </a:rPr>
              <a:t>Implications &amp; Applications</a:t>
            </a:r>
          </a:p>
        </p:txBody>
      </p:sp>
      <p:sp>
        <p:nvSpPr>
          <p:cNvPr id="4" name="TextBox 3"/>
          <p:cNvSpPr txBox="1"/>
          <p:nvPr/>
        </p:nvSpPr>
        <p:spPr>
          <a:xfrm>
            <a:off x="640080" y="3749039"/>
            <a:ext cx="10789920" cy="731520"/>
          </a:xfrm>
          <a:prstGeom prst="rect">
            <a:avLst/>
          </a:prstGeom>
          <a:noFill/>
        </p:spPr>
        <p:txBody>
          <a:bodyPr wrap="square">
            <a:spAutoFit/>
          </a:bodyPr>
          <a:lstStyle/>
          <a:p>
            <a:pPr algn="l"/>
            <a:r>
              <a:rPr sz="2200" b="0" i="0">
                <a:solidFill>
                  <a:srgbClr val="F5F5F0"/>
                </a:solidFill>
                <a:latin typeface="Calibri"/>
              </a:rPr>
              <a:t>What does this mean for practitioners, policymakers, and researchers?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For Policymakers &amp; Regulators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Integrate competition, privacy, and AI governance — stop treating them as separate domains</a:t>
            </a:r>
          </a:p>
          <a:p>
            <a:pPr algn="l" lvl="0">
              <a:lnSpc>
                <a:spcPct val="115000"/>
              </a:lnSpc>
              <a:spcBef>
                <a:spcPts val="120"/>
              </a:spcBef>
            </a:pPr>
            <a:r>
              <a:rPr sz="1900" b="0">
                <a:solidFill>
                  <a:srgbClr val="1A1A2E"/>
                </a:solidFill>
                <a:latin typeface="Calibri"/>
              </a:rPr>
              <a:t>• Existing laws already apply to AI companies — enforce them before drafting new legislation</a:t>
            </a:r>
          </a:p>
          <a:p>
            <a:pPr algn="l" lvl="0">
              <a:lnSpc>
                <a:spcPct val="115000"/>
              </a:lnSpc>
              <a:spcBef>
                <a:spcPts val="120"/>
              </a:spcBef>
            </a:pPr>
            <a:r>
              <a:rPr sz="1900" b="0">
                <a:solidFill>
                  <a:srgbClr val="1A1A2E"/>
                </a:solidFill>
                <a:latin typeface="Calibri"/>
              </a:rPr>
              <a:t>• Screen for industry co-optation: if companies enthusiastically support a measure, interrogate why</a:t>
            </a:r>
          </a:p>
          <a:p>
            <a:pPr algn="l" lvl="0">
              <a:lnSpc>
                <a:spcPct val="115000"/>
              </a:lnSpc>
              <a:spcBef>
                <a:spcPts val="120"/>
              </a:spcBef>
            </a:pPr>
            <a:r>
              <a:rPr sz="1900" b="0">
                <a:solidFill>
                  <a:srgbClr val="1A1A2E"/>
                </a:solidFill>
                <a:latin typeface="Calibri"/>
              </a:rPr>
              <a:t>• Future-proof regulations by targeting structural conditions, not specific technologies</a:t>
            </a:r>
          </a:p>
          <a:p>
            <a:pPr algn="l" lvl="0">
              <a:lnSpc>
                <a:spcPct val="115000"/>
              </a:lnSpc>
              <a:spcBef>
                <a:spcPts val="120"/>
              </a:spcBef>
            </a:pPr>
            <a:r>
              <a:rPr sz="1900" b="0">
                <a:solidFill>
                  <a:srgbClr val="1A1A2E"/>
                </a:solidFill>
                <a:latin typeface="Calibri"/>
              </a:rPr>
              <a:t>• Scrutinize trade agreements for provisions that preempt domestic AI regulation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For AI Researchers &amp; Practitioners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Recognize that technical solutions to bias are insufficient without addressing structural power</a:t>
            </a:r>
          </a:p>
          <a:p>
            <a:pPr algn="l" lvl="0">
              <a:lnSpc>
                <a:spcPct val="115000"/>
              </a:lnSpc>
              <a:spcBef>
                <a:spcPts val="120"/>
              </a:spcBef>
            </a:pPr>
            <a:r>
              <a:rPr sz="1900" b="0">
                <a:solidFill>
                  <a:srgbClr val="1A1A2E"/>
                </a:solidFill>
                <a:latin typeface="Calibri"/>
              </a:rPr>
              <a:t>• Understand your own position within the Big Tech ecosystem — even academic AI depends on cloud infrastructure</a:t>
            </a:r>
          </a:p>
          <a:p>
            <a:pPr algn="l" lvl="0">
              <a:lnSpc>
                <a:spcPct val="115000"/>
              </a:lnSpc>
              <a:spcBef>
                <a:spcPts val="120"/>
              </a:spcBef>
            </a:pPr>
            <a:r>
              <a:rPr sz="1900" b="0">
                <a:solidFill>
                  <a:srgbClr val="1A1A2E"/>
                </a:solidFill>
                <a:latin typeface="Calibri"/>
              </a:rPr>
              <a:t>• Documentation and transparency are necessary but not sufficient — resist their use as substitutes for accountability</a:t>
            </a:r>
          </a:p>
          <a:p>
            <a:pPr algn="l" lvl="0">
              <a:lnSpc>
                <a:spcPct val="115000"/>
              </a:lnSpc>
              <a:spcBef>
                <a:spcPts val="120"/>
              </a:spcBef>
            </a:pPr>
            <a:r>
              <a:rPr sz="1900" b="0">
                <a:solidFill>
                  <a:srgbClr val="1A1A2E"/>
                </a:solidFill>
                <a:latin typeface="Calibri"/>
              </a:rPr>
              <a:t>• Critical AI research is under attack: ethics teams fired, research centers shut down</a:t>
            </a:r>
          </a:p>
          <a:p>
            <a:pPr algn="l" lvl="0">
              <a:lnSpc>
                <a:spcPct val="115000"/>
              </a:lnSpc>
              <a:spcBef>
                <a:spcPts val="120"/>
              </a:spcBef>
            </a:pPr>
            <a:r>
              <a:rPr sz="1900" b="0">
                <a:solidFill>
                  <a:srgbClr val="1A1A2E"/>
                </a:solidFill>
                <a:latin typeface="Calibri"/>
              </a:rPr>
              <a:t>• Worker organizing within tech companies is a legitimate and effective form of accountability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For Civil Society &amp; Advocates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Build cross-sector coalitions: labor, climate, financial reform, and tech accountability share common targets</a:t>
            </a:r>
          </a:p>
          <a:p>
            <a:pPr algn="l" lvl="0">
              <a:lnSpc>
                <a:spcPct val="115000"/>
              </a:lnSpc>
              <a:spcBef>
                <a:spcPts val="120"/>
              </a:spcBef>
            </a:pPr>
            <a:r>
              <a:rPr sz="1900" b="0">
                <a:solidFill>
                  <a:srgbClr val="1A1A2E"/>
                </a:solidFill>
                <a:latin typeface="Calibri"/>
              </a:rPr>
              <a:t>• Use multiple levers simultaneously: legislation, litigation, shareholder proposals, worker organizing</a:t>
            </a:r>
          </a:p>
          <a:p>
            <a:pPr algn="l" lvl="0">
              <a:lnSpc>
                <a:spcPct val="115000"/>
              </a:lnSpc>
              <a:spcBef>
                <a:spcPts val="120"/>
              </a:spcBef>
            </a:pPr>
            <a:r>
              <a:rPr sz="1900" b="0">
                <a:solidFill>
                  <a:srgbClr val="1A1A2E"/>
                </a:solidFill>
                <a:latin typeface="Calibri"/>
              </a:rPr>
              <a:t>• Be vigilant about mechanism co-optation — what looks like a win can become a ceiling</a:t>
            </a:r>
          </a:p>
          <a:p>
            <a:pPr algn="l" lvl="0">
              <a:lnSpc>
                <a:spcPct val="115000"/>
              </a:lnSpc>
              <a:spcBef>
                <a:spcPts val="120"/>
              </a:spcBef>
            </a:pPr>
            <a:r>
              <a:rPr sz="1900" b="0">
                <a:solidFill>
                  <a:srgbClr val="1A1A2E"/>
                </a:solidFill>
                <a:latin typeface="Calibri"/>
              </a:rPr>
              <a:t>• Challenge narratives equating technological advancement with inevitable social progress</a:t>
            </a:r>
          </a:p>
          <a:p>
            <a:pPr algn="l" lvl="0">
              <a:lnSpc>
                <a:spcPct val="115000"/>
              </a:lnSpc>
              <a:spcBef>
                <a:spcPts val="120"/>
              </a:spcBef>
            </a:pPr>
            <a:r>
              <a:rPr sz="1900" b="0">
                <a:solidFill>
                  <a:srgbClr val="1A1A2E"/>
                </a:solidFill>
                <a:latin typeface="Calibri"/>
              </a:rPr>
              <a:t>• Prepare for the long game — the report draws on decades of accountability movements for lessons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FFFFFF"/>
                </a:solidFill>
                <a:latin typeface="Calibri"/>
              </a:rPr>
              <a:t>Common Misconceptions — Clearing Them Up</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 'The report opposes audits' → It opposes audits as the PRIMARY/SOLE mechanism, not audits per se</a:t>
            </a:r>
          </a:p>
          <a:p>
            <a:pPr algn="l" lvl="0">
              <a:lnSpc>
                <a:spcPct val="115000"/>
              </a:lnSpc>
              <a:spcBef>
                <a:spcPts val="120"/>
              </a:spcBef>
            </a:pPr>
            <a:r>
              <a:rPr sz="1900" b="0">
                <a:solidFill>
                  <a:srgbClr val="1A1A2E"/>
                </a:solidFill>
                <a:latin typeface="Calibri"/>
              </a:rPr>
              <a:t>• ❌ 'Big Tech is a precise legal category' → It captures structural market power (GAFAM+), not a fixed roster</a:t>
            </a:r>
          </a:p>
          <a:p>
            <a:pPr algn="l" lvl="0">
              <a:lnSpc>
                <a:spcPct val="115000"/>
              </a:lnSpc>
              <a:spcBef>
                <a:spcPts val="120"/>
              </a:spcBef>
            </a:pPr>
            <a:r>
              <a:rPr sz="1900" b="0">
                <a:solidFill>
                  <a:srgbClr val="1A1A2E"/>
                </a:solidFill>
                <a:latin typeface="Calibri"/>
              </a:rPr>
              <a:t>• ❌ 'The geopolitical argument is factual' → The report critiques the AI race as a narrative strategy, not a fact claim</a:t>
            </a:r>
          </a:p>
          <a:p>
            <a:pPr algn="l" lvl="0">
              <a:lnSpc>
                <a:spcPct val="115000"/>
              </a:lnSpc>
              <a:spcBef>
                <a:spcPts val="120"/>
              </a:spcBef>
            </a:pPr>
            <a:r>
              <a:rPr sz="1900" b="0">
                <a:solidFill>
                  <a:srgbClr val="1A1A2E"/>
                </a:solidFill>
                <a:latin typeface="Calibri"/>
              </a:rPr>
              <a:t>• ❌ 'Move beyond legislation = anti-regulatory' → It means legislation ALONE is insufficient; complement it</a:t>
            </a:r>
          </a:p>
          <a:p>
            <a:pPr algn="l" lvl="0">
              <a:lnSpc>
                <a:spcPct val="115000"/>
              </a:lnSpc>
              <a:spcBef>
                <a:spcPts val="120"/>
              </a:spcBef>
            </a:pPr>
            <a:r>
              <a:rPr sz="1900" b="0">
                <a:solidFill>
                  <a:srgbClr val="1A1A2E"/>
                </a:solidFill>
                <a:latin typeface="Calibri"/>
              </a:rPr>
              <a:t>• ❌ 'Big Tobacco analogy = same regulations' → The parallel is about political trajectory, not specific policy tools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828800" cy="1828800"/>
          </a:xfrm>
          <a:prstGeom prst="rect">
            <a:avLst/>
          </a:prstGeom>
          <a:noFill/>
        </p:spPr>
        <p:txBody>
          <a:bodyPr wrap="square">
            <a:spAutoFit/>
          </a:bodyPr>
          <a:lstStyle/>
          <a:p>
            <a:pPr algn="l"/>
            <a:r>
              <a:rPr sz="12000" b="1" i="0">
                <a:solidFill>
                  <a:srgbClr val="E89C13"/>
                </a:solidFill>
                <a:latin typeface="Calibri"/>
              </a:rPr>
              <a:t>“</a:t>
            </a:r>
          </a:p>
        </p:txBody>
      </p:sp>
      <p:sp>
        <p:nvSpPr>
          <p:cNvPr id="4" name="TextBox 3"/>
          <p:cNvSpPr txBox="1"/>
          <p:nvPr/>
        </p:nvSpPr>
        <p:spPr>
          <a:xfrm>
            <a:off x="914400" y="1188720"/>
            <a:ext cx="9875520" cy="3474720"/>
          </a:xfrm>
          <a:prstGeom prst="rect">
            <a:avLst/>
          </a:prstGeom>
          <a:noFill/>
        </p:spPr>
        <p:txBody>
          <a:bodyPr wrap="square">
            <a:spAutoFit/>
          </a:bodyPr>
          <a:lstStyle/>
          <a:p>
            <a:pPr algn="l"/>
            <a:r>
              <a:rPr sz="2400" b="0" i="1">
                <a:solidFill>
                  <a:srgbClr val="FFFFFF"/>
                </a:solidFill>
                <a:latin typeface="Calibri"/>
              </a:rPr>
              <a:t>We urgently need to be learning from the 'move fast and break things' era of Big Tech; we can't allow companies to use our lives, livelihoods, and institutions as testing grounds for novel technological approaches, experimenting in the wild to our detriment.</a:t>
            </a:r>
          </a:p>
        </p:txBody>
      </p:sp>
      <p:sp>
        <p:nvSpPr>
          <p:cNvPr id="5" name="Rectangle 4"/>
          <p:cNvSpPr/>
          <p:nvPr/>
        </p:nvSpPr>
        <p:spPr>
          <a:xfrm>
            <a:off x="914400" y="4846320"/>
            <a:ext cx="27432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058400" cy="548640"/>
          </a:xfrm>
          <a:prstGeom prst="rect">
            <a:avLst/>
          </a:prstGeom>
          <a:noFill/>
        </p:spPr>
        <p:txBody>
          <a:bodyPr wrap="square">
            <a:spAutoFit/>
          </a:bodyPr>
          <a:lstStyle/>
          <a:p>
            <a:pPr algn="l"/>
            <a:r>
              <a:rPr sz="1600" b="0" i="0">
                <a:solidFill>
                  <a:srgbClr val="E89C13"/>
                </a:solidFill>
                <a:latin typeface="Calibri"/>
              </a:rPr>
              <a:t>— AI Now Institute, 2023 Landscape Report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1A1A2E"/>
                </a:solidFill>
                <a:latin typeface="Calibri"/>
              </a:rPr>
              <a:t>Final Discussion Questions</a:t>
            </a:r>
          </a:p>
        </p:txBody>
      </p:sp>
      <p:sp>
        <p:nvSpPr>
          <p:cNvPr id="5" name="Rectangle 4"/>
          <p:cNvSpPr/>
          <p:nvPr/>
        </p:nvSpPr>
        <p:spPr>
          <a:xfrm>
            <a:off x="365760" y="137160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74904" y="1422400"/>
            <a:ext cx="438912" cy="411480"/>
          </a:xfrm>
          <a:prstGeom prst="rect">
            <a:avLst/>
          </a:prstGeom>
          <a:noFill/>
        </p:spPr>
        <p:txBody>
          <a:bodyPr wrap="square">
            <a:spAutoFit/>
          </a:bodyPr>
          <a:lstStyle/>
          <a:p>
            <a:pPr algn="ctr"/>
            <a:r>
              <a:rPr sz="1800" b="1" i="0">
                <a:solidFill>
                  <a:srgbClr val="FFFFFF"/>
                </a:solidFill>
                <a:latin typeface="Calibri"/>
              </a:rPr>
              <a:t>1</a:t>
            </a:r>
          </a:p>
        </p:txBody>
      </p:sp>
      <p:sp>
        <p:nvSpPr>
          <p:cNvPr id="7" name="TextBox 6"/>
          <p:cNvSpPr txBox="1"/>
          <p:nvPr/>
        </p:nvSpPr>
        <p:spPr>
          <a:xfrm>
            <a:off x="1005840" y="1371600"/>
            <a:ext cx="10515600" cy="1097280"/>
          </a:xfrm>
          <a:prstGeom prst="rect">
            <a:avLst/>
          </a:prstGeom>
          <a:noFill/>
        </p:spPr>
        <p:txBody>
          <a:bodyPr wrap="square">
            <a:spAutoFit/>
          </a:bodyPr>
          <a:lstStyle/>
          <a:p>
            <a:pPr algn="l"/>
            <a:r>
              <a:rPr sz="1800" b="0" i="0">
                <a:solidFill>
                  <a:srgbClr val="444444"/>
                </a:solidFill>
                <a:latin typeface="Calibri"/>
              </a:rPr>
              <a:t>The report argues AI startups are 'barnacles on the hull of Big Tech.' Is this an accurate characterization, or does it understate startup agency and innovation capacity?</a:t>
            </a:r>
          </a:p>
        </p:txBody>
      </p:sp>
      <p:sp>
        <p:nvSpPr>
          <p:cNvPr id="8" name="Rectangle 7"/>
          <p:cNvSpPr/>
          <p:nvPr/>
        </p:nvSpPr>
        <p:spPr>
          <a:xfrm>
            <a:off x="365760" y="265176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2702560"/>
            <a:ext cx="438912" cy="411480"/>
          </a:xfrm>
          <a:prstGeom prst="rect">
            <a:avLst/>
          </a:prstGeom>
          <a:noFill/>
        </p:spPr>
        <p:txBody>
          <a:bodyPr wrap="square">
            <a:spAutoFit/>
          </a:bodyPr>
          <a:lstStyle/>
          <a:p>
            <a:pPr algn="ctr"/>
            <a:r>
              <a:rPr sz="1800" b="1" i="0">
                <a:solidFill>
                  <a:srgbClr val="FFFFFF"/>
                </a:solidFill>
                <a:latin typeface="Calibri"/>
              </a:rPr>
              <a:t>2</a:t>
            </a:r>
          </a:p>
        </p:txBody>
      </p:sp>
      <p:sp>
        <p:nvSpPr>
          <p:cNvPr id="10" name="TextBox 9"/>
          <p:cNvSpPr txBox="1"/>
          <p:nvPr/>
        </p:nvSpPr>
        <p:spPr>
          <a:xfrm>
            <a:off x="1005840" y="2651760"/>
            <a:ext cx="10515600" cy="1097280"/>
          </a:xfrm>
          <a:prstGeom prst="rect">
            <a:avLst/>
          </a:prstGeom>
          <a:noFill/>
        </p:spPr>
        <p:txBody>
          <a:bodyPr wrap="square">
            <a:spAutoFit/>
          </a:bodyPr>
          <a:lstStyle/>
          <a:p>
            <a:pPr algn="l"/>
            <a:r>
              <a:rPr sz="1800" b="0" i="0">
                <a:solidFill>
                  <a:srgbClr val="444444"/>
                </a:solidFill>
                <a:latin typeface="Calibri"/>
              </a:rPr>
              <a:t>If data policy truly IS AI policy, should privacy advocates lead AI governance efforts? What would that look like institutionally?</a:t>
            </a:r>
          </a:p>
        </p:txBody>
      </p:sp>
      <p:sp>
        <p:nvSpPr>
          <p:cNvPr id="11" name="Rectangle 10"/>
          <p:cNvSpPr/>
          <p:nvPr/>
        </p:nvSpPr>
        <p:spPr>
          <a:xfrm>
            <a:off x="365760" y="393192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4" y="3982720"/>
            <a:ext cx="438912" cy="411480"/>
          </a:xfrm>
          <a:prstGeom prst="rect">
            <a:avLst/>
          </a:prstGeom>
          <a:noFill/>
        </p:spPr>
        <p:txBody>
          <a:bodyPr wrap="square">
            <a:spAutoFit/>
          </a:bodyPr>
          <a:lstStyle/>
          <a:p>
            <a:pPr algn="ctr"/>
            <a:r>
              <a:rPr sz="1800" b="1" i="0">
                <a:solidFill>
                  <a:srgbClr val="FFFFFF"/>
                </a:solidFill>
                <a:latin typeface="Calibri"/>
              </a:rPr>
              <a:t>3</a:t>
            </a:r>
          </a:p>
        </p:txBody>
      </p:sp>
      <p:sp>
        <p:nvSpPr>
          <p:cNvPr id="13" name="TextBox 12"/>
          <p:cNvSpPr txBox="1"/>
          <p:nvPr/>
        </p:nvSpPr>
        <p:spPr>
          <a:xfrm>
            <a:off x="1005840" y="3931920"/>
            <a:ext cx="10515600" cy="1097280"/>
          </a:xfrm>
          <a:prstGeom prst="rect">
            <a:avLst/>
          </a:prstGeom>
          <a:noFill/>
        </p:spPr>
        <p:txBody>
          <a:bodyPr wrap="square">
            <a:spAutoFit/>
          </a:bodyPr>
          <a:lstStyle/>
          <a:p>
            <a:pPr algn="l"/>
            <a:r>
              <a:rPr sz="1800" b="0" i="0">
                <a:solidFill>
                  <a:srgbClr val="444444"/>
                </a:solidFill>
                <a:latin typeface="Calibri"/>
              </a:rPr>
              <a:t>What would a successful 'Big Tech accountability movement' look like in 10 years — and what historical parallel best predicts its trajectory?</a:t>
            </a:r>
          </a:p>
        </p:txBody>
      </p:sp>
      <p:sp>
        <p:nvSpPr>
          <p:cNvPr id="14" name="Rectangle 13"/>
          <p:cNvSpPr/>
          <p:nvPr/>
        </p:nvSpPr>
        <p:spPr>
          <a:xfrm>
            <a:off x="365760" y="5212080"/>
            <a:ext cx="457200" cy="4572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5262880"/>
            <a:ext cx="438912" cy="411480"/>
          </a:xfrm>
          <a:prstGeom prst="rect">
            <a:avLst/>
          </a:prstGeom>
          <a:noFill/>
        </p:spPr>
        <p:txBody>
          <a:bodyPr wrap="square">
            <a:spAutoFit/>
          </a:bodyPr>
          <a:lstStyle/>
          <a:p>
            <a:pPr algn="ctr"/>
            <a:r>
              <a:rPr sz="1800" b="1" i="0">
                <a:solidFill>
                  <a:srgbClr val="FFFFFF"/>
                </a:solidFill>
                <a:latin typeface="Calibri"/>
              </a:rPr>
              <a:t>4</a:t>
            </a:r>
          </a:p>
        </p:txBody>
      </p:sp>
      <p:sp>
        <p:nvSpPr>
          <p:cNvPr id="16" name="TextBox 15"/>
          <p:cNvSpPr txBox="1"/>
          <p:nvPr/>
        </p:nvSpPr>
        <p:spPr>
          <a:xfrm>
            <a:off x="1005840" y="5212080"/>
            <a:ext cx="10515600" cy="1097280"/>
          </a:xfrm>
          <a:prstGeom prst="rect">
            <a:avLst/>
          </a:prstGeom>
          <a:noFill/>
        </p:spPr>
        <p:txBody>
          <a:bodyPr wrap="square">
            <a:spAutoFit/>
          </a:bodyPr>
          <a:lstStyle/>
          <a:p>
            <a:pPr algn="l"/>
            <a:r>
              <a:rPr sz="1800" b="0" i="0">
                <a:solidFill>
                  <a:srgbClr val="444444"/>
                </a:solidFill>
                <a:latin typeface="Calibri"/>
              </a:rPr>
              <a:t>Given the report's critique of risk-based regulation, is there a viable middle path between pure rights-based and pure risk-based approaches?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5F0"/>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45720"/>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11430000" cy="777240"/>
          </a:xfrm>
          <a:prstGeom prst="rect">
            <a:avLst/>
          </a:prstGeom>
          <a:noFill/>
        </p:spPr>
        <p:txBody>
          <a:bodyPr wrap="square">
            <a:spAutoFit/>
          </a:bodyPr>
          <a:lstStyle/>
          <a:p>
            <a:pPr algn="l"/>
            <a:r>
              <a:rPr sz="2600" b="1" i="0">
                <a:solidFill>
                  <a:srgbClr val="E89C13"/>
                </a:solidFill>
                <a:latin typeface="Calibri"/>
              </a:rPr>
              <a:t>Key Takeaways</a:t>
            </a:r>
          </a:p>
        </p:txBody>
      </p:sp>
      <p:sp>
        <p:nvSpPr>
          <p:cNvPr id="5" name="TextBox 4"/>
          <p:cNvSpPr txBox="1"/>
          <p:nvPr/>
        </p:nvSpPr>
        <p:spPr>
          <a:xfrm>
            <a:off x="457200" y="1280160"/>
            <a:ext cx="11247120" cy="5212080"/>
          </a:xfrm>
          <a:prstGeom prst="rect">
            <a:avLst/>
          </a:prstGeom>
          <a:noFill/>
        </p:spPr>
        <p:txBody>
          <a:bodyPr wrap="square">
            <a:spAutoFit/>
          </a:bodyPr>
          <a:lstStyle/>
          <a:p>
            <a:pPr algn="l" lvl="0">
              <a:lnSpc>
                <a:spcPct val="115000"/>
              </a:lnSpc>
              <a:spcBef>
                <a:spcPts val="120"/>
              </a:spcBef>
            </a:pPr>
            <a:r>
              <a:rPr sz="1900" b="0">
                <a:solidFill>
                  <a:srgbClr val="1A1A2E"/>
                </a:solidFill>
                <a:latin typeface="Calibri"/>
              </a:rPr>
              <a:t>• AI governance is fundamentally a question of concentrated corporate power, not just technological risk</a:t>
            </a:r>
          </a:p>
          <a:p>
            <a:pPr algn="l" lvl="0">
              <a:lnSpc>
                <a:spcPct val="115000"/>
              </a:lnSpc>
              <a:spcBef>
                <a:spcPts val="120"/>
              </a:spcBef>
            </a:pPr>
            <a:r>
              <a:rPr sz="1900" b="0">
                <a:solidFill>
                  <a:srgbClr val="1A1A2E"/>
                </a:solidFill>
                <a:latin typeface="Calibri"/>
              </a:rPr>
              <a:t>• Big Tech dominance rests on three mutually reinforcing pillars: data, compute, and geopolitical narrative</a:t>
            </a:r>
          </a:p>
          <a:p>
            <a:pPr algn="l" lvl="0">
              <a:lnSpc>
                <a:spcPct val="115000"/>
              </a:lnSpc>
              <a:spcBef>
                <a:spcPts val="120"/>
              </a:spcBef>
            </a:pPr>
            <a:r>
              <a:rPr sz="1900" b="0">
                <a:solidFill>
                  <a:srgbClr val="1A1A2E"/>
                </a:solidFill>
                <a:latin typeface="Calibri"/>
              </a:rPr>
              <a:t>• Effective policy requires breaking silos between competition, privacy, and AI governance</a:t>
            </a:r>
          </a:p>
          <a:p>
            <a:pPr algn="l" lvl="0">
              <a:lnSpc>
                <a:spcPct val="115000"/>
              </a:lnSpc>
              <a:spcBef>
                <a:spcPts val="120"/>
              </a:spcBef>
            </a:pPr>
            <a:r>
              <a:rPr sz="1900" b="0">
                <a:solidFill>
                  <a:srgbClr val="1A1A2E"/>
                </a:solidFill>
                <a:latin typeface="Calibri"/>
              </a:rPr>
              <a:t>• The burden of proving safety should shift from the public to companies — analogous to pharma and finance</a:t>
            </a:r>
          </a:p>
          <a:p>
            <a:pPr algn="l" lvl="0">
              <a:lnSpc>
                <a:spcPct val="115000"/>
              </a:lnSpc>
              <a:spcBef>
                <a:spcPts val="120"/>
              </a:spcBef>
            </a:pPr>
            <a:r>
              <a:rPr sz="1900" b="0">
                <a:solidFill>
                  <a:srgbClr val="1A1A2E"/>
                </a:solidFill>
                <a:latin typeface="Calibri"/>
              </a:rPr>
              <a:t>• Audits and transparency are necessary but dangerous when they displace structural interventions like bans</a:t>
            </a:r>
          </a:p>
          <a:p>
            <a:pPr algn="l" lvl="0">
              <a:lnSpc>
                <a:spcPct val="115000"/>
              </a:lnSpc>
              <a:spcBef>
                <a:spcPts val="120"/>
              </a:spcBef>
            </a:pPr>
            <a:r>
              <a:rPr sz="1900" b="0">
                <a:solidFill>
                  <a:srgbClr val="1A1A2E"/>
                </a:solidFill>
                <a:latin typeface="Calibri"/>
              </a:rPr>
              <a:t>• Durable change requires coalitions beyond legislation: worker organizing, shareholder advocacy, cross-sector alliances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68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1371600"/>
          </a:xfrm>
          <a:prstGeom prst="rect">
            <a:avLst/>
          </a:prstGeom>
          <a:noFill/>
        </p:spPr>
        <p:txBody>
          <a:bodyPr wrap="square">
            <a:spAutoFit/>
          </a:bodyPr>
          <a:lstStyle/>
          <a:p>
            <a:pPr algn="l"/>
            <a:r>
              <a:rPr sz="4800" b="1" i="0">
                <a:solidFill>
                  <a:srgbClr val="FFFFFF"/>
                </a:solidFill>
                <a:latin typeface="Calibri"/>
              </a:rPr>
              <a:t>Questions &amp; Discussion</a:t>
            </a:r>
          </a:p>
        </p:txBody>
      </p:sp>
      <p:sp>
        <p:nvSpPr>
          <p:cNvPr id="4" name="TextBox 3"/>
          <p:cNvSpPr txBox="1"/>
          <p:nvPr/>
        </p:nvSpPr>
        <p:spPr>
          <a:xfrm>
            <a:off x="548640" y="3474720"/>
            <a:ext cx="10058400" cy="731520"/>
          </a:xfrm>
          <a:prstGeom prst="rect">
            <a:avLst/>
          </a:prstGeom>
          <a:noFill/>
        </p:spPr>
        <p:txBody>
          <a:bodyPr wrap="square">
            <a:spAutoFit/>
          </a:bodyPr>
          <a:lstStyle/>
          <a:p>
            <a:pPr algn="l"/>
            <a:r>
              <a:rPr sz="2200" b="0" i="0">
                <a:solidFill>
                  <a:srgbClr val="16857B"/>
                </a:solidFill>
                <a:latin typeface="Calibri"/>
              </a:rPr>
              <a:t>Next week: [Next reading topic] — Response papers due Friday 11:59pm</a:t>
            </a:r>
          </a:p>
        </p:txBody>
      </p:sp>
      <p:sp>
        <p:nvSpPr>
          <p:cNvPr id="5" name="Rectangle 4"/>
          <p:cNvSpPr/>
          <p:nvPr/>
        </p:nvSpPr>
        <p:spPr>
          <a:xfrm>
            <a:off x="548640" y="4389120"/>
            <a:ext cx="4572000" cy="36576"/>
          </a:xfrm>
          <a:prstGeom prst="rect">
            <a:avLst/>
          </a:prstGeom>
          <a:solidFill>
            <a:srgbClr val="E89C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