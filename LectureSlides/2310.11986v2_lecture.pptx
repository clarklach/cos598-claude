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We're diving deep into a landmark paper from DeepMind that argues the field is fundamentally underequipped to evaluate whether generative AI systems are actually safe — not because we lack technical benchmarks, but because we've been ignoring the human and societal contexts in which these systems operate.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map directly to what you'd need to apply this framework in practice. By the end of this lecture, you should be able to take any generative AI system and sketch an evaluation plan across all three layers.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spend roughly 15 minutes on the framework, 12 minutes on the empirical findings and gaps, and the remaining time on critical analysis, implications, and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velocity of deployment. The paper was written when GPT-4, Gemini, DALL-E 3, and similar systems were being deployed to hundreds of millions of users. The gap between deployment speed and evaluation maturity is the core motivation.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here is that if every company uses different benchmarks, different thresholds, and different risk areas, the public has no meaningful way to compare whether System A is safer than System B. This is analogous to pre-FDA pharmaceutical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intellectual foundation of the paper. Leveson's work on system safety engineering — born from analyzing disasters like Challenger — showed that testing individual components is insufficient when harm emerges from interactions between components. The authors argue AI safety evaluation needs the same paradigm shift.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students' attention to the progressive addition of context. The same risk — say misinformation — looks different at each layer: Layer 1 asks 'does it produce false output?', Layer 2 asks 'do people believe it?', Layer 3 asks 'does it erode public trust in media?'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vast majority of current evaluations live. It's critical but insufficient. Give the example of toxicity filters: Welbl et al. (2021) showed that toxicity filters can actually aggravate representation harm by disproportionately filtering content from marginalized groups.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Sundar et al. (2021) finding: users more readily believe synthetic misinformation in video than text. Also mention Cacioppo &amp; Petty (1980): persuasiveness of AI content increases with repeated exposure up to a threshold. These are things Layer 1 simply cannot detect.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frequently confuses readers because both layers involve people and society. The litmus test: Layer 2 asks 'what happens to the person using the system?' while Layer 3 asks 'what happens to the broader system when millions of people use it?' The Pentagon deepfake that briefly crashed the stock market is a Layer 3 phenomenon.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evaluations are the rarest and hardest to conduct. Give the example of data centers relying on nearby water sources for cooling — Luccioni et al. (2022) showed these localized environmental impacts are invisible at the capability layer. Also note that small individual effect sizes can aggregate to become salient only at the systems level.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philosophical claim of the paper. A model that produces factually incorrect output is not inherently harmful — it becomes harmful when a user trusts it, in a context where incorrect information has consequences. This is why they argue sociotechnical means the social context co-determines outcomes, not merely that the system has social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taxonomy synthesizes prior work from Weidinger 2021, Solaiman 2023, Bird 2023, Bommasani 2022, and others. It covers both established risks with observed instances and emerging risks anticipated from foreseeable capabilities. Each area can and should be evaluated at all three layers.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survey methodology: the team assembled all known sociotechnical safety benchmarks applied to generative AI as of October 10, 2023. Inclusion criteria required both that it constitutes an evaluation (dataset + metric, or method application) AND that it has been applied to a generative AI 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crucial finding. A policymaker looking at '83 evaluations' might think representation harms are well-covered. But the paper shows that even the best-covered risk area is actually deeply narrow. This should make us skeptical of surface-level evaluation counts as evidence of safety.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perhaps the most damning finding. We have many ways to test model outputs in isolation but almost no established methods to test whether those outputs cause actual harm to real people in real contexts. The paper calls this a 'sociotechnical gap' rooted in decades of neglect of human factors in AI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alarming given that the industry is rapidly deploying multimodal systems. When DALL-E, Midjourney, Sora, and MusicLM are reaching millions of users, having 75% of safety evaluations only cover text is a major structural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Compositional risk is one of the paper's most novel conceptual contributions. It means you cannot simply adapt text evaluations for images — you need fundamentally new approaches that test combinations. The Kiela et al. (2021) Hateful Memes dataset is one of the few attempts at this.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4-5 minutes to discuss in pairs before coming back to the group. The first question should surface structural incentives: capability evals are cheaper, faster, don't require IRB approval, and produce publishable benchmark numbers. Push students to think about what this means for the validity of safety claims.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misinformation case study from the appendix to make this concrete. At Layer 1, you can measure factual accuracy against knowledge bases. At Layer 2, you run controlled experiments to see if people's beliefs actually change. At Layer 3, you try to measure whether public discourse quality degrades. Each requires entirely different methods and metrics.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are pragmatic here — they acknowledge that building entirely new evaluation suites from scratch for every modality is infeasible. But they also caution against naive adaptation. Transcribing an image to text and running a text bias benchmark will miss visual-specific harms like the 'shock factor' of violent images versus violent text descriptions.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is explicit that this is a multi-stakeholder problem. Developers have unique access to models but face incentive problems. Policymakers can mandate evaluations but lack technical capacity. Civil society can represent affected communities but needs resources and access. Researchers bridge all three but need funding and system access.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 that this paper does something rare: it combines a theoretical framework with a large-scale empirical mapping. Most papers do one or the other. The public repository is a genuine contribution to the field that others can build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students to think about the gap between the paper's ambition and its operationalizability. The framework tells you WHAT to evaluate across three layers but gives relatively less guidance on HOW, especially at Layers 2 and 3. Also note the concentration of authorship at one major AI lab.</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standardization-context tension is worth dwelling on. The paper calls for both standardized evaluations AND context-sensitive assessments. But standardization by definition strips context. How do you standardize a Layer 3 evaluation of labor market impacts when labor markets differ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critical theory moment of the lecture. Spend 5-6 minutes here. The paper's own admission that evaluation is value-laden opens up fundamental questions about who controls the evaluation process. A framework authored by DeepMind that frames three-layer evaluation as ideal could inadvertently benefit well-resourced labs that can claim to do more evaluation than smaller competitors.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imperatives come directly from Section 5.4 of the paper. The most radical is #3: that evaluations must have real consequences. Currently, many evaluations are conducted but their results don't actually gate deployment. The paper argues this must change.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current policy: the EU AI Act requires risk assessments, but if those assessments only cover Layer 1 capability tests, they'll miss the human and systemic dimensions this paper highlights. Policymakers need to understand the three layers to write effective regulation.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your graduate students who are looking for thesis topics: this paper essentially maps out dozens of open research problems. Any cell in their evaluation matrix that says 'no evaluation exists' is a potential dissertation.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implications section with this honest acknowledgment. The paper doesn't claim evaluation solves everything — it explicitly says evaluation is incomplete and value-laden. But the authors argue this awareness should make evaluation MORE deliberate and transparent, not less important. Making normative choices explicit is itself a form of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each misconception explicitly. The first one trips up even careful readers because the paper presents the layers in order 1-2-3, which implies sequence. The authors are explicit: 'the layers are not ordered by importance nor in any chronological order.' Also stress that adversarial testing can serve both Layer 1 and Layer 2 depending on what you're measuring.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closing discussion — 5 minutes. The third question is deliberately provocative. The paper claims sociotechnical evaluation is 'tractable' but also acknowledges it's incomplete and endlessly expandable. Students should grapple with this tension between comprehensiveness and actionability.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by returning to the core argument: we know how to test what AI systems produce, but we barely know how to test whether those outputs cause harm in the real world. This paper gives us a map of the problem and a framework for addressing it, even if it doesn't solve it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the paper's evaluation repository is publicly available and worth browsing. For their upcoming assignment, they can use the three-layer framework to evaluate the safety evaluation practices of any major AI lab's most recent model release.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457200"/>
          </a:xfrm>
          <a:prstGeom prst="rect">
            <a:avLst/>
          </a:prstGeom>
          <a:noFill/>
        </p:spPr>
        <p:txBody>
          <a:bodyPr wrap="square">
            <a:spAutoFit/>
          </a:bodyPr>
          <a:lstStyle/>
          <a:p>
            <a:pPr algn="l"/>
            <a:r>
              <a:rPr sz="1400" b="0" i="0">
                <a:solidFill>
                  <a:srgbClr val="16857B"/>
                </a:solidFill>
                <a:latin typeface="Calibri"/>
              </a:rPr>
              <a:t>COS598</a:t>
            </a:r>
          </a:p>
        </p:txBody>
      </p:sp>
      <p:sp>
        <p:nvSpPr>
          <p:cNvPr id="4" name="TextBox 3"/>
          <p:cNvSpPr txBox="1"/>
          <p:nvPr/>
        </p:nvSpPr>
        <p:spPr>
          <a:xfrm>
            <a:off x="548640" y="1280160"/>
            <a:ext cx="10972800" cy="2560320"/>
          </a:xfrm>
          <a:prstGeom prst="rect">
            <a:avLst/>
          </a:prstGeom>
          <a:noFill/>
        </p:spPr>
        <p:txBody>
          <a:bodyPr wrap="square">
            <a:spAutoFit/>
          </a:bodyPr>
          <a:lstStyle/>
          <a:p>
            <a:pPr algn="l"/>
            <a:r>
              <a:rPr sz="3400" b="1" i="0">
                <a:solidFill>
                  <a:srgbClr val="FFFFFF"/>
                </a:solidFill>
                <a:latin typeface="Calibri"/>
              </a:rPr>
              <a:t>Sociotechnical Safety Evaluation of GenAI</a:t>
            </a:r>
          </a:p>
        </p:txBody>
      </p:sp>
      <p:sp>
        <p:nvSpPr>
          <p:cNvPr id="5" name="TextBox 4"/>
          <p:cNvSpPr txBox="1"/>
          <p:nvPr/>
        </p:nvSpPr>
        <p:spPr>
          <a:xfrm>
            <a:off x="548640" y="4023360"/>
            <a:ext cx="10972800" cy="640080"/>
          </a:xfrm>
          <a:prstGeom prst="rect">
            <a:avLst/>
          </a:prstGeom>
          <a:noFill/>
        </p:spPr>
        <p:txBody>
          <a:bodyPr wrap="square">
            <a:spAutoFit/>
          </a:bodyPr>
          <a:lstStyle/>
          <a:p>
            <a:pPr algn="l"/>
            <a:r>
              <a:rPr sz="2000" b="0" i="0">
                <a:solidFill>
                  <a:srgbClr val="CCCCCC"/>
                </a:solidFill>
                <a:latin typeface="Calibri"/>
              </a:rPr>
              <a:t>Weidinger et al. (Google DeepMind, 2023) — COS598 AI Safety</a:t>
            </a:r>
          </a:p>
        </p:txBody>
      </p:sp>
      <p:sp>
        <p:nvSpPr>
          <p:cNvPr id="6" name="Rectangle 5"/>
          <p:cNvSpPr/>
          <p:nvPr/>
        </p:nvSpPr>
        <p:spPr>
          <a:xfrm>
            <a:off x="548640" y="4846320"/>
            <a:ext cx="7315200" cy="36576"/>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Learning Objectives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Explain the three-layered sociotechnical evaluation framework and what each layer targets</a:t>
            </a:r>
          </a:p>
          <a:p>
            <a:pPr algn="l" lvl="0">
              <a:lnSpc>
                <a:spcPct val="115000"/>
              </a:lnSpc>
              <a:spcBef>
                <a:spcPts val="120"/>
              </a:spcBef>
            </a:pPr>
            <a:r>
              <a:rPr sz="1900" b="0">
                <a:solidFill>
                  <a:srgbClr val="1A1A2E"/>
                </a:solidFill>
                <a:latin typeface="Calibri"/>
              </a:rPr>
              <a:t>• Identify and distinguish the three evaluation gaps: coverage, context, and multimodal</a:t>
            </a:r>
          </a:p>
          <a:p>
            <a:pPr algn="l" lvl="0">
              <a:lnSpc>
                <a:spcPct val="115000"/>
              </a:lnSpc>
              <a:spcBef>
                <a:spcPts val="120"/>
              </a:spcBef>
            </a:pPr>
            <a:r>
              <a:rPr sz="1900" b="0">
                <a:solidFill>
                  <a:srgbClr val="1A1A2E"/>
                </a:solidFill>
                <a:latin typeface="Calibri"/>
              </a:rPr>
              <a:t>• Analyze why capability-only evaluation is insufficient for safety assurance</a:t>
            </a:r>
          </a:p>
          <a:p>
            <a:pPr algn="l" lvl="0">
              <a:lnSpc>
                <a:spcPct val="115000"/>
              </a:lnSpc>
              <a:spcBef>
                <a:spcPts val="120"/>
              </a:spcBef>
            </a:pPr>
            <a:r>
              <a:rPr sz="1900" b="0">
                <a:solidFill>
                  <a:srgbClr val="1A1A2E"/>
                </a:solidFill>
                <a:latin typeface="Calibri"/>
              </a:rPr>
              <a:t>• Evaluate the roles of different stakeholders in closing evaluation gaps</a:t>
            </a:r>
          </a:p>
          <a:p>
            <a:pPr algn="l" lvl="0">
              <a:lnSpc>
                <a:spcPct val="115000"/>
              </a:lnSpc>
              <a:spcBef>
                <a:spcPts val="120"/>
              </a:spcBef>
            </a:pPr>
            <a:r>
              <a:rPr sz="1900" b="0">
                <a:solidFill>
                  <a:srgbClr val="1A1A2E"/>
                </a:solidFill>
                <a:latin typeface="Calibri"/>
              </a:rPr>
              <a:t>• Critically assess the paper's claim that evaluation is inherently value-laden and incomplete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Roadmap for Today's Lecture</a:t>
            </a:r>
          </a:p>
        </p:txBody>
      </p:sp>
      <p:sp>
        <p:nvSpPr>
          <p:cNvPr id="5" name="TextBox 4"/>
          <p:cNvSpPr txBox="1"/>
          <p:nvPr/>
        </p:nvSpPr>
        <p:spPr>
          <a:xfrm>
            <a:off x="45720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Context &amp; Motivation: Why safety evaluation urgently needs rethinking</a:t>
            </a:r>
          </a:p>
          <a:p>
            <a:pPr algn="l" lvl="0">
              <a:lnSpc>
                <a:spcPct val="115000"/>
              </a:lnSpc>
              <a:spcBef>
                <a:spcPts val="120"/>
              </a:spcBef>
            </a:pPr>
            <a:r>
              <a:rPr sz="1900" b="0">
                <a:solidFill>
                  <a:srgbClr val="1A1A2E"/>
                </a:solidFill>
                <a:latin typeface="Calibri"/>
              </a:rPr>
              <a:t>• 2. The Three-Layer Framework: Capability → Human Interaction → Systemic Impact</a:t>
            </a:r>
          </a:p>
          <a:p>
            <a:pPr algn="l" lvl="0">
              <a:lnSpc>
                <a:spcPct val="115000"/>
              </a:lnSpc>
              <a:spcBef>
                <a:spcPts val="120"/>
              </a:spcBef>
            </a:pPr>
            <a:r>
              <a:rPr sz="1900" b="0">
                <a:solidFill>
                  <a:srgbClr val="1A1A2E"/>
                </a:solidFill>
                <a:latin typeface="Calibri"/>
              </a:rPr>
              <a:t>• 3. Mapping the Landscape: What we found in 300+ evaluations</a:t>
            </a:r>
          </a:p>
        </p:txBody>
      </p:sp>
      <p:sp>
        <p:nvSpPr>
          <p:cNvPr id="6" name="TextBox 5"/>
          <p:cNvSpPr txBox="1"/>
          <p:nvPr/>
        </p:nvSpPr>
        <p:spPr>
          <a:xfrm>
            <a:off x="621792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4. Three Critical Gaps: Coverage, Context, and Multimodal</a:t>
            </a:r>
          </a:p>
          <a:p>
            <a:pPr algn="l" lvl="0">
              <a:lnSpc>
                <a:spcPct val="115000"/>
              </a:lnSpc>
              <a:spcBef>
                <a:spcPts val="120"/>
              </a:spcBef>
            </a:pPr>
            <a:r>
              <a:rPr sz="1900" b="0">
                <a:solidFill>
                  <a:srgbClr val="1A1A2E"/>
                </a:solidFill>
                <a:latin typeface="Calibri"/>
              </a:rPr>
              <a:t>• 5. Critical Analysis: Strengths, limits, and open questions</a:t>
            </a:r>
          </a:p>
          <a:p>
            <a:pPr algn="l" lvl="0">
              <a:lnSpc>
                <a:spcPct val="115000"/>
              </a:lnSpc>
              <a:spcBef>
                <a:spcPts val="120"/>
              </a:spcBef>
            </a:pPr>
            <a:r>
              <a:rPr sz="1900" b="0">
                <a:solidFill>
                  <a:srgbClr val="1A1A2E"/>
                </a:solidFill>
                <a:latin typeface="Calibri"/>
              </a:rPr>
              <a:t>• 6. Implications: What this means for developers, policymakers, and researchers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Context &amp; Motivation</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Why the current approach to AI safety evaluation is broken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Deployment Landscape in 2023</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GenAI proliferating: medicine (Singhal et al.), news, politics, social companionship</a:t>
            </a:r>
          </a:p>
          <a:p>
            <a:pPr algn="l" lvl="0">
              <a:lnSpc>
                <a:spcPct val="115000"/>
              </a:lnSpc>
              <a:spcBef>
                <a:spcPts val="120"/>
              </a:spcBef>
            </a:pPr>
            <a:r>
              <a:rPr sz="1900" b="0">
                <a:solidFill>
                  <a:srgbClr val="1A1A2E"/>
                </a:solidFill>
                <a:latin typeface="Calibri"/>
              </a:rPr>
              <a:t>• Modalities expanding: text → image → audio/music → video → multimodal</a:t>
            </a:r>
          </a:p>
          <a:p>
            <a:pPr algn="l" lvl="0">
              <a:lnSpc>
                <a:spcPct val="115000"/>
              </a:lnSpc>
              <a:spcBef>
                <a:spcPts val="120"/>
              </a:spcBef>
            </a:pPr>
            <a:r>
              <a:rPr sz="1900" b="0">
                <a:solidFill>
                  <a:srgbClr val="1A1A2E"/>
                </a:solidFill>
                <a:latin typeface="Calibri"/>
              </a:rPr>
              <a:t>• AI systems increasingly integrated into everyday life at massive scale</a:t>
            </a:r>
          </a:p>
          <a:p>
            <a:pPr algn="l" lvl="0">
              <a:lnSpc>
                <a:spcPct val="115000"/>
              </a:lnSpc>
              <a:spcBef>
                <a:spcPts val="120"/>
              </a:spcBef>
            </a:pPr>
            <a:r>
              <a:rPr sz="1900" b="0">
                <a:solidFill>
                  <a:srgbClr val="1A1A2E"/>
                </a:solidFill>
                <a:latin typeface="Calibri"/>
              </a:rPr>
              <a:t>• Risk taxonomies exist (Weidinger 2021, Solaiman 2023, Bird 2023) but evaluations lag</a:t>
            </a:r>
          </a:p>
          <a:p>
            <a:pPr algn="l" lvl="0">
              <a:lnSpc>
                <a:spcPct val="115000"/>
              </a:lnSpc>
              <a:spcBef>
                <a:spcPts val="120"/>
              </a:spcBef>
            </a:pPr>
            <a:r>
              <a:rPr sz="1900" b="0">
                <a:solidFill>
                  <a:srgbClr val="1A1A2E"/>
                </a:solidFill>
                <a:latin typeface="Calibri"/>
              </a:rPr>
              <a:t>• AI Incident Database logs observed harms — evaluation must catch up to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Current Evaluations Are Ad Hoc &amp; Incomparable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Evaluations differ between organizations: Google, Anthropic, OpenAI each use different tests</a:t>
            </a:r>
          </a:p>
          <a:p>
            <a:pPr algn="l" lvl="0">
              <a:lnSpc>
                <a:spcPct val="115000"/>
              </a:lnSpc>
              <a:spcBef>
                <a:spcPts val="120"/>
              </a:spcBef>
            </a:pPr>
            <a:r>
              <a:rPr sz="1900" b="0">
                <a:solidFill>
                  <a:srgbClr val="1A1A2E"/>
                </a:solidFill>
                <a:latin typeface="Calibri"/>
              </a:rPr>
              <a:t>• No standardized approach → hard to compare safety claims across AI systems</a:t>
            </a:r>
          </a:p>
          <a:p>
            <a:pPr algn="l" lvl="0">
              <a:lnSpc>
                <a:spcPct val="115000"/>
              </a:lnSpc>
              <a:spcBef>
                <a:spcPts val="120"/>
              </a:spcBef>
            </a:pPr>
            <a:r>
              <a:rPr sz="1900" b="0">
                <a:solidFill>
                  <a:srgbClr val="1A1A2E"/>
                </a:solidFill>
                <a:latin typeface="Calibri"/>
              </a:rPr>
              <a:t>• Many AI system releases miss entire risk areas that should be evaluated</a:t>
            </a:r>
          </a:p>
          <a:p>
            <a:pPr algn="l" lvl="0">
              <a:lnSpc>
                <a:spcPct val="115000"/>
              </a:lnSpc>
              <a:spcBef>
                <a:spcPts val="120"/>
              </a:spcBef>
            </a:pPr>
            <a:r>
              <a:rPr sz="1900" b="0">
                <a:solidFill>
                  <a:srgbClr val="1A1A2E"/>
                </a:solidFill>
                <a:latin typeface="Calibri"/>
              </a:rPr>
              <a:t>• Evaluation is treated as optional rather than routine and consequential</a:t>
            </a:r>
          </a:p>
          <a:p>
            <a:pPr algn="l" lvl="0">
              <a:lnSpc>
                <a:spcPct val="115000"/>
              </a:lnSpc>
              <a:spcBef>
                <a:spcPts val="120"/>
              </a:spcBef>
            </a:pPr>
            <a:r>
              <a:rPr sz="1900" b="0">
                <a:solidFill>
                  <a:srgbClr val="1A1A2E"/>
                </a:solidFill>
                <a:latin typeface="Calibri"/>
              </a:rPr>
              <a:t>• Priority for developers, policymakers (White House 2023), regulators (EU AI Act), civil society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System safety represents a historical paradigm shift in safety engineering, from component-based approaches toward systems thinking, taking into account broader contexts, interactions and emergent properties of complex systems.</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Weidinger et al. (2023), drawing on Leveson (2012)</a:t>
            </a:r>
          </a:p>
        </p:txBody>
      </p:sp>
      <p:sp>
        <p:nvSpPr>
          <p:cNvPr id="7" name="TextBox 6"/>
          <p:cNvSpPr txBox="1"/>
          <p:nvPr/>
        </p:nvSpPr>
        <p:spPr>
          <a:xfrm>
            <a:off x="457200" y="6126480"/>
            <a:ext cx="10972800" cy="457200"/>
          </a:xfrm>
          <a:prstGeom prst="rect">
            <a:avLst/>
          </a:prstGeom>
          <a:noFill/>
        </p:spPr>
        <p:txBody>
          <a:bodyPr wrap="square">
            <a:spAutoFit/>
          </a:bodyPr>
          <a:lstStyle/>
          <a:p>
            <a:pPr algn="l"/>
            <a:r>
              <a:rPr sz="1300" b="0" i="0">
                <a:solidFill>
                  <a:srgbClr val="CCCCCC"/>
                </a:solidFill>
                <a:latin typeface="Calibri"/>
              </a:rPr>
              <a:t>The Paradigm Shift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The Three-Layer Framework</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Capability → Human Interaction → Systemic Impact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Framework Overview: Three Evaluation Layers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Layer 1 — Capability: Tests AI system outputs and components in isolation</a:t>
            </a:r>
          </a:p>
          <a:p>
            <a:pPr algn="l" lvl="0">
              <a:lnSpc>
                <a:spcPct val="115000"/>
              </a:lnSpc>
              <a:spcBef>
                <a:spcPts val="120"/>
              </a:spcBef>
            </a:pPr>
            <a:r>
              <a:rPr sz="1900" b="0">
                <a:solidFill>
                  <a:srgbClr val="1A1A2E"/>
                </a:solidFill>
                <a:latin typeface="Calibri"/>
              </a:rPr>
              <a:t>• Layer 2 — Human Interaction: Centers experience of people using or exposed to AI</a:t>
            </a:r>
          </a:p>
          <a:p>
            <a:pPr algn="l" lvl="0">
              <a:lnSpc>
                <a:spcPct val="115000"/>
              </a:lnSpc>
              <a:spcBef>
                <a:spcPts val="120"/>
              </a:spcBef>
            </a:pPr>
            <a:r>
              <a:rPr sz="1900" b="0">
                <a:solidFill>
                  <a:srgbClr val="1A1A2E"/>
                </a:solidFill>
                <a:latin typeface="Calibri"/>
              </a:rPr>
              <a:t>• Layer 3 — Systemic Impact: Assesses effects on society, economy, environment at scale</a:t>
            </a:r>
          </a:p>
          <a:p>
            <a:pPr algn="l" lvl="0">
              <a:lnSpc>
                <a:spcPct val="115000"/>
              </a:lnSpc>
              <a:spcBef>
                <a:spcPts val="120"/>
              </a:spcBef>
            </a:pPr>
            <a:r>
              <a:rPr sz="1900" b="0">
                <a:solidFill>
                  <a:srgbClr val="1A1A2E"/>
                </a:solidFill>
                <a:latin typeface="Calibri"/>
              </a:rPr>
              <a:t>• Layers progressively add context to determine if capability → actual harm</a:t>
            </a:r>
          </a:p>
          <a:p>
            <a:pPr algn="l" lvl="0">
              <a:lnSpc>
                <a:spcPct val="115000"/>
              </a:lnSpc>
              <a:spcBef>
                <a:spcPts val="120"/>
              </a:spcBef>
            </a:pPr>
            <a:r>
              <a:rPr sz="1900" b="0">
                <a:solidFill>
                  <a:srgbClr val="1A1A2E"/>
                </a:solidFill>
                <a:latin typeface="Calibri"/>
              </a:rPr>
              <a:t>• Layers are NOT sequential or hierarchical — run simultaneously, different targets of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Layer 1: Capability Evaluation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What It Tests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AI system outputs (images, text, audio)</a:t>
            </a:r>
          </a:p>
          <a:p>
            <a:pPr algn="l" lvl="0">
              <a:lnSpc>
                <a:spcPct val="115000"/>
              </a:lnSpc>
              <a:spcBef>
                <a:spcPts val="120"/>
              </a:spcBef>
            </a:pPr>
            <a:r>
              <a:rPr sz="1700" b="0">
                <a:solidFill>
                  <a:srgbClr val="1A1A2E"/>
                </a:solidFill>
                <a:latin typeface="Calibri"/>
              </a:rPr>
              <a:t>• Training data (clusters, sensitive info)</a:t>
            </a:r>
          </a:p>
          <a:p>
            <a:pPr algn="l" lvl="0">
              <a:lnSpc>
                <a:spcPct val="115000"/>
              </a:lnSpc>
              <a:spcBef>
                <a:spcPts val="120"/>
              </a:spcBef>
            </a:pPr>
            <a:r>
              <a:rPr sz="1700" b="0">
                <a:solidFill>
                  <a:srgbClr val="1A1A2E"/>
                </a:solidFill>
                <a:latin typeface="Calibri"/>
              </a:rPr>
              <a:t>• Model components (embeddings, filters)</a:t>
            </a:r>
          </a:p>
          <a:p>
            <a:pPr algn="l" lvl="0">
              <a:lnSpc>
                <a:spcPct val="115000"/>
              </a:lnSpc>
              <a:spcBef>
                <a:spcPts val="120"/>
              </a:spcBef>
            </a:pPr>
            <a:r>
              <a:rPr sz="1700" b="0">
                <a:solidFill>
                  <a:srgbClr val="1A1A2E"/>
                </a:solidFill>
                <a:latin typeface="Calibri"/>
              </a:rPr>
              <a:t>• Performance across languages/groups</a:t>
            </a:r>
          </a:p>
          <a:p>
            <a:pPr algn="l" lvl="0">
              <a:lnSpc>
                <a:spcPct val="115000"/>
              </a:lnSpc>
              <a:spcBef>
                <a:spcPts val="120"/>
              </a:spcBef>
            </a:pPr>
            <a:r>
              <a:rPr sz="1700" b="0">
                <a:solidFill>
                  <a:srgbClr val="1A1A2E"/>
                </a:solidFill>
                <a:latin typeface="Calibri"/>
              </a:rPr>
              <a:t>• Energy use at inference as proxy metric</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What It Cannot Tell You</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Whether outputs actually cause harm</a:t>
            </a:r>
          </a:p>
          <a:p>
            <a:pPr algn="l" lvl="0">
              <a:lnSpc>
                <a:spcPct val="115000"/>
              </a:lnSpc>
              <a:spcBef>
                <a:spcPts val="120"/>
              </a:spcBef>
            </a:pPr>
            <a:r>
              <a:rPr sz="1700" b="0">
                <a:solidFill>
                  <a:srgbClr val="1A1A2E"/>
                </a:solidFill>
                <a:latin typeface="Calibri"/>
              </a:rPr>
              <a:t>• How real users interact with the system</a:t>
            </a:r>
          </a:p>
          <a:p>
            <a:pPr algn="l" lvl="0">
              <a:lnSpc>
                <a:spcPct val="115000"/>
              </a:lnSpc>
              <a:spcBef>
                <a:spcPts val="120"/>
              </a:spcBef>
            </a:pPr>
            <a:r>
              <a:rPr sz="1700" b="0">
                <a:solidFill>
                  <a:srgbClr val="1A1A2E"/>
                </a:solidFill>
                <a:latin typeface="Calibri"/>
              </a:rPr>
              <a:t>• Whether context makes output dangerous</a:t>
            </a:r>
          </a:p>
          <a:p>
            <a:pPr algn="l" lvl="0">
              <a:lnSpc>
                <a:spcPct val="115000"/>
              </a:lnSpc>
              <a:spcBef>
                <a:spcPts val="120"/>
              </a:spcBef>
            </a:pPr>
            <a:r>
              <a:rPr sz="1700" b="0">
                <a:solidFill>
                  <a:srgbClr val="1A1A2E"/>
                </a:solidFill>
                <a:latin typeface="Calibri"/>
              </a:rPr>
              <a:t>• Disparate real-world impacts on groups</a:t>
            </a:r>
          </a:p>
          <a:p>
            <a:pPr algn="l" lvl="0">
              <a:lnSpc>
                <a:spcPct val="115000"/>
              </a:lnSpc>
              <a:spcBef>
                <a:spcPts val="120"/>
              </a:spcBef>
            </a:pPr>
            <a:r>
              <a:rPr sz="1700" b="0">
                <a:solidFill>
                  <a:srgbClr val="1A1A2E"/>
                </a:solidFill>
                <a:latin typeface="Calibri"/>
              </a:rPr>
              <a:t>• Emergent effects at societal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Layer 2: Human Interaction Evaluation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Centers usability: does the AI system work as intended at point of use, and for whom?</a:t>
            </a:r>
          </a:p>
          <a:p>
            <a:pPr algn="l" lvl="0">
              <a:lnSpc>
                <a:spcPct val="115000"/>
              </a:lnSpc>
              <a:spcBef>
                <a:spcPts val="120"/>
              </a:spcBef>
            </a:pPr>
            <a:r>
              <a:rPr sz="1900" b="0">
                <a:solidFill>
                  <a:srgbClr val="1A1A2E"/>
                </a:solidFill>
                <a:latin typeface="Calibri"/>
              </a:rPr>
              <a:t>• Studies real-world use patterns — which often deviate from intended use cases</a:t>
            </a:r>
          </a:p>
          <a:p>
            <a:pPr algn="l" lvl="0">
              <a:lnSpc>
                <a:spcPct val="115000"/>
              </a:lnSpc>
              <a:spcBef>
                <a:spcPts val="120"/>
              </a:spcBef>
            </a:pPr>
            <a:r>
              <a:rPr sz="1900" b="0">
                <a:solidFill>
                  <a:srgbClr val="1A1A2E"/>
                </a:solidFill>
                <a:latin typeface="Calibri"/>
              </a:rPr>
              <a:t>• Measures externalities: overreliance, overtrust, persuasion effects, psychological harms</a:t>
            </a:r>
          </a:p>
          <a:p>
            <a:pPr algn="l" lvl="0">
              <a:lnSpc>
                <a:spcPct val="115000"/>
              </a:lnSpc>
              <a:spcBef>
                <a:spcPts val="120"/>
              </a:spcBef>
            </a:pPr>
            <a:r>
              <a:rPr sz="1900" b="0">
                <a:solidFill>
                  <a:srgbClr val="1A1A2E"/>
                </a:solidFill>
                <a:latin typeface="Calibri"/>
              </a:rPr>
              <a:t>• Reveals disparate harm profiles across modalities (e.g., video misinformation &gt; text)</a:t>
            </a:r>
          </a:p>
          <a:p>
            <a:pPr algn="l" lvl="0">
              <a:lnSpc>
                <a:spcPct val="115000"/>
              </a:lnSpc>
              <a:spcBef>
                <a:spcPts val="120"/>
              </a:spcBef>
            </a:pPr>
            <a:r>
              <a:rPr sz="1900" b="0">
                <a:solidFill>
                  <a:srgbClr val="1A1A2E"/>
                </a:solidFill>
                <a:latin typeface="Calibri"/>
              </a:rPr>
              <a:t>• Assesses ease of malicious use (friction encountered when exploiting system)</a:t>
            </a:r>
          </a:p>
          <a:p>
            <a:pPr algn="l" lvl="0">
              <a:lnSpc>
                <a:spcPct val="115000"/>
              </a:lnSpc>
              <a:spcBef>
                <a:spcPts val="120"/>
              </a:spcBef>
            </a:pPr>
            <a:r>
              <a:rPr sz="1900" b="0">
                <a:solidFill>
                  <a:srgbClr val="1A1A2E"/>
                </a:solidFill>
                <a:latin typeface="Calibri"/>
              </a:rPr>
              <a:t>• May require longitudinal evaluation — some effects manifest only over repeated exposure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Layer 2 vs. Layer 3: A Key Distinction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Layer 2: Human Interaction</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Direct effects on individuals using AI</a:t>
            </a:r>
          </a:p>
          <a:p>
            <a:pPr algn="l" lvl="0">
              <a:lnSpc>
                <a:spcPct val="115000"/>
              </a:lnSpc>
              <a:spcBef>
                <a:spcPts val="120"/>
              </a:spcBef>
            </a:pPr>
            <a:r>
              <a:rPr sz="1700" b="0">
                <a:solidFill>
                  <a:srgbClr val="1A1A2E"/>
                </a:solidFill>
                <a:latin typeface="Calibri"/>
              </a:rPr>
              <a:t>• Overreliance, overtrust, persuasion</a:t>
            </a:r>
          </a:p>
          <a:p>
            <a:pPr algn="l" lvl="0">
              <a:lnSpc>
                <a:spcPct val="115000"/>
              </a:lnSpc>
              <a:spcBef>
                <a:spcPts val="120"/>
              </a:spcBef>
            </a:pPr>
            <a:r>
              <a:rPr sz="1700" b="0">
                <a:solidFill>
                  <a:srgbClr val="1A1A2E"/>
                </a:solidFill>
                <a:latin typeface="Calibri"/>
              </a:rPr>
              <a:t>• Disparate usability across user groups</a:t>
            </a:r>
          </a:p>
          <a:p>
            <a:pPr algn="l" lvl="0">
              <a:lnSpc>
                <a:spcPct val="115000"/>
              </a:lnSpc>
              <a:spcBef>
                <a:spcPts val="120"/>
              </a:spcBef>
            </a:pPr>
            <a:r>
              <a:rPr sz="1700" b="0">
                <a:solidFill>
                  <a:srgbClr val="1A1A2E"/>
                </a:solidFill>
                <a:latin typeface="Calibri"/>
              </a:rPr>
              <a:t>• Controlled experiments &amp; user studies</a:t>
            </a:r>
          </a:p>
          <a:p>
            <a:pPr algn="l" lvl="0">
              <a:lnSpc>
                <a:spcPct val="115000"/>
              </a:lnSpc>
              <a:spcBef>
                <a:spcPts val="120"/>
              </a:spcBef>
            </a:pPr>
            <a:r>
              <a:rPr sz="1700" b="0">
                <a:solidFill>
                  <a:srgbClr val="1A1A2E"/>
                </a:solidFill>
                <a:latin typeface="Calibri"/>
              </a:rPr>
              <a:t>• Harms to data annotators exposed to content</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Layer 3: Systemic Impact</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Emergent aggregate effects on structures</a:t>
            </a:r>
          </a:p>
          <a:p>
            <a:pPr algn="l" lvl="0">
              <a:lnSpc>
                <a:spcPct val="115000"/>
              </a:lnSpc>
              <a:spcBef>
                <a:spcPts val="120"/>
              </a:spcBef>
            </a:pPr>
            <a:r>
              <a:rPr sz="1700" b="0">
                <a:solidFill>
                  <a:srgbClr val="1A1A2E"/>
                </a:solidFill>
                <a:latin typeface="Calibri"/>
              </a:rPr>
              <a:t>• Labor market disruption, algorithmic monocultures</a:t>
            </a:r>
          </a:p>
          <a:p>
            <a:pPr algn="l" lvl="0">
              <a:lnSpc>
                <a:spcPct val="115000"/>
              </a:lnSpc>
              <a:spcBef>
                <a:spcPts val="120"/>
              </a:spcBef>
            </a:pPr>
            <a:r>
              <a:rPr sz="1700" b="0">
                <a:solidFill>
                  <a:srgbClr val="1A1A2E"/>
                </a:solidFill>
                <a:latin typeface="Calibri"/>
              </a:rPr>
              <a:t>• Erosion of public goods (creative commons, trust)</a:t>
            </a:r>
          </a:p>
          <a:p>
            <a:pPr algn="l" lvl="0">
              <a:lnSpc>
                <a:spcPct val="115000"/>
              </a:lnSpc>
              <a:spcBef>
                <a:spcPts val="120"/>
              </a:spcBef>
            </a:pPr>
            <a:r>
              <a:rPr sz="1700" b="0">
                <a:solidFill>
                  <a:srgbClr val="1A1A2E"/>
                </a:solidFill>
                <a:latin typeface="Calibri"/>
              </a:rPr>
              <a:t>• Economic assessments, environmental audits</a:t>
            </a:r>
          </a:p>
          <a:p>
            <a:pPr algn="l" lvl="0">
              <a:lnSpc>
                <a:spcPct val="115000"/>
              </a:lnSpc>
              <a:spcBef>
                <a:spcPts val="120"/>
              </a:spcBef>
            </a:pPr>
            <a:r>
              <a:rPr sz="1700" b="0">
                <a:solidFill>
                  <a:srgbClr val="1A1A2E"/>
                </a:solidFill>
                <a:latin typeface="Calibri"/>
              </a:rPr>
              <a:t>• Effects may only emerge at large-scale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Layer 3: Systemic Impact Evaluation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Labor market: Eloundou et al. (2023) assess which jobs GenAI systems can automate</a:t>
            </a:r>
          </a:p>
          <a:p>
            <a:pPr algn="l" lvl="0">
              <a:lnSpc>
                <a:spcPct val="115000"/>
              </a:lnSpc>
              <a:spcBef>
                <a:spcPts val="120"/>
              </a:spcBef>
            </a:pPr>
            <a:r>
              <a:rPr sz="1900" b="0">
                <a:solidFill>
                  <a:srgbClr val="1A1A2E"/>
                </a:solidFill>
                <a:latin typeface="Calibri"/>
              </a:rPr>
              <a:t>• Productivity: Brynjolfsson et al. (2023) study model adoption impact on worker output</a:t>
            </a:r>
          </a:p>
          <a:p>
            <a:pPr algn="l" lvl="0">
              <a:lnSpc>
                <a:spcPct val="115000"/>
              </a:lnSpc>
              <a:spcBef>
                <a:spcPts val="120"/>
              </a:spcBef>
            </a:pPr>
            <a:r>
              <a:rPr sz="1900" b="0">
                <a:solidFill>
                  <a:srgbClr val="1A1A2E"/>
                </a:solidFill>
                <a:latin typeface="Calibri"/>
              </a:rPr>
              <a:t>• Public goods: erosion of creative commons, political polarization, trust in media</a:t>
            </a:r>
          </a:p>
          <a:p>
            <a:pPr algn="l" lvl="0">
              <a:lnSpc>
                <a:spcPct val="115000"/>
              </a:lnSpc>
              <a:spcBef>
                <a:spcPts val="120"/>
              </a:spcBef>
            </a:pPr>
            <a:r>
              <a:rPr sz="1900" b="0">
                <a:solidFill>
                  <a:srgbClr val="1A1A2E"/>
                </a:solidFill>
                <a:latin typeface="Calibri"/>
              </a:rPr>
              <a:t>• Environmental: data center water use, energy grids, localized ecosystem impacts</a:t>
            </a:r>
          </a:p>
          <a:p>
            <a:pPr algn="l" lvl="0">
              <a:lnSpc>
                <a:spcPct val="115000"/>
              </a:lnSpc>
              <a:spcBef>
                <a:spcPts val="120"/>
              </a:spcBef>
            </a:pPr>
            <a:r>
              <a:rPr sz="1900" b="0">
                <a:solidFill>
                  <a:srgbClr val="1A1A2E"/>
                </a:solidFill>
                <a:latin typeface="Calibri"/>
              </a:rPr>
              <a:t>• Algorithmic monocultures: homogeneity in knowledge production (Kleinberg &amp; Raghavan 2021)</a:t>
            </a:r>
          </a:p>
          <a:p>
            <a:pPr algn="l" lvl="0">
              <a:lnSpc>
                <a:spcPct val="115000"/>
              </a:lnSpc>
              <a:spcBef>
                <a:spcPts val="120"/>
              </a:spcBef>
            </a:pPr>
            <a:r>
              <a:rPr sz="1900" b="0">
                <a:solidFill>
                  <a:srgbClr val="1A1A2E"/>
                </a:solidFill>
                <a:latin typeface="Calibri"/>
              </a:rPr>
              <a:t>• Distribution of benefits: who captures value from AI tools across countries and demographics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AI system safety depends on who uses an AI system, with what goal in mind, and in what context. [...] The interaction of technical and social components determines whether risk manifests.</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Weidinger et al. (2023), Section 2.2, drawing on Leveson (2012) and Selbst et al. (2019)</a:t>
            </a:r>
          </a:p>
        </p:txBody>
      </p:sp>
      <p:sp>
        <p:nvSpPr>
          <p:cNvPr id="7" name="TextBox 6"/>
          <p:cNvSpPr txBox="1"/>
          <p:nvPr/>
        </p:nvSpPr>
        <p:spPr>
          <a:xfrm>
            <a:off x="457200" y="6126480"/>
            <a:ext cx="10972800" cy="457200"/>
          </a:xfrm>
          <a:prstGeom prst="rect">
            <a:avLst/>
          </a:prstGeom>
          <a:noFill/>
        </p:spPr>
        <p:txBody>
          <a:bodyPr wrap="square">
            <a:spAutoFit/>
          </a:bodyPr>
          <a:lstStyle/>
          <a:p>
            <a:pPr algn="l"/>
            <a:r>
              <a:rPr sz="1300" b="0" i="0">
                <a:solidFill>
                  <a:srgbClr val="CCCCCC"/>
                </a:solidFill>
                <a:latin typeface="Calibri"/>
              </a:rPr>
              <a:t>Why Context Is Everything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Mapping the Evaluation Landscape</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What the empirical survey of existing evaluations reveals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Taxonomy of Harm: Six Risk Areas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Representation &amp; Toxicity Harms (e.g., stereotypes in generated images)</a:t>
            </a:r>
          </a:p>
          <a:p>
            <a:pPr algn="l" lvl="0">
              <a:lnSpc>
                <a:spcPct val="115000"/>
              </a:lnSpc>
              <a:spcBef>
                <a:spcPts val="120"/>
              </a:spcBef>
            </a:pPr>
            <a:r>
              <a:rPr sz="1900" b="0">
                <a:solidFill>
                  <a:srgbClr val="1A1A2E"/>
                </a:solidFill>
                <a:latin typeface="Calibri"/>
              </a:rPr>
              <a:t>• 2. Misinformation Harms (e.g., Pentagon deepfake → stock market dip)</a:t>
            </a:r>
          </a:p>
          <a:p>
            <a:pPr algn="l" lvl="0">
              <a:lnSpc>
                <a:spcPct val="115000"/>
              </a:lnSpc>
              <a:spcBef>
                <a:spcPts val="120"/>
              </a:spcBef>
            </a:pPr>
            <a:r>
              <a:rPr sz="1900" b="0">
                <a:solidFill>
                  <a:srgbClr val="1A1A2E"/>
                </a:solidFill>
                <a:latin typeface="Calibri"/>
              </a:rPr>
              <a:t>• 3. Information &amp; Safety Harms (e.g., leaking private training data)</a:t>
            </a:r>
          </a:p>
          <a:p>
            <a:pPr algn="l" lvl="0">
              <a:lnSpc>
                <a:spcPct val="115000"/>
              </a:lnSpc>
              <a:spcBef>
                <a:spcPts val="120"/>
              </a:spcBef>
            </a:pPr>
            <a:r>
              <a:rPr sz="1900" b="0">
                <a:solidFill>
                  <a:srgbClr val="1A1A2E"/>
                </a:solidFill>
                <a:latin typeface="Calibri"/>
              </a:rPr>
              <a:t>• 4. Malicious Use (e.g., cheap deepfake generation at scale)</a:t>
            </a:r>
          </a:p>
          <a:p>
            <a:pPr algn="l" lvl="0">
              <a:lnSpc>
                <a:spcPct val="115000"/>
              </a:lnSpc>
              <a:spcBef>
                <a:spcPts val="120"/>
              </a:spcBef>
            </a:pPr>
            <a:r>
              <a:rPr sz="1900" b="0">
                <a:solidFill>
                  <a:srgbClr val="1A1A2E"/>
                </a:solidFill>
                <a:latin typeface="Calibri"/>
              </a:rPr>
              <a:t>• 5. Human Autonomy &amp; Integrity Harms (e.g., AI companion nudging unsafe behavior)</a:t>
            </a:r>
          </a:p>
          <a:p>
            <a:pPr algn="l" lvl="0">
              <a:lnSpc>
                <a:spcPct val="115000"/>
              </a:lnSpc>
              <a:spcBef>
                <a:spcPts val="120"/>
              </a:spcBef>
            </a:pPr>
            <a:r>
              <a:rPr sz="1900" b="0">
                <a:solidFill>
                  <a:srgbClr val="1A1A2E"/>
                </a:solidFill>
                <a:latin typeface="Calibri"/>
              </a:rPr>
              <a:t>• 6. Socioeconomic &amp; Environmental Harms (e.g., exploitative data annotation practices)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Coverage Gap: Many Risks Have No Evals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Information hazards, human autonomy threats, and socioeconomic harms lack adequate coverage</a:t>
            </a:r>
          </a:p>
          <a:p>
            <a:pPr algn="l" lvl="0">
              <a:lnSpc>
                <a:spcPct val="115000"/>
              </a:lnSpc>
              <a:spcBef>
                <a:spcPts val="120"/>
              </a:spcBef>
            </a:pPr>
            <a:r>
              <a:rPr sz="1900" b="0">
                <a:solidFill>
                  <a:srgbClr val="1A1A2E"/>
                </a:solidFill>
                <a:latin typeface="Calibri"/>
              </a:rPr>
              <a:t>• Representation harms appear well-covered with 83 evaluations — but see next slide</a:t>
            </a:r>
          </a:p>
          <a:p>
            <a:pPr algn="l" lvl="0">
              <a:lnSpc>
                <a:spcPct val="115000"/>
              </a:lnSpc>
              <a:spcBef>
                <a:spcPts val="120"/>
              </a:spcBef>
            </a:pPr>
            <a:r>
              <a:rPr sz="1900" b="0">
                <a:solidFill>
                  <a:srgbClr val="1A1A2E"/>
                </a:solidFill>
                <a:latin typeface="Calibri"/>
              </a:rPr>
              <a:t>• Malicious use evaluations focus narrowly on a few attack vectors</a:t>
            </a:r>
          </a:p>
          <a:p>
            <a:pPr algn="l" lvl="0">
              <a:lnSpc>
                <a:spcPct val="115000"/>
              </a:lnSpc>
              <a:spcBef>
                <a:spcPts val="120"/>
              </a:spcBef>
            </a:pPr>
            <a:r>
              <a:rPr sz="1900" b="0">
                <a:solidFill>
                  <a:srgbClr val="1A1A2E"/>
                </a:solidFill>
                <a:latin typeface="Calibri"/>
              </a:rPr>
              <a:t>• Emerging risks (e.g., persuasion, algorithmic monoculture) have almost zero evaluations</a:t>
            </a:r>
          </a:p>
          <a:p>
            <a:pPr algn="l" lvl="0">
              <a:lnSpc>
                <a:spcPct val="115000"/>
              </a:lnSpc>
              <a:spcBef>
                <a:spcPts val="120"/>
              </a:spcBef>
            </a:pPr>
            <a:r>
              <a:rPr sz="1900" b="0">
                <a:solidFill>
                  <a:srgbClr val="1A1A2E"/>
                </a:solidFill>
                <a:latin typeface="Calibri"/>
              </a:rPr>
              <a:t>• Several risk sub-categories have literally zero existing benchmarks or tests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Depth Illusion: Representation Harms Case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83 evaluations identified for representation harms — appears robust on the surface</a:t>
            </a:r>
          </a:p>
          <a:p>
            <a:pPr algn="l" lvl="0">
              <a:lnSpc>
                <a:spcPct val="115000"/>
              </a:lnSpc>
              <a:spcBef>
                <a:spcPts val="120"/>
              </a:spcBef>
            </a:pPr>
            <a:r>
              <a:rPr sz="1900" b="0">
                <a:solidFill>
                  <a:srgbClr val="1A1A2E"/>
                </a:solidFill>
                <a:latin typeface="Calibri"/>
              </a:rPr>
              <a:t>• Closer inspection: narrow focus on binary gender and occupation associations</a:t>
            </a:r>
          </a:p>
          <a:p>
            <a:pPr algn="l" lvl="0">
              <a:lnSpc>
                <a:spcPct val="115000"/>
              </a:lnSpc>
              <a:spcBef>
                <a:spcPts val="120"/>
              </a:spcBef>
            </a:pPr>
            <a:r>
              <a:rPr sz="1900" b="0">
                <a:solidFill>
                  <a:srgbClr val="1A1A2E"/>
                </a:solidFill>
                <a:latin typeface="Calibri"/>
              </a:rPr>
              <a:t>• Dimensions like disability, age, religion, social class are largely unassessed</a:t>
            </a:r>
          </a:p>
          <a:p>
            <a:pPr algn="l" lvl="0">
              <a:lnSpc>
                <a:spcPct val="115000"/>
              </a:lnSpc>
              <a:spcBef>
                <a:spcPts val="120"/>
              </a:spcBef>
            </a:pPr>
            <a:r>
              <a:rPr sz="1900" b="0">
                <a:solidFill>
                  <a:srgbClr val="1A1A2E"/>
                </a:solidFill>
                <a:latin typeface="Calibri"/>
              </a:rPr>
              <a:t>• Most test English-language text output only</a:t>
            </a:r>
          </a:p>
          <a:p>
            <a:pPr algn="l" lvl="0">
              <a:lnSpc>
                <a:spcPct val="115000"/>
              </a:lnSpc>
              <a:spcBef>
                <a:spcPts val="120"/>
              </a:spcBef>
            </a:pPr>
            <a:r>
              <a:rPr sz="1900" b="0">
                <a:solidFill>
                  <a:srgbClr val="1A1A2E"/>
                </a:solidFill>
                <a:latin typeface="Calibri"/>
              </a:rPr>
              <a:t>• Quantitative breadth masks qualitative narrowness — evaluation depth is illusory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Context Gap: Layer Distribution Skew</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Vast majority of evaluations operate at Layer 1 (capability) only</a:t>
            </a:r>
          </a:p>
          <a:p>
            <a:pPr algn="l" lvl="0">
              <a:lnSpc>
                <a:spcPct val="115000"/>
              </a:lnSpc>
              <a:spcBef>
                <a:spcPts val="120"/>
              </a:spcBef>
            </a:pPr>
            <a:r>
              <a:rPr sz="1900" b="0">
                <a:solidFill>
                  <a:srgbClr val="1A1A2E"/>
                </a:solidFill>
                <a:latin typeface="Calibri"/>
              </a:rPr>
              <a:t>• Human interaction evaluations (Layer 2) are rare despite being critical for harm assessment</a:t>
            </a:r>
          </a:p>
          <a:p>
            <a:pPr algn="l" lvl="0">
              <a:lnSpc>
                <a:spcPct val="115000"/>
              </a:lnSpc>
              <a:spcBef>
                <a:spcPts val="120"/>
              </a:spcBef>
            </a:pPr>
            <a:r>
              <a:rPr sz="1900" b="0">
                <a:solidFill>
                  <a:srgbClr val="1A1A2E"/>
                </a:solidFill>
                <a:latin typeface="Calibri"/>
              </a:rPr>
              <a:t>• Systemic impact evaluations (Layer 3) are extremely sparse</a:t>
            </a:r>
          </a:p>
          <a:p>
            <a:pPr algn="l" lvl="0">
              <a:lnSpc>
                <a:spcPct val="115000"/>
              </a:lnSpc>
              <a:spcBef>
                <a:spcPts val="120"/>
              </a:spcBef>
            </a:pPr>
            <a:r>
              <a:rPr sz="1900" b="0">
                <a:solidFill>
                  <a:srgbClr val="1A1A2E"/>
                </a:solidFill>
                <a:latin typeface="Calibri"/>
              </a:rPr>
              <a:t>• Field tests what AI systems CAN produce but rarely whether outputs ACTUALLY cause harm</a:t>
            </a:r>
          </a:p>
          <a:p>
            <a:pPr algn="l" lvl="0">
              <a:lnSpc>
                <a:spcPct val="115000"/>
              </a:lnSpc>
              <a:spcBef>
                <a:spcPts val="120"/>
              </a:spcBef>
            </a:pPr>
            <a:r>
              <a:rPr sz="1900" b="0">
                <a:solidFill>
                  <a:srgbClr val="1A1A2E"/>
                </a:solidFill>
                <a:latin typeface="Calibri"/>
              </a:rPr>
              <a:t>• Adversarial testing is most common method straddling Layers 1-2, but focus stays on outputs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Multimodal Gap: ~75% Text-Only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Approximately 75% of all identified evaluations target text output exclusively</a:t>
            </a:r>
          </a:p>
          <a:p>
            <a:pPr algn="l" lvl="0">
              <a:lnSpc>
                <a:spcPct val="115000"/>
              </a:lnSpc>
              <a:spcBef>
                <a:spcPts val="120"/>
              </a:spcBef>
            </a:pPr>
            <a:r>
              <a:rPr sz="1900" b="0">
                <a:solidFill>
                  <a:srgbClr val="1A1A2E"/>
                </a:solidFill>
                <a:latin typeface="Calibri"/>
              </a:rPr>
              <a:t>• Image evaluations are the next most common, but far behind text</a:t>
            </a:r>
          </a:p>
          <a:p>
            <a:pPr algn="l" lvl="0">
              <a:lnSpc>
                <a:spcPct val="115000"/>
              </a:lnSpc>
              <a:spcBef>
                <a:spcPts val="120"/>
              </a:spcBef>
            </a:pPr>
            <a:r>
              <a:rPr sz="1900" b="0">
                <a:solidFill>
                  <a:srgbClr val="1A1A2E"/>
                </a:solidFill>
                <a:latin typeface="Calibri"/>
              </a:rPr>
              <a:t>• Audio and video evaluations are nearly nonexistent</a:t>
            </a:r>
          </a:p>
          <a:p>
            <a:pPr algn="l" lvl="0">
              <a:lnSpc>
                <a:spcPct val="115000"/>
              </a:lnSpc>
              <a:spcBef>
                <a:spcPts val="120"/>
              </a:spcBef>
            </a:pPr>
            <a:r>
              <a:rPr sz="1900" b="0">
                <a:solidFill>
                  <a:srgbClr val="1A1A2E"/>
                </a:solidFill>
                <a:latin typeface="Calibri"/>
              </a:rPr>
              <a:t>• Multimodal combination evaluations (e.g., image+text, audio+video) are extremely rare</a:t>
            </a:r>
          </a:p>
          <a:p>
            <a:pPr algn="l" lvl="0">
              <a:lnSpc>
                <a:spcPct val="115000"/>
              </a:lnSpc>
              <a:spcBef>
                <a:spcPts val="120"/>
              </a:spcBef>
            </a:pPr>
            <a:r>
              <a:rPr sz="1900" b="0">
                <a:solidFill>
                  <a:srgbClr val="1A1A2E"/>
                </a:solidFill>
                <a:latin typeface="Calibri"/>
              </a:rPr>
              <a:t>• This gap widens as deployment of image, audio, and video GenAI systems accelerates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Compositional Risk: A Multimodal Challenge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Risks can be compositional: harm emerges from combining modalities</a:t>
            </a:r>
          </a:p>
          <a:p>
            <a:pPr algn="l" lvl="0">
              <a:lnSpc>
                <a:spcPct val="115000"/>
              </a:lnSpc>
              <a:spcBef>
                <a:spcPts val="120"/>
              </a:spcBef>
            </a:pPr>
            <a:r>
              <a:rPr sz="1900" b="0">
                <a:solidFill>
                  <a:srgbClr val="1A1A2E"/>
                </a:solidFill>
                <a:latin typeface="Calibri"/>
              </a:rPr>
              <a:t>• Example: 'these smell bad' + image of skunk = benign; + image of people = harassment</a:t>
            </a:r>
          </a:p>
          <a:p>
            <a:pPr algn="l" lvl="0">
              <a:lnSpc>
                <a:spcPct val="115000"/>
              </a:lnSpc>
              <a:spcBef>
                <a:spcPts val="120"/>
              </a:spcBef>
            </a:pPr>
            <a:r>
              <a:rPr sz="1900" b="0">
                <a:solidFill>
                  <a:srgbClr val="1A1A2E"/>
                </a:solidFill>
                <a:latin typeface="Calibri"/>
              </a:rPr>
              <a:t>• Example: innocuous military video + invasion audio = misinformation (Vincent 2023)</a:t>
            </a:r>
          </a:p>
          <a:p>
            <a:pPr algn="l" lvl="0">
              <a:lnSpc>
                <a:spcPct val="115000"/>
              </a:lnSpc>
              <a:spcBef>
                <a:spcPts val="120"/>
              </a:spcBef>
            </a:pPr>
            <a:r>
              <a:rPr sz="1900" b="0">
                <a:solidFill>
                  <a:srgbClr val="1A1A2E"/>
                </a:solidFill>
                <a:latin typeface="Calibri"/>
              </a:rPr>
              <a:t>• Text often underspecifies context; images force specific visual choices (Hutchinson 2022)</a:t>
            </a:r>
          </a:p>
          <a:p>
            <a:pPr algn="l" lvl="1">
              <a:lnSpc>
                <a:spcPct val="115000"/>
              </a:lnSpc>
              <a:spcBef>
                <a:spcPts val="0"/>
              </a:spcBef>
            </a:pPr>
            <a:r>
              <a:rPr sz="1700" b="0">
                <a:solidFill>
                  <a:srgbClr val="444444"/>
                </a:solidFill>
                <a:latin typeface="Calibri"/>
              </a:rPr>
              <a:t>  – 'A wedding' prompt must depict specific cultural objects regardless of text input</a:t>
            </a:r>
          </a:p>
          <a:p>
            <a:pPr algn="l" lvl="0">
              <a:lnSpc>
                <a:spcPct val="115000"/>
              </a:lnSpc>
              <a:spcBef>
                <a:spcPts val="120"/>
              </a:spcBef>
            </a:pPr>
            <a:r>
              <a:rPr sz="1900" b="0">
                <a:solidFill>
                  <a:srgbClr val="1A1A2E"/>
                </a:solidFill>
                <a:latin typeface="Calibri"/>
              </a:rPr>
              <a:t>• Single-modality evaluations CANNOT detect compositional risks even if adapted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Discussion: Evaluation Gaps</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Why do you think the field has concentrated so heavily on Layer 1 capability evaluations? Is it purely methodological convenience or something deeper?</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If you were allocating a $10M evaluation budget across the three layers, how would you split it and why?</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Can you think of a real-world AI harm that Layer 1 evaluation would completely miss?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Closing the Gaps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Practical steps and stakeholder responsibilities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Operationalizing Risks Into Measurable Metrics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Complex harms must be decomposed into observable, measurable constructs at each layer</a:t>
            </a:r>
          </a:p>
          <a:p>
            <a:pPr algn="l" lvl="0">
              <a:lnSpc>
                <a:spcPct val="115000"/>
              </a:lnSpc>
              <a:spcBef>
                <a:spcPts val="120"/>
              </a:spcBef>
            </a:pPr>
            <a:r>
              <a:rPr sz="1900" b="0">
                <a:solidFill>
                  <a:srgbClr val="1A1A2E"/>
                </a:solidFill>
                <a:latin typeface="Calibri"/>
              </a:rPr>
              <a:t>• Operationalization requires normative choices: what counts as 'misinformation'?</a:t>
            </a:r>
          </a:p>
          <a:p>
            <a:pPr algn="l" lvl="0">
              <a:lnSpc>
                <a:spcPct val="115000"/>
              </a:lnSpc>
              <a:spcBef>
                <a:spcPts val="120"/>
              </a:spcBef>
            </a:pPr>
            <a:r>
              <a:rPr sz="1900" b="0">
                <a:solidFill>
                  <a:srgbClr val="1A1A2E"/>
                </a:solidFill>
                <a:latin typeface="Calibri"/>
              </a:rPr>
              <a:t>• Construct validity is essential — does your metric actually measure the harm you care about?</a:t>
            </a:r>
          </a:p>
          <a:p>
            <a:pPr algn="l" lvl="0">
              <a:lnSpc>
                <a:spcPct val="115000"/>
              </a:lnSpc>
              <a:spcBef>
                <a:spcPts val="120"/>
              </a:spcBef>
            </a:pPr>
            <a:r>
              <a:rPr sz="1900" b="0">
                <a:solidFill>
                  <a:srgbClr val="1A1A2E"/>
                </a:solidFill>
                <a:latin typeface="Calibri"/>
              </a:rPr>
              <a:t>• Same risk area needs different operationalizations at each layer</a:t>
            </a:r>
          </a:p>
          <a:p>
            <a:pPr algn="l" lvl="1">
              <a:lnSpc>
                <a:spcPct val="115000"/>
              </a:lnSpc>
              <a:spcBef>
                <a:spcPts val="0"/>
              </a:spcBef>
            </a:pPr>
            <a:r>
              <a:rPr sz="1700" b="0">
                <a:solidFill>
                  <a:srgbClr val="444444"/>
                </a:solidFill>
                <a:latin typeface="Calibri"/>
              </a:rPr>
              <a:t>  – Misinformation: L1 = factual accuracy; L2 = belief change; L3 = epistemic ecosystem health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Practical Steps for the Multimodal Gap</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Repurpose existing text evaluations for new modalities where possible</a:t>
            </a:r>
          </a:p>
          <a:p>
            <a:pPr algn="l" lvl="0">
              <a:lnSpc>
                <a:spcPct val="115000"/>
              </a:lnSpc>
              <a:spcBef>
                <a:spcPts val="120"/>
              </a:spcBef>
            </a:pPr>
            <a:r>
              <a:rPr sz="1900" b="0">
                <a:solidFill>
                  <a:srgbClr val="1A1A2E"/>
                </a:solidFill>
                <a:latin typeface="Calibri"/>
              </a:rPr>
              <a:t>• Transcribe non-text output for text-based evaluation (e.g., image captioning → text eval)</a:t>
            </a:r>
          </a:p>
          <a:p>
            <a:pPr algn="l" lvl="0">
              <a:lnSpc>
                <a:spcPct val="115000"/>
              </a:lnSpc>
              <a:spcBef>
                <a:spcPts val="120"/>
              </a:spcBef>
            </a:pPr>
            <a:r>
              <a:rPr sz="1900" b="0">
                <a:solidFill>
                  <a:srgbClr val="1A1A2E"/>
                </a:solidFill>
                <a:latin typeface="Calibri"/>
              </a:rPr>
              <a:t>• Model-driven evaluation: use AI models to assess AI outputs at scale</a:t>
            </a:r>
          </a:p>
          <a:p>
            <a:pPr algn="l" lvl="0">
              <a:lnSpc>
                <a:spcPct val="115000"/>
              </a:lnSpc>
              <a:spcBef>
                <a:spcPts val="120"/>
              </a:spcBef>
            </a:pPr>
            <a:r>
              <a:rPr sz="1900" b="0">
                <a:solidFill>
                  <a:srgbClr val="1A1A2E"/>
                </a:solidFill>
                <a:latin typeface="Calibri"/>
              </a:rPr>
              <a:t>• But: risks across modalities are qualitatively different, not just text in a new format</a:t>
            </a:r>
          </a:p>
          <a:p>
            <a:pPr algn="l" lvl="0">
              <a:lnSpc>
                <a:spcPct val="115000"/>
              </a:lnSpc>
              <a:spcBef>
                <a:spcPts val="120"/>
              </a:spcBef>
            </a:pPr>
            <a:r>
              <a:rPr sz="1900" b="0">
                <a:solidFill>
                  <a:srgbClr val="1A1A2E"/>
                </a:solidFill>
                <a:latin typeface="Calibri"/>
              </a:rPr>
              <a:t>• Novel evaluation approaches needed for compositional cross-modal risks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Roles &amp; Responsibilities Across Stakeholders</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AI Developers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Conduct evaluations at all three layers</a:t>
            </a:r>
          </a:p>
          <a:p>
            <a:pPr algn="l" lvl="0">
              <a:lnSpc>
                <a:spcPct val="115000"/>
              </a:lnSpc>
              <a:spcBef>
                <a:spcPts val="120"/>
              </a:spcBef>
            </a:pPr>
            <a:r>
              <a:rPr sz="1700" b="0">
                <a:solidFill>
                  <a:srgbClr val="1A1A2E"/>
                </a:solidFill>
                <a:latin typeface="Calibri"/>
              </a:rPr>
              <a:t>• Release evaluation results transparently</a:t>
            </a:r>
          </a:p>
          <a:p>
            <a:pPr algn="l" lvl="0">
              <a:lnSpc>
                <a:spcPct val="115000"/>
              </a:lnSpc>
              <a:spcBef>
                <a:spcPts val="120"/>
              </a:spcBef>
            </a:pPr>
            <a:r>
              <a:rPr sz="1700" b="0">
                <a:solidFill>
                  <a:srgbClr val="1A1A2E"/>
                </a:solidFill>
                <a:latin typeface="Calibri"/>
              </a:rPr>
              <a:t>• Invest in Layer 2 &amp; 3 evaluation infrastructure</a:t>
            </a:r>
          </a:p>
          <a:p>
            <a:pPr algn="l" lvl="0">
              <a:lnSpc>
                <a:spcPct val="115000"/>
              </a:lnSpc>
              <a:spcBef>
                <a:spcPts val="120"/>
              </a:spcBef>
            </a:pPr>
            <a:r>
              <a:rPr sz="1700" b="0">
                <a:solidFill>
                  <a:srgbClr val="1A1A2E"/>
                </a:solidFill>
                <a:latin typeface="Calibri"/>
              </a:rPr>
              <a:t>• Make evaluations routine, not optional</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Policymakers &amp; Civil Society</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Mandate standardized evaluation protocols</a:t>
            </a:r>
          </a:p>
          <a:p>
            <a:pPr algn="l" lvl="0">
              <a:lnSpc>
                <a:spcPct val="115000"/>
              </a:lnSpc>
              <a:spcBef>
                <a:spcPts val="120"/>
              </a:spcBef>
            </a:pPr>
            <a:r>
              <a:rPr sz="1700" b="0">
                <a:solidFill>
                  <a:srgbClr val="1A1A2E"/>
                </a:solidFill>
                <a:latin typeface="Calibri"/>
              </a:rPr>
              <a:t>• Ensure evaluations have real consequences</a:t>
            </a:r>
          </a:p>
          <a:p>
            <a:pPr algn="l" lvl="0">
              <a:lnSpc>
                <a:spcPct val="115000"/>
              </a:lnSpc>
              <a:spcBef>
                <a:spcPts val="120"/>
              </a:spcBef>
            </a:pPr>
            <a:r>
              <a:rPr sz="1700" b="0">
                <a:solidFill>
                  <a:srgbClr val="1A1A2E"/>
                </a:solidFill>
                <a:latin typeface="Calibri"/>
              </a:rPr>
              <a:t>• Fund independent evaluation research</a:t>
            </a:r>
          </a:p>
          <a:p>
            <a:pPr algn="l" lvl="0">
              <a:lnSpc>
                <a:spcPct val="115000"/>
              </a:lnSpc>
              <a:spcBef>
                <a:spcPts val="120"/>
              </a:spcBef>
            </a:pPr>
            <a:r>
              <a:rPr sz="1700" b="0">
                <a:solidFill>
                  <a:srgbClr val="1A1A2E"/>
                </a:solidFill>
                <a:latin typeface="Calibri"/>
              </a:rPr>
              <a:t>• Represent affected communities in evaluation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Critical Analysis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Strengths, limitations, and what the paper leaves open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Strengths of the Paper</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Conceptual Contributions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Bridges safety engineering and AI evaluation</a:t>
            </a:r>
          </a:p>
          <a:p>
            <a:pPr algn="l" lvl="0">
              <a:lnSpc>
                <a:spcPct val="115000"/>
              </a:lnSpc>
              <a:spcBef>
                <a:spcPts val="120"/>
              </a:spcBef>
            </a:pPr>
            <a:r>
              <a:rPr sz="1700" b="0">
                <a:solidFill>
                  <a:srgbClr val="1A1A2E"/>
                </a:solidFill>
                <a:latin typeface="Calibri"/>
              </a:rPr>
              <a:t>• Makes 'sociotechnical' precise, not hand-wavy</a:t>
            </a:r>
          </a:p>
          <a:p>
            <a:pPr algn="l" lvl="0">
              <a:lnSpc>
                <a:spcPct val="115000"/>
              </a:lnSpc>
              <a:spcBef>
                <a:spcPts val="120"/>
              </a:spcBef>
            </a:pPr>
            <a:r>
              <a:rPr sz="1700" b="0">
                <a:solidFill>
                  <a:srgbClr val="1A1A2E"/>
                </a:solidFill>
                <a:latin typeface="Calibri"/>
              </a:rPr>
              <a:t>• Compositional risk as a novel concept</a:t>
            </a:r>
          </a:p>
          <a:p>
            <a:pPr algn="l" lvl="0">
              <a:lnSpc>
                <a:spcPct val="115000"/>
              </a:lnSpc>
              <a:spcBef>
                <a:spcPts val="120"/>
              </a:spcBef>
            </a:pPr>
            <a:r>
              <a:rPr sz="1700" b="0">
                <a:solidFill>
                  <a:srgbClr val="1A1A2E"/>
                </a:solidFill>
                <a:latin typeface="Calibri"/>
              </a:rPr>
              <a:t>• Framework is modality-agnostic and flexible</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Empirical Contributions</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Largest known survey of GenAI safety evals</a:t>
            </a:r>
          </a:p>
          <a:p>
            <a:pPr algn="l" lvl="0">
              <a:lnSpc>
                <a:spcPct val="115000"/>
              </a:lnSpc>
              <a:spcBef>
                <a:spcPts val="120"/>
              </a:spcBef>
            </a:pPr>
            <a:r>
              <a:rPr sz="1700" b="0">
                <a:solidFill>
                  <a:srgbClr val="1A1A2E"/>
                </a:solidFill>
                <a:latin typeface="Calibri"/>
              </a:rPr>
              <a:t>• Publicly released evaluation repository</a:t>
            </a:r>
          </a:p>
          <a:p>
            <a:pPr algn="l" lvl="0">
              <a:lnSpc>
                <a:spcPct val="115000"/>
              </a:lnSpc>
              <a:spcBef>
                <a:spcPts val="120"/>
              </a:spcBef>
            </a:pPr>
            <a:r>
              <a:rPr sz="1700" b="0">
                <a:solidFill>
                  <a:srgbClr val="1A1A2E"/>
                </a:solidFill>
                <a:latin typeface="Calibri"/>
              </a:rPr>
              <a:t>• Quantifies gaps concretely (75% text-only)</a:t>
            </a:r>
          </a:p>
          <a:p>
            <a:pPr algn="l" lvl="0">
              <a:lnSpc>
                <a:spcPct val="115000"/>
              </a:lnSpc>
              <a:spcBef>
                <a:spcPts val="120"/>
              </a:spcBef>
            </a:pPr>
            <a:r>
              <a:rPr sz="1700" b="0">
                <a:solidFill>
                  <a:srgbClr val="1A1A2E"/>
                </a:solidFill>
                <a:latin typeface="Calibri"/>
              </a:rPr>
              <a:t>• Reveals depth illusion (83 evals but narrow)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Limitations &amp; Open Questions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Survey snapshot as of Oct 2023 — rapidly evolving field, already partially outdated</a:t>
            </a:r>
          </a:p>
          <a:p>
            <a:pPr algn="l" lvl="0">
              <a:lnSpc>
                <a:spcPct val="115000"/>
              </a:lnSpc>
              <a:spcBef>
                <a:spcPts val="120"/>
              </a:spcBef>
            </a:pPr>
            <a:r>
              <a:rPr sz="1900" b="0">
                <a:solidFill>
                  <a:srgbClr val="1A1A2E"/>
                </a:solidFill>
                <a:latin typeface="Calibri"/>
              </a:rPr>
              <a:t>• Framework is descriptive, not prescriptive: doesn't specify WHICH evals to run or thresholds</a:t>
            </a:r>
          </a:p>
          <a:p>
            <a:pPr algn="l" lvl="0">
              <a:lnSpc>
                <a:spcPct val="115000"/>
              </a:lnSpc>
              <a:spcBef>
                <a:spcPts val="120"/>
              </a:spcBef>
            </a:pPr>
            <a:r>
              <a:rPr sz="1900" b="0">
                <a:solidFill>
                  <a:srgbClr val="1A1A2E"/>
                </a:solidFill>
                <a:latin typeface="Calibri"/>
              </a:rPr>
              <a:t>• Layer 3 evaluations are acknowledged as difficult but paper offers limited concrete methods</a:t>
            </a:r>
          </a:p>
          <a:p>
            <a:pPr algn="l" lvl="0">
              <a:lnSpc>
                <a:spcPct val="115000"/>
              </a:lnSpc>
              <a:spcBef>
                <a:spcPts val="120"/>
              </a:spcBef>
            </a:pPr>
            <a:r>
              <a:rPr sz="1900" b="0">
                <a:solidFill>
                  <a:srgbClr val="1A1A2E"/>
                </a:solidFill>
                <a:latin typeface="Calibri"/>
              </a:rPr>
              <a:t>• No discussion of resource constraints: who can actually afford three-layer evaluation?</a:t>
            </a:r>
          </a:p>
          <a:p>
            <a:pPr algn="l" lvl="0">
              <a:lnSpc>
                <a:spcPct val="115000"/>
              </a:lnSpc>
              <a:spcBef>
                <a:spcPts val="120"/>
              </a:spcBef>
            </a:pPr>
            <a:r>
              <a:rPr sz="1900" b="0">
                <a:solidFill>
                  <a:srgbClr val="1A1A2E"/>
                </a:solidFill>
                <a:latin typeface="Calibri"/>
              </a:rPr>
              <a:t>• Input modality not coded — misses text-to-image vs. image-to-text distinctions</a:t>
            </a:r>
          </a:p>
          <a:p>
            <a:pPr algn="l" lvl="0">
              <a:lnSpc>
                <a:spcPct val="115000"/>
              </a:lnSpc>
              <a:spcBef>
                <a:spcPts val="120"/>
              </a:spcBef>
            </a:pPr>
            <a:r>
              <a:rPr sz="1900" b="0">
                <a:solidFill>
                  <a:srgbClr val="1A1A2E"/>
                </a:solidFill>
                <a:latin typeface="Calibri"/>
              </a:rPr>
              <a:t>• Authors are all from Google DeepMind — potential conflict of interest in setting eval norms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What the Paper Doesn't Address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No mechanism for resolving disagreements between stakeholders on evaluation priorities</a:t>
            </a:r>
          </a:p>
          <a:p>
            <a:pPr algn="l" lvl="0">
              <a:lnSpc>
                <a:spcPct val="115000"/>
              </a:lnSpc>
              <a:spcBef>
                <a:spcPts val="120"/>
              </a:spcBef>
            </a:pPr>
            <a:r>
              <a:rPr sz="1900" b="0">
                <a:solidFill>
                  <a:srgbClr val="1A1A2E"/>
                </a:solidFill>
                <a:latin typeface="Calibri"/>
              </a:rPr>
              <a:t>• Tension between standardization and context-sensitivity remains unresolved</a:t>
            </a:r>
          </a:p>
          <a:p>
            <a:pPr algn="l" lvl="0">
              <a:lnSpc>
                <a:spcPct val="115000"/>
              </a:lnSpc>
              <a:spcBef>
                <a:spcPts val="120"/>
              </a:spcBef>
            </a:pPr>
            <a:r>
              <a:rPr sz="1900" b="0">
                <a:solidFill>
                  <a:srgbClr val="1A1A2E"/>
                </a:solidFill>
                <a:latin typeface="Calibri"/>
              </a:rPr>
              <a:t>• Feedback loops between layers acknowledged but not formalized or modeled</a:t>
            </a:r>
          </a:p>
          <a:p>
            <a:pPr algn="l" lvl="0">
              <a:lnSpc>
                <a:spcPct val="115000"/>
              </a:lnSpc>
              <a:spcBef>
                <a:spcPts val="120"/>
              </a:spcBef>
            </a:pPr>
            <a:r>
              <a:rPr sz="1900" b="0">
                <a:solidFill>
                  <a:srgbClr val="1A1A2E"/>
                </a:solidFill>
                <a:latin typeface="Calibri"/>
              </a:rPr>
              <a:t>• Power dynamics: who decides what 'safe enough' means? Paper defers this question</a:t>
            </a:r>
          </a:p>
          <a:p>
            <a:pPr algn="l" lvl="0">
              <a:lnSpc>
                <a:spcPct val="115000"/>
              </a:lnSpc>
              <a:spcBef>
                <a:spcPts val="120"/>
              </a:spcBef>
            </a:pPr>
            <a:r>
              <a:rPr sz="1900" b="0">
                <a:solidFill>
                  <a:srgbClr val="1A1A2E"/>
                </a:solidFill>
                <a:latin typeface="Calibri"/>
              </a:rPr>
              <a:t>• No engagement with global South perspectives on harm and evaluation priorities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Discussion: Evaluation as Power</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The paper says evaluation is 'never value-neutral.' Who should get to decide what counts as 'safe enough' for deployment?</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Does a three-layer framework give AI developers cover to delay deployment decisions by claiming they need more evaluation?</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Should Layer 3 evaluations be mandatory before deployment, or is that impractical given the complexity the authors describe?</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How might the framework look different if it were designed by affected communities rather than an AI lab?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Implications &amp; Applications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What this means for the field going forward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AI Developers: Five Imperatives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Evaluations must be developed where they do not yet exist — fund new Layer 2 &amp; 3 methods</a:t>
            </a:r>
          </a:p>
          <a:p>
            <a:pPr algn="l" lvl="0">
              <a:lnSpc>
                <a:spcPct val="115000"/>
              </a:lnSpc>
              <a:spcBef>
                <a:spcPts val="120"/>
              </a:spcBef>
            </a:pPr>
            <a:r>
              <a:rPr sz="1900" b="0">
                <a:solidFill>
                  <a:srgbClr val="1A1A2E"/>
                </a:solidFill>
                <a:latin typeface="Calibri"/>
              </a:rPr>
              <a:t>• 2. Evaluations must be done as a matter of course — not optional, not only before launch</a:t>
            </a:r>
          </a:p>
          <a:p>
            <a:pPr algn="l" lvl="0">
              <a:lnSpc>
                <a:spcPct val="115000"/>
              </a:lnSpc>
              <a:spcBef>
                <a:spcPts val="120"/>
              </a:spcBef>
            </a:pPr>
            <a:r>
              <a:rPr sz="1900" b="0">
                <a:solidFill>
                  <a:srgbClr val="1A1A2E"/>
                </a:solidFill>
                <a:latin typeface="Calibri"/>
              </a:rPr>
              <a:t>• 3. Evaluation must have real consequences — results must influence go/no-go decisions</a:t>
            </a:r>
          </a:p>
          <a:p>
            <a:pPr algn="l" lvl="0">
              <a:lnSpc>
                <a:spcPct val="115000"/>
              </a:lnSpc>
              <a:spcBef>
                <a:spcPts val="120"/>
              </a:spcBef>
            </a:pPr>
            <a:r>
              <a:rPr sz="1900" b="0">
                <a:solidFill>
                  <a:srgbClr val="1A1A2E"/>
                </a:solidFill>
                <a:latin typeface="Calibri"/>
              </a:rPr>
              <a:t>• 4. Evaluations must be done systematically, in standardized ways — enable comparison</a:t>
            </a:r>
          </a:p>
          <a:p>
            <a:pPr algn="l" lvl="0">
              <a:lnSpc>
                <a:spcPct val="115000"/>
              </a:lnSpc>
              <a:spcBef>
                <a:spcPts val="120"/>
              </a:spcBef>
            </a:pPr>
            <a:r>
              <a:rPr sz="1900" b="0">
                <a:solidFill>
                  <a:srgbClr val="1A1A2E"/>
                </a:solidFill>
                <a:latin typeface="Calibri"/>
              </a:rPr>
              <a:t>• 5. Move toward a shared framework for AI safety — cross-organization convergence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Policymakers: Regulation by Evaluation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EU AI Act and NIST AI RMF are moving toward evaluation-based regulation</a:t>
            </a:r>
          </a:p>
          <a:p>
            <a:pPr algn="l" lvl="0">
              <a:lnSpc>
                <a:spcPct val="115000"/>
              </a:lnSpc>
              <a:spcBef>
                <a:spcPts val="120"/>
              </a:spcBef>
            </a:pPr>
            <a:r>
              <a:rPr sz="1900" b="0">
                <a:solidFill>
                  <a:srgbClr val="1A1A2E"/>
                </a:solidFill>
                <a:latin typeface="Calibri"/>
              </a:rPr>
              <a:t>• But regulations need to specify which layers of evaluation are required</a:t>
            </a:r>
          </a:p>
          <a:p>
            <a:pPr algn="l" lvl="0">
              <a:lnSpc>
                <a:spcPct val="115000"/>
              </a:lnSpc>
              <a:spcBef>
                <a:spcPts val="120"/>
              </a:spcBef>
            </a:pPr>
            <a:r>
              <a:rPr sz="1900" b="0">
                <a:solidFill>
                  <a:srgbClr val="1A1A2E"/>
                </a:solidFill>
                <a:latin typeface="Calibri"/>
              </a:rPr>
              <a:t>• Capability-only evaluation mandates will reproduce the context gap</a:t>
            </a:r>
          </a:p>
          <a:p>
            <a:pPr algn="l" lvl="0">
              <a:lnSpc>
                <a:spcPct val="115000"/>
              </a:lnSpc>
              <a:spcBef>
                <a:spcPts val="120"/>
              </a:spcBef>
            </a:pPr>
            <a:r>
              <a:rPr sz="1900" b="0">
                <a:solidFill>
                  <a:srgbClr val="1A1A2E"/>
                </a:solidFill>
                <a:latin typeface="Calibri"/>
              </a:rPr>
              <a:t>• Need funding for independent evaluation infrastructure outside AI labs</a:t>
            </a:r>
          </a:p>
          <a:p>
            <a:pPr algn="l" lvl="0">
              <a:lnSpc>
                <a:spcPct val="115000"/>
              </a:lnSpc>
              <a:spcBef>
                <a:spcPts val="120"/>
              </a:spcBef>
            </a:pPr>
            <a:r>
              <a:rPr sz="1900" b="0">
                <a:solidFill>
                  <a:srgbClr val="1A1A2E"/>
                </a:solidFill>
                <a:latin typeface="Calibri"/>
              </a:rPr>
              <a:t>• Evaluation standards must be updated as modalities and capabilities evolve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Researchers: The Evaluation Research Agenda</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Massive methodological gap in Layer 2 &amp; 3 evaluation methods — high-impact research area</a:t>
            </a:r>
          </a:p>
          <a:p>
            <a:pPr algn="l" lvl="0">
              <a:lnSpc>
                <a:spcPct val="115000"/>
              </a:lnSpc>
              <a:spcBef>
                <a:spcPts val="120"/>
              </a:spcBef>
            </a:pPr>
            <a:r>
              <a:rPr sz="1900" b="0">
                <a:solidFill>
                  <a:srgbClr val="1A1A2E"/>
                </a:solidFill>
                <a:latin typeface="Calibri"/>
              </a:rPr>
              <a:t>• Compositional multimodal risk evaluation is essentially a greenfield research problem</a:t>
            </a:r>
          </a:p>
          <a:p>
            <a:pPr algn="l" lvl="0">
              <a:lnSpc>
                <a:spcPct val="115000"/>
              </a:lnSpc>
              <a:spcBef>
                <a:spcPts val="120"/>
              </a:spcBef>
            </a:pPr>
            <a:r>
              <a:rPr sz="1900" b="0">
                <a:solidFill>
                  <a:srgbClr val="1A1A2E"/>
                </a:solidFill>
                <a:latin typeface="Calibri"/>
              </a:rPr>
              <a:t>• Need validated psychological measures for AI-specific harms (overtrust, overreliance)</a:t>
            </a:r>
          </a:p>
          <a:p>
            <a:pPr algn="l" lvl="0">
              <a:lnSpc>
                <a:spcPct val="115000"/>
              </a:lnSpc>
              <a:spcBef>
                <a:spcPts val="120"/>
              </a:spcBef>
            </a:pPr>
            <a:r>
              <a:rPr sz="1900" b="0">
                <a:solidFill>
                  <a:srgbClr val="1A1A2E"/>
                </a:solidFill>
                <a:latin typeface="Calibri"/>
              </a:rPr>
              <a:t>• Longitudinal study designs needed — most current evals are one-shot snapshots</a:t>
            </a:r>
          </a:p>
          <a:p>
            <a:pPr algn="l" lvl="0">
              <a:lnSpc>
                <a:spcPct val="115000"/>
              </a:lnSpc>
              <a:spcBef>
                <a:spcPts val="120"/>
              </a:spcBef>
            </a:pPr>
            <a:r>
              <a:rPr sz="1900" b="0">
                <a:solidFill>
                  <a:srgbClr val="1A1A2E"/>
                </a:solidFill>
                <a:latin typeface="Calibri"/>
              </a:rPr>
              <a:t>• Cross-disciplinary teams essential: CS + psychology + economics + sociology + policy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Evaluation is never neutral: it rests on interwoven technical and normative decisions, such as deciding what to evaluate in the first place, how to measure it, and what results indicate 'good' AI system performance.</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Weidinger et al. (2023), Section 1</a:t>
            </a:r>
          </a:p>
        </p:txBody>
      </p:sp>
      <p:sp>
        <p:nvSpPr>
          <p:cNvPr id="7" name="TextBox 6"/>
          <p:cNvSpPr txBox="1"/>
          <p:nvPr/>
        </p:nvSpPr>
        <p:spPr>
          <a:xfrm>
            <a:off x="457200" y="6126480"/>
            <a:ext cx="10972800" cy="457200"/>
          </a:xfrm>
          <a:prstGeom prst="rect">
            <a:avLst/>
          </a:prstGeom>
          <a:noFill/>
        </p:spPr>
        <p:txBody>
          <a:bodyPr wrap="square">
            <a:spAutoFit/>
          </a:bodyPr>
          <a:lstStyle/>
          <a:p>
            <a:pPr algn="l"/>
            <a:r>
              <a:rPr sz="1300" b="0" i="0">
                <a:solidFill>
                  <a:srgbClr val="CCCCCC"/>
                </a:solidFill>
                <a:latin typeface="Calibri"/>
              </a:rPr>
              <a:t>The Limits of Evaluation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Common Misconceptions to Avoid</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 'The three layers are sequential steps' → They are simultaneous, parallel targets of analysis</a:t>
            </a:r>
          </a:p>
          <a:p>
            <a:pPr algn="l" lvl="0">
              <a:lnSpc>
                <a:spcPct val="115000"/>
              </a:lnSpc>
              <a:spcBef>
                <a:spcPts val="120"/>
              </a:spcBef>
            </a:pPr>
            <a:r>
              <a:rPr sz="1900" b="0">
                <a:solidFill>
                  <a:srgbClr val="1A1A2E"/>
                </a:solidFill>
                <a:latin typeface="Calibri"/>
              </a:rPr>
              <a:t>• ❌ 'Capability = what the system can do in practice' → It means testing outputs in ISOLATION</a:t>
            </a:r>
          </a:p>
          <a:p>
            <a:pPr algn="l" lvl="0">
              <a:lnSpc>
                <a:spcPct val="115000"/>
              </a:lnSpc>
              <a:spcBef>
                <a:spcPts val="120"/>
              </a:spcBef>
            </a:pPr>
            <a:r>
              <a:rPr sz="1900" b="0">
                <a:solidFill>
                  <a:srgbClr val="1A1A2E"/>
                </a:solidFill>
                <a:latin typeface="Calibri"/>
              </a:rPr>
              <a:t>• ❌ 'Multimodal gap = just adapt text evals for images' → Risks are qualitatively different &amp; compositional</a:t>
            </a:r>
          </a:p>
          <a:p>
            <a:pPr algn="l" lvl="0">
              <a:lnSpc>
                <a:spcPct val="115000"/>
              </a:lnSpc>
              <a:spcBef>
                <a:spcPts val="120"/>
              </a:spcBef>
            </a:pPr>
            <a:r>
              <a:rPr sz="1900" b="0">
                <a:solidFill>
                  <a:srgbClr val="1A1A2E"/>
                </a:solidFill>
                <a:latin typeface="Calibri"/>
              </a:rPr>
              <a:t>• ❌ 'Evaluation is value-neutral if done rigorously' → Normative choices pervade EVERY step</a:t>
            </a:r>
          </a:p>
          <a:p>
            <a:pPr algn="l" lvl="0">
              <a:lnSpc>
                <a:spcPct val="115000"/>
              </a:lnSpc>
              <a:spcBef>
                <a:spcPts val="120"/>
              </a:spcBef>
            </a:pPr>
            <a:r>
              <a:rPr sz="1900" b="0">
                <a:solidFill>
                  <a:srgbClr val="1A1A2E"/>
                </a:solidFill>
                <a:latin typeface="Calibri"/>
              </a:rPr>
              <a:t>• ❌ 'Sociotechnical = involves society + technology' → Precise meaning: social context CO-DETERMINES outcomes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Final Discussion</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Pick a generative AI system you use regularly. What would a Layer 2 evaluation of it look like? What about Layer 3?</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The paper argues evaluation must become 'routine and consequential.' What institutional structures would make this happen?</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Is the sociotechnical approach genuinely tractable, or does it expand the evaluation space to the point of paralysis?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E89C13"/>
                </a:solidFill>
                <a:latin typeface="Calibri"/>
              </a:rPr>
              <a:t>Key Takeaways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Safety evaluation must shift from component testing to sociotechnical systems thinking</a:t>
            </a:r>
          </a:p>
          <a:p>
            <a:pPr algn="l" lvl="0">
              <a:lnSpc>
                <a:spcPct val="115000"/>
              </a:lnSpc>
              <a:spcBef>
                <a:spcPts val="120"/>
              </a:spcBef>
            </a:pPr>
            <a:r>
              <a:rPr sz="1900" b="0">
                <a:solidFill>
                  <a:srgbClr val="1A1A2E"/>
                </a:solidFill>
                <a:latin typeface="Calibri"/>
              </a:rPr>
              <a:t>• Three layers — capability, human interaction, systemic impact — each add essential context</a:t>
            </a:r>
          </a:p>
          <a:p>
            <a:pPr algn="l" lvl="0">
              <a:lnSpc>
                <a:spcPct val="115000"/>
              </a:lnSpc>
              <a:spcBef>
                <a:spcPts val="120"/>
              </a:spcBef>
            </a:pPr>
            <a:r>
              <a:rPr sz="1900" b="0">
                <a:solidFill>
                  <a:srgbClr val="1A1A2E"/>
                </a:solidFill>
                <a:latin typeface="Calibri"/>
              </a:rPr>
              <a:t>• Three gaps — coverage, context (~all evals at Layer 1), multimodal (~75% text-only) — are urgent</a:t>
            </a:r>
          </a:p>
          <a:p>
            <a:pPr algn="l" lvl="0">
              <a:lnSpc>
                <a:spcPct val="115000"/>
              </a:lnSpc>
              <a:spcBef>
                <a:spcPts val="120"/>
              </a:spcBef>
            </a:pPr>
            <a:r>
              <a:rPr sz="1900" b="0">
                <a:solidFill>
                  <a:srgbClr val="1A1A2E"/>
                </a:solidFill>
                <a:latin typeface="Calibri"/>
              </a:rPr>
              <a:t>• Compositional risks across modalities require fundamentally new evaluation approaches</a:t>
            </a:r>
          </a:p>
          <a:p>
            <a:pPr algn="l" lvl="0">
              <a:lnSpc>
                <a:spcPct val="115000"/>
              </a:lnSpc>
              <a:spcBef>
                <a:spcPts val="120"/>
              </a:spcBef>
            </a:pPr>
            <a:r>
              <a:rPr sz="1900" b="0">
                <a:solidFill>
                  <a:srgbClr val="1A1A2E"/>
                </a:solidFill>
                <a:latin typeface="Calibri"/>
              </a:rPr>
              <a:t>• Evaluation is inherently value-laden: normative transparency strengthens, not weakens, the enterprise</a:t>
            </a:r>
          </a:p>
          <a:p>
            <a:pPr algn="l" lvl="0">
              <a:lnSpc>
                <a:spcPct val="115000"/>
              </a:lnSpc>
              <a:spcBef>
                <a:spcPts val="120"/>
              </a:spcBef>
            </a:pPr>
            <a:r>
              <a:rPr sz="1900" b="0">
                <a:solidFill>
                  <a:srgbClr val="1A1A2E"/>
                </a:solidFill>
                <a:latin typeface="Calibri"/>
              </a:rPr>
              <a:t>• Closing gaps requires coordinated action from developers, policymakers, civil society, and researchers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371600"/>
          </a:xfrm>
          <a:prstGeom prst="rect">
            <a:avLst/>
          </a:prstGeom>
          <a:noFill/>
        </p:spPr>
        <p:txBody>
          <a:bodyPr wrap="square">
            <a:spAutoFit/>
          </a:bodyPr>
          <a:lstStyle/>
          <a:p>
            <a:pPr algn="l"/>
            <a:r>
              <a:rPr sz="4800" b="1" i="0">
                <a:solidFill>
                  <a:srgbClr val="FFFFFF"/>
                </a:solidFill>
                <a:latin typeface="Calibri"/>
              </a:rPr>
              <a:t>Thank You — Questions?</a:t>
            </a:r>
          </a:p>
        </p:txBody>
      </p:sp>
      <p:sp>
        <p:nvSpPr>
          <p:cNvPr id="4" name="TextBox 3"/>
          <p:cNvSpPr txBox="1"/>
          <p:nvPr/>
        </p:nvSpPr>
        <p:spPr>
          <a:xfrm>
            <a:off x="548640" y="3474720"/>
            <a:ext cx="10058400" cy="731520"/>
          </a:xfrm>
          <a:prstGeom prst="rect">
            <a:avLst/>
          </a:prstGeom>
          <a:noFill/>
        </p:spPr>
        <p:txBody>
          <a:bodyPr wrap="square">
            <a:spAutoFit/>
          </a:bodyPr>
          <a:lstStyle/>
          <a:p>
            <a:pPr algn="l"/>
            <a:r>
              <a:rPr sz="2200" b="0" i="0">
                <a:solidFill>
                  <a:srgbClr val="16857B"/>
                </a:solidFill>
                <a:latin typeface="Calibri"/>
              </a:rPr>
              <a:t>Next week: [Topic TBD] | Paper repository: linked on course site</a:t>
            </a:r>
          </a:p>
        </p:txBody>
      </p:sp>
      <p:sp>
        <p:nvSpPr>
          <p:cNvPr id="5" name="Rectangle 4"/>
          <p:cNvSpPr/>
          <p:nvPr/>
        </p:nvSpPr>
        <p:spPr>
          <a:xfrm>
            <a:off x="548640" y="4389120"/>
            <a:ext cx="45720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