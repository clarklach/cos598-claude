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dive into the AI Now Institute's 2025 landscape report, 'Artificial Power.' This is a sweeping critical analysis arguing that the central issue around AI is not product utility but corporate power consolidation.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frame our entire session. By the end, you should be able to not only summarize the report but critically interrogate its arguments and apply its framework to current events.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briskly through context and spend the bulk of our time on the framework, evidence, and critical analysis. I'll pause for discussion twice during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we are in a moment where tech oligarchs have direct political power. The report argues this is not coincidental but the logical outcome of the AI industry's trajectory over the past decade.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is crucial. The report builds on AI Now's 2023 findings to show that two years later, the promised disruption never materialized. The bench of key players barely 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to position this: AI Now is not a neutral technical benchmarking outfit. They are an advocacy-research institute with a clear critical lens. This is a strength for policy relevance but also means we should read with an eye toward what evidence they marshal.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report's thesis in one sentence. Emphasize the rhetorical move: they are not saying AI is useless. They are saying 'Is this product useful?' is the wrong question entirely. The right question is about the ecosystem of corporate power.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paradigm-level argument. Most public discourse asks 'Does this AI tool work well?' The report insists we ask 'Who controls this technology and who benefits from its deployment at scale?' This reframing is the report's most important intellectual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title 'Artificial Power' is deliberately paradoxical. The power is simultaneously real—deployed systems cause harm, oligarchs reshape policy—and artificial, meaning inflated and contingent. Both can be true at once, and the report argues we must contend with both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narrative. The key insight is that these are not descriptions of reality but strategic devices. AGI justifies unlimited investment. Too-big-to-fail secures government subsidies. The arms race blocks regulation. And the anti-innovation frame delegitimizes oversight. They work together as a mutually reinforcing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AGI narrative is perhaps the most powerful of the four. It functions as what the report calls 'the argument to end all arguments'—if superintelligence is around the corner, then unlimited spending, deregulation, and corporate autonomy all seem justified. The report challenges whether AGI is a coherent technical concept at 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moves from framing to organizing to regulation to coalition-building to vision. Note how point 5 explicitly rejects the premise that large-scale AI is inevitable—this is a direct counter to the industry narratives discussed earlier. Point 3's 'zero trust' means do not let the industry grade its own homework.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staggering. Emphasize the scale: OpenAI's $5 billion loss is roughly the GDP of a small country. The 60:1 loss-to-valuation ratio for OpenAI has no precedent even in tech. The report's claim that 'no profitable use cases exist' is their strongest empirical provocation—push students to consider whether this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insight. OpenAI and Anthropic look like competitors to Big Tech but are structurally dependent on them for both investment and infrastructure. Every API call generates cloud revenue for Microsoft or Amazon. The 'challenger' narrative is misleading—these are extensions, not disruptors, of incumbent power.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report's empirical backbone—over a decade of documented evidence. The hiring system example is especially vivid: applicants are rejected by AI in early stages and have no idea it happened or why. This lack of transparency is not a bug but a design decision. Laws could mandate transparency, bias evaluation, or even pre-market approval for such systems.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captures the report's empirical verdict. Emphasize the contrast with 'whiz-bang demos and bold Davos proclamations.' The report argues there is a systematic asymmetry: speculative future benefits are loudly promoted while documented present harms are concrete, immediate, and growing.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'Heads I Win, Tails You Lose' framing is powerful. Even if the AI bubble bursts, Big Tech has already secured massive infrastructure buildout, government contracts, and market entrenchment. The financial risk has been shifted to taxpayers and smaller firms. Cloud providers profit whether or not the AI products built on their platforms succeed.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solutionism is more precise than generic tech optimism. The report argues AI is used specifically to obscure structural causes of institutional failure—austerity, concentration, underfunding—by rebranding cuts as 'efficiency.' The DOGE example is timely and politically salient for students.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3-4 minutes. Push them on the tension: if AI really is a bubble with no profitable use cases, why is the report also arguing it is an urgent threat? The answer lies in the dual meaning of 'Artificial Power'—the harm is real even if the transformative potential is overstated.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greatest strength is its reframing move. By shifting from 'Is this tool useful?' to 'Does this ecosystem serve the public?', it opens analytical space that product-level evaluation closes. The financial data—OpenAI's $5B loss, Anthropic's $5.6B burn—adds empirical teeth.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fair to the counterarguments. Microsoft's GitHub Copilot reportedly generates meaningful revenue. Google's AI-enhanced search drives ad engagement. The report's claim of 'no profitable use cases' is strongest if interpreted as 'no standalone profitable AI products,' but even that is debatable. Also note: the roadmap assumes democratic institutions capable of acting, which is itself under threat.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is strongest on US-centric political economy and weakest on global perspectives and technical trajectories. It also leaves open the hard question of what 'public-centered innovation' actually looks like in practice. These are productive areas for future research and student projects.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critical engagement. The strongest version of a critique is one that takes the argument seriously. Push students on falsifiability: if OpenAI achieved profitability and reduced prices, would the power consolidation argument still hold? The answer is probably yes, which tells us something about the nature of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'zero trust' concept is borrowed from cybersecurity language but means something different here: assume AI companies will not self-regulate honestly, and design policy accordingly. Bright-line rules are the opposite of risk-based frameworks—they say certain things are simply not allowed regardless of claimed benefits. Pre-market approval would be revolutionary for AI.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directly relevant to COS598 students. If the report is right, then even well-intentioned AI research can serve consolidation if it accepts industry premises uncritically. The call for independent evaluation is key—currently, AI companies largely benchmark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is unusual among AI policy documents in centering labor. It argues that workers have a unique form of power—they can refuse, organize, and collectively bargain over AI deployment. The deeper ambition is not just workplace-level bargaining but redirecting the entire technology sector's trajectory.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carefully. The most common student confusion is reading the report as a blanket anti-technology screed. It is not. It is a structural power analysis that is agnostic about individual products and focused on the ecosystem. The dual meaning of 'Artificial Power'—real AND inflated—is the hardest concept to hold in mind.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discussion should be generative. The last question is the deepest: is there something about AI's technical requirements (massive compute, massive data) that inherently produces concentration, or is concentration a policy choice? The report implies the latter, but the massive capital requirements suggest the former may also be true.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dual character of 'Artificial Power': the power is real in its harms but inflated in its promises, and therefore vulnerable to democratic disruption. Students should leave understanding that the report's deepest contribution is the reframing—from products to power.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remaining questions. Remind students that the next class will build on this reading. Encourage them to read at least one of the report's full chapters—especially Chapter 3 ('Consulting the Record')—for richer empirical detail beyond the executive summary.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457200"/>
          </a:xfrm>
          <a:prstGeom prst="rect">
            <a:avLst/>
          </a:prstGeom>
          <a:noFill/>
        </p:spPr>
        <p:txBody>
          <a:bodyPr wrap="square">
            <a:spAutoFit/>
          </a:bodyPr>
          <a:lstStyle/>
          <a:p>
            <a:pPr algn="l"/>
            <a:r>
              <a:rPr sz="1400" b="0" i="0">
                <a:solidFill>
                  <a:srgbClr val="16857B"/>
                </a:solidFill>
                <a:latin typeface="Calibri"/>
              </a:rPr>
              <a:t>COS598</a:t>
            </a:r>
          </a:p>
        </p:txBody>
      </p:sp>
      <p:sp>
        <p:nvSpPr>
          <p:cNvPr id="4" name="TextBox 3"/>
          <p:cNvSpPr txBox="1"/>
          <p:nvPr/>
        </p:nvSpPr>
        <p:spPr>
          <a:xfrm>
            <a:off x="548640" y="1280160"/>
            <a:ext cx="10972800" cy="2560320"/>
          </a:xfrm>
          <a:prstGeom prst="rect">
            <a:avLst/>
          </a:prstGeom>
          <a:noFill/>
        </p:spPr>
        <p:txBody>
          <a:bodyPr wrap="square">
            <a:spAutoFit/>
          </a:bodyPr>
          <a:lstStyle/>
          <a:p>
            <a:pPr algn="l"/>
            <a:r>
              <a:rPr sz="3400" b="1" i="0">
                <a:solidFill>
                  <a:srgbClr val="FFFFFF"/>
                </a:solidFill>
                <a:latin typeface="Calibri"/>
              </a:rPr>
              <a:t>Artificial Power: AI Now 2025 Report</a:t>
            </a:r>
          </a:p>
        </p:txBody>
      </p:sp>
      <p:sp>
        <p:nvSpPr>
          <p:cNvPr id="5" name="TextBox 4"/>
          <p:cNvSpPr txBox="1"/>
          <p:nvPr/>
        </p:nvSpPr>
        <p:spPr>
          <a:xfrm>
            <a:off x="548640" y="4023360"/>
            <a:ext cx="10972800" cy="640080"/>
          </a:xfrm>
          <a:prstGeom prst="rect">
            <a:avLst/>
          </a:prstGeom>
          <a:noFill/>
        </p:spPr>
        <p:txBody>
          <a:bodyPr wrap="square">
            <a:spAutoFit/>
          </a:bodyPr>
          <a:lstStyle/>
          <a:p>
            <a:pPr algn="l"/>
            <a:r>
              <a:rPr sz="2000" b="0" i="0">
                <a:solidFill>
                  <a:srgbClr val="CCCCCC"/>
                </a:solidFill>
                <a:latin typeface="Calibri"/>
              </a:rPr>
              <a:t>COS598 — AI, Power, and the Public Interest</a:t>
            </a:r>
          </a:p>
        </p:txBody>
      </p:sp>
      <p:sp>
        <p:nvSpPr>
          <p:cNvPr id="6" name="Rectangle 5"/>
          <p:cNvSpPr/>
          <p:nvPr/>
        </p:nvSpPr>
        <p:spPr>
          <a:xfrm>
            <a:off x="548640" y="4846320"/>
            <a:ext cx="7315200" cy="36576"/>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Learning Objectives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Articulate the report's core thesis: AI as a vehicle for Big Tech power consolidation</a:t>
            </a:r>
          </a:p>
          <a:p>
            <a:pPr algn="l" lvl="0">
              <a:lnSpc>
                <a:spcPct val="115000"/>
              </a:lnSpc>
              <a:spcBef>
                <a:spcPts val="120"/>
              </a:spcBef>
            </a:pPr>
            <a:r>
              <a:rPr sz="1900" b="0">
                <a:solidFill>
                  <a:srgbClr val="1A1A2E"/>
                </a:solidFill>
                <a:latin typeface="Calibri"/>
              </a:rPr>
              <a:t>• Analyze the structural dependencies between AI startups and Big Tech incumbents</a:t>
            </a:r>
          </a:p>
          <a:p>
            <a:pPr algn="l" lvl="0">
              <a:lnSpc>
                <a:spcPct val="115000"/>
              </a:lnSpc>
              <a:spcBef>
                <a:spcPts val="120"/>
              </a:spcBef>
            </a:pPr>
            <a:r>
              <a:rPr sz="1900" b="0">
                <a:solidFill>
                  <a:srgbClr val="1A1A2E"/>
                </a:solidFill>
                <a:latin typeface="Calibri"/>
              </a:rPr>
              <a:t>• Evaluate the report's evidence on deployed AI harms vs. speculative benefits</a:t>
            </a:r>
          </a:p>
          <a:p>
            <a:pPr algn="l" lvl="0">
              <a:lnSpc>
                <a:spcPct val="115000"/>
              </a:lnSpc>
              <a:spcBef>
                <a:spcPts val="120"/>
              </a:spcBef>
            </a:pPr>
            <a:r>
              <a:rPr sz="1900" b="0">
                <a:solidFill>
                  <a:srgbClr val="1A1A2E"/>
                </a:solidFill>
                <a:latin typeface="Calibri"/>
              </a:rPr>
              <a:t>• Identify and critique four dominant industry narratives as strategic devices</a:t>
            </a:r>
          </a:p>
          <a:p>
            <a:pPr algn="l" lvl="0">
              <a:lnSpc>
                <a:spcPct val="115000"/>
              </a:lnSpc>
              <a:spcBef>
                <a:spcPts val="120"/>
              </a:spcBef>
            </a:pPr>
            <a:r>
              <a:rPr sz="1900" b="0">
                <a:solidFill>
                  <a:srgbClr val="1A1A2E"/>
                </a:solidFill>
                <a:latin typeface="Calibri"/>
              </a:rPr>
              <a:t>• Assess the five-point roadmap and its feasibility for democratic intervention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Lecture Roadmap</a:t>
            </a:r>
          </a:p>
        </p:txBody>
      </p:sp>
      <p:sp>
        <p:nvSpPr>
          <p:cNvPr id="5" name="TextBox 4"/>
          <p:cNvSpPr txBox="1"/>
          <p:nvPr/>
        </p:nvSpPr>
        <p:spPr>
          <a:xfrm>
            <a:off x="45720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Context &amp; Motivation: Why this report, why now (5 min)</a:t>
            </a:r>
          </a:p>
          <a:p>
            <a:pPr algn="l" lvl="0">
              <a:lnSpc>
                <a:spcPct val="115000"/>
              </a:lnSpc>
              <a:spcBef>
                <a:spcPts val="120"/>
              </a:spcBef>
            </a:pPr>
            <a:r>
              <a:rPr sz="1900" b="0">
                <a:solidFill>
                  <a:srgbClr val="1A1A2E"/>
                </a:solidFill>
                <a:latin typeface="Calibri"/>
              </a:rPr>
              <a:t>• Core Framework: The 'Artificial Power' thesis (12 min)</a:t>
            </a:r>
          </a:p>
          <a:p>
            <a:pPr algn="l" lvl="0">
              <a:lnSpc>
                <a:spcPct val="115000"/>
              </a:lnSpc>
              <a:spcBef>
                <a:spcPts val="120"/>
              </a:spcBef>
            </a:pPr>
            <a:r>
              <a:rPr sz="1900" b="0">
                <a:solidFill>
                  <a:srgbClr val="1A1A2E"/>
                </a:solidFill>
                <a:latin typeface="Calibri"/>
              </a:rPr>
              <a:t>• Key Findings &amp; Evidence: Data, cases, and the record (12 min)</a:t>
            </a:r>
          </a:p>
        </p:txBody>
      </p:sp>
      <p:sp>
        <p:nvSpPr>
          <p:cNvPr id="6" name="TextBox 5"/>
          <p:cNvSpPr txBox="1"/>
          <p:nvPr/>
        </p:nvSpPr>
        <p:spPr>
          <a:xfrm>
            <a:off x="621792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Critical Analysis: Strengths, limitations, gaps (8 min)</a:t>
            </a:r>
          </a:p>
          <a:p>
            <a:pPr algn="l" lvl="0">
              <a:lnSpc>
                <a:spcPct val="115000"/>
              </a:lnSpc>
              <a:spcBef>
                <a:spcPts val="120"/>
              </a:spcBef>
            </a:pPr>
            <a:r>
              <a:rPr sz="1900" b="0">
                <a:solidFill>
                  <a:srgbClr val="1A1A2E"/>
                </a:solidFill>
                <a:latin typeface="Calibri"/>
              </a:rPr>
              <a:t>• Implications &amp; Applications: Policy, research, labor (8 min)</a:t>
            </a:r>
          </a:p>
          <a:p>
            <a:pPr algn="l" lvl="0">
              <a:lnSpc>
                <a:spcPct val="115000"/>
              </a:lnSpc>
              <a:spcBef>
                <a:spcPts val="120"/>
              </a:spcBef>
            </a:pPr>
            <a:r>
              <a:rPr sz="1900" b="0">
                <a:solidFill>
                  <a:srgbClr val="1A1A2E"/>
                </a:solidFill>
                <a:latin typeface="Calibri"/>
              </a:rPr>
              <a:t>• Discussion &amp; Takeaways (5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Context &amp; Motivation</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Why this report matters 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Political Moment: AI &amp; Oligarchy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Tech CEOs occupy unprecedented political positions post-2024 election</a:t>
            </a:r>
          </a:p>
          <a:p>
            <a:pPr algn="l" lvl="0">
              <a:lnSpc>
                <a:spcPct val="115000"/>
              </a:lnSpc>
              <a:spcBef>
                <a:spcPts val="120"/>
              </a:spcBef>
            </a:pPr>
            <a:r>
              <a:rPr sz="1900" b="0">
                <a:solidFill>
                  <a:srgbClr val="1A1A2E"/>
                </a:solidFill>
                <a:latin typeface="Calibri"/>
              </a:rPr>
              <a:t>• DOGE initiative uses 'AI efficiency' rhetoric to restructure federal government</a:t>
            </a:r>
          </a:p>
          <a:p>
            <a:pPr algn="l" lvl="0">
              <a:lnSpc>
                <a:spcPct val="115000"/>
              </a:lnSpc>
              <a:spcBef>
                <a:spcPts val="120"/>
              </a:spcBef>
            </a:pPr>
            <a:r>
              <a:rPr sz="1900" b="0">
                <a:solidFill>
                  <a:srgbClr val="1A1A2E"/>
                </a:solidFill>
                <a:latin typeface="Calibri"/>
              </a:rPr>
              <a:t>• Data center buildout redirecting energy infrastructure away from public needs</a:t>
            </a:r>
          </a:p>
          <a:p>
            <a:pPr algn="l" lvl="0">
              <a:lnSpc>
                <a:spcPct val="115000"/>
              </a:lnSpc>
              <a:spcBef>
                <a:spcPts val="120"/>
              </a:spcBef>
            </a:pPr>
            <a:r>
              <a:rPr sz="1900" b="0">
                <a:solidFill>
                  <a:srgbClr val="1A1A2E"/>
                </a:solidFill>
                <a:latin typeface="Calibri"/>
              </a:rPr>
              <a:t>• AI companies pursuing military and carceral contracts to stabilize revenue</a:t>
            </a:r>
          </a:p>
          <a:p>
            <a:pPr algn="l" lvl="0">
              <a:lnSpc>
                <a:spcPct val="115000"/>
              </a:lnSpc>
              <a:spcBef>
                <a:spcPts val="120"/>
              </a:spcBef>
            </a:pPr>
            <a:r>
              <a:rPr sz="1900" b="0">
                <a:solidFill>
                  <a:srgbClr val="1A1A2E"/>
                </a:solidFill>
                <a:latin typeface="Calibri"/>
              </a:rPr>
              <a:t>• Public discourse fixates on 'Is ChatGPT good?' instead of structural questions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AI Market: 2023 vs. 2025</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2023 Expectations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New challengers: OpenAI, Anthropic, StabilityAI, Inflection AI</a:t>
            </a:r>
          </a:p>
          <a:p>
            <a:pPr algn="l" lvl="0">
              <a:lnSpc>
                <a:spcPct val="115000"/>
              </a:lnSpc>
              <a:spcBef>
                <a:spcPts val="120"/>
              </a:spcBef>
            </a:pPr>
            <a:r>
              <a:rPr sz="1700" b="0">
                <a:solidFill>
                  <a:srgbClr val="1A1A2E"/>
                </a:solidFill>
                <a:latin typeface="Calibri"/>
              </a:rPr>
              <a:t>• Potential market disruption anticipated</a:t>
            </a:r>
          </a:p>
          <a:p>
            <a:pPr algn="l" lvl="0">
              <a:lnSpc>
                <a:spcPct val="115000"/>
              </a:lnSpc>
              <a:spcBef>
                <a:spcPts val="120"/>
              </a:spcBef>
            </a:pPr>
            <a:r>
              <a:rPr sz="1700" b="0">
                <a:solidFill>
                  <a:srgbClr val="1A1A2E"/>
                </a:solidFill>
                <a:latin typeface="Calibri"/>
              </a:rPr>
              <a:t>• LLMs seen as democratizing force</a:t>
            </a:r>
          </a:p>
          <a:p>
            <a:pPr algn="l" lvl="0">
              <a:lnSpc>
                <a:spcPct val="115000"/>
              </a:lnSpc>
              <a:spcBef>
                <a:spcPts val="120"/>
              </a:spcBef>
            </a:pPr>
            <a:r>
              <a:rPr sz="1700" b="0">
                <a:solidFill>
                  <a:srgbClr val="1A1A2E"/>
                </a:solidFill>
                <a:latin typeface="Calibri"/>
              </a:rPr>
              <a:t>• Startup ecosystem appeared vibrant</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2025 Reality</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Same key players: Microsoft, Google, Meta, Amazon</a:t>
            </a:r>
          </a:p>
          <a:p>
            <a:pPr algn="l" lvl="0">
              <a:lnSpc>
                <a:spcPct val="115000"/>
              </a:lnSpc>
              <a:spcBef>
                <a:spcPts val="120"/>
              </a:spcBef>
            </a:pPr>
            <a:r>
              <a:rPr sz="1700" b="0">
                <a:solidFill>
                  <a:srgbClr val="1A1A2E"/>
                </a:solidFill>
                <a:latin typeface="Calibri"/>
              </a:rPr>
              <a:t>• Incumbents absorbed or backed 'challengers'</a:t>
            </a:r>
          </a:p>
          <a:p>
            <a:pPr algn="l" lvl="0">
              <a:lnSpc>
                <a:spcPct val="115000"/>
              </a:lnSpc>
              <a:spcBef>
                <a:spcPts val="120"/>
              </a:spcBef>
            </a:pPr>
            <a:r>
              <a:rPr sz="1700" b="0">
                <a:solidFill>
                  <a:srgbClr val="1A1A2E"/>
                </a:solidFill>
                <a:latin typeface="Calibri"/>
              </a:rPr>
              <a:t>• Massive capital requirements entrench oligopoly</a:t>
            </a:r>
          </a:p>
          <a:p>
            <a:pPr algn="l" lvl="0">
              <a:lnSpc>
                <a:spcPct val="115000"/>
              </a:lnSpc>
              <a:spcBef>
                <a:spcPts val="120"/>
              </a:spcBef>
            </a:pPr>
            <a:r>
              <a:rPr sz="1700" b="0">
                <a:solidFill>
                  <a:srgbClr val="1A1A2E"/>
                </a:solidFill>
                <a:latin typeface="Calibri"/>
              </a:rPr>
              <a:t>• StabilityAI collapsed; Inflection AI acqui-hired by Microsoft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AI Now Institute: A Decade of Research</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Founded 2017 at NYU; interdisciplinary research on AI's social implications</a:t>
            </a:r>
          </a:p>
          <a:p>
            <a:pPr algn="l" lvl="0">
              <a:lnSpc>
                <a:spcPct val="115000"/>
              </a:lnSpc>
              <a:spcBef>
                <a:spcPts val="120"/>
              </a:spcBef>
            </a:pPr>
            <a:r>
              <a:rPr sz="1900" b="0">
                <a:solidFill>
                  <a:srgbClr val="1A1A2E"/>
                </a:solidFill>
                <a:latin typeface="Calibri"/>
              </a:rPr>
              <a:t>• Publishes annual landscape reports tracking industry power and harms</a:t>
            </a:r>
          </a:p>
          <a:p>
            <a:pPr algn="l" lvl="0">
              <a:lnSpc>
                <a:spcPct val="115000"/>
              </a:lnSpc>
              <a:spcBef>
                <a:spcPts val="120"/>
              </a:spcBef>
            </a:pPr>
            <a:r>
              <a:rPr sz="1900" b="0">
                <a:solidFill>
                  <a:srgbClr val="1A1A2E"/>
                </a:solidFill>
                <a:latin typeface="Calibri"/>
              </a:rPr>
              <a:t>• 2023 report first argued AI is 'fundamentally about concentration of power'</a:t>
            </a:r>
          </a:p>
          <a:p>
            <a:pPr algn="l" lvl="0">
              <a:lnSpc>
                <a:spcPct val="115000"/>
              </a:lnSpc>
              <a:spcBef>
                <a:spcPts val="120"/>
              </a:spcBef>
            </a:pPr>
            <a:r>
              <a:rPr sz="1900" b="0">
                <a:solidFill>
                  <a:srgbClr val="1A1A2E"/>
                </a:solidFill>
                <a:latin typeface="Calibri"/>
              </a:rPr>
              <a:t>• 2025 report builds on that thesis with updated evidence and sharper framing</a:t>
            </a:r>
          </a:p>
          <a:p>
            <a:pPr algn="l" lvl="0">
              <a:lnSpc>
                <a:spcPct val="115000"/>
              </a:lnSpc>
              <a:spcBef>
                <a:spcPts val="120"/>
              </a:spcBef>
            </a:pPr>
            <a:r>
              <a:rPr sz="1900" b="0">
                <a:solidFill>
                  <a:srgbClr val="1A1A2E"/>
                </a:solidFill>
                <a:latin typeface="Calibri"/>
              </a:rPr>
              <a:t>• Advocacy-oriented: explicitly aims to inform policy and public debate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The Central Argument</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Power, not progress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The question we should be asking is not if ChatGPT is useful or not, but if OpenAI's unaccountable power, linked to Microsoft's monopoly and the business model of the tech economy, is good for society.</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AI Now Institute, Artificial Power (2025), Executive Summary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Reframing the AI Debate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Report rejects product-level evaluation as the primary lens for AI</a:t>
            </a:r>
          </a:p>
          <a:p>
            <a:pPr algn="l" lvl="0">
              <a:lnSpc>
                <a:spcPct val="115000"/>
              </a:lnSpc>
              <a:spcBef>
                <a:spcPts val="120"/>
              </a:spcBef>
            </a:pPr>
            <a:r>
              <a:rPr sz="1900" b="0">
                <a:solidFill>
                  <a:srgbClr val="1A1A2E"/>
                </a:solidFill>
                <a:latin typeface="Calibri"/>
              </a:rPr>
              <a:t>• Core frame: AI is a vehicle for consolidating Big Tech dominance</a:t>
            </a:r>
          </a:p>
          <a:p>
            <a:pPr algn="l" lvl="0">
              <a:lnSpc>
                <a:spcPct val="115000"/>
              </a:lnSpc>
              <a:spcBef>
                <a:spcPts val="120"/>
              </a:spcBef>
            </a:pPr>
            <a:r>
              <a:rPr sz="1900" b="0">
                <a:solidFill>
                  <a:srgbClr val="1A1A2E"/>
                </a:solidFill>
                <a:latin typeface="Calibri"/>
              </a:rPr>
              <a:t>• Dominance extends across markets, institutions, and public infrastructure</a:t>
            </a:r>
          </a:p>
          <a:p>
            <a:pPr algn="l" lvl="0">
              <a:lnSpc>
                <a:spcPct val="115000"/>
              </a:lnSpc>
              <a:spcBef>
                <a:spcPts val="120"/>
              </a:spcBef>
            </a:pPr>
            <a:r>
              <a:rPr sz="1900" b="0">
                <a:solidFill>
                  <a:srgbClr val="1A1A2E"/>
                </a:solidFill>
                <a:latin typeface="Calibri"/>
              </a:rPr>
              <a:t>• Individual product utility is a distraction from systemic power analysis</a:t>
            </a:r>
          </a:p>
          <a:p>
            <a:pPr algn="l" lvl="0">
              <a:lnSpc>
                <a:spcPct val="115000"/>
              </a:lnSpc>
              <a:spcBef>
                <a:spcPts val="120"/>
              </a:spcBef>
            </a:pPr>
            <a:r>
              <a:rPr sz="1900" b="0">
                <a:solidFill>
                  <a:srgbClr val="1A1A2E"/>
                </a:solidFill>
                <a:latin typeface="Calibri"/>
              </a:rPr>
              <a:t>• Parallels to earlier platform debates (social media, search, e-commerce)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Dual Meaning of 'Artificial Power'</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Power That Is Real</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Deployed AI systems cause material harm now</a:t>
            </a:r>
          </a:p>
          <a:p>
            <a:pPr algn="l" lvl="0">
              <a:lnSpc>
                <a:spcPct val="115000"/>
              </a:lnSpc>
              <a:spcBef>
                <a:spcPts val="120"/>
              </a:spcBef>
            </a:pPr>
            <a:r>
              <a:rPr sz="1700" b="0">
                <a:solidFill>
                  <a:srgbClr val="1A1A2E"/>
                </a:solidFill>
                <a:latin typeface="Calibri"/>
              </a:rPr>
              <a:t>• Hiring, immigration, benefits systems already automated</a:t>
            </a:r>
          </a:p>
          <a:p>
            <a:pPr algn="l" lvl="0">
              <a:lnSpc>
                <a:spcPct val="115000"/>
              </a:lnSpc>
              <a:spcBef>
                <a:spcPts val="120"/>
              </a:spcBef>
            </a:pPr>
            <a:r>
              <a:rPr sz="1700" b="0">
                <a:solidFill>
                  <a:srgbClr val="1A1A2E"/>
                </a:solidFill>
                <a:latin typeface="Calibri"/>
              </a:rPr>
              <a:t>• Tech oligarchs hold direct political influence</a:t>
            </a:r>
          </a:p>
          <a:p>
            <a:pPr algn="l" lvl="0">
              <a:lnSpc>
                <a:spcPct val="115000"/>
              </a:lnSpc>
              <a:spcBef>
                <a:spcPts val="120"/>
              </a:spcBef>
            </a:pPr>
            <a:r>
              <a:rPr sz="1700" b="0">
                <a:solidFill>
                  <a:srgbClr val="1A1A2E"/>
                </a:solidFill>
                <a:latin typeface="Calibri"/>
              </a:rPr>
              <a:t>• Infrastructure lock-in via cloud and data centers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Power That Is Inflated</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AI valuations wildly exceed revenue reality</a:t>
            </a:r>
          </a:p>
          <a:p>
            <a:pPr algn="l" lvl="0">
              <a:lnSpc>
                <a:spcPct val="115000"/>
              </a:lnSpc>
              <a:spcBef>
                <a:spcPts val="120"/>
              </a:spcBef>
            </a:pPr>
            <a:r>
              <a:rPr sz="1700" b="0">
                <a:solidFill>
                  <a:srgbClr val="1A1A2E"/>
                </a:solidFill>
                <a:latin typeface="Calibri"/>
              </a:rPr>
              <a:t>• No profitable use cases exist or are on the horizon</a:t>
            </a:r>
          </a:p>
          <a:p>
            <a:pPr algn="l" lvl="0">
              <a:lnSpc>
                <a:spcPct val="115000"/>
              </a:lnSpc>
              <a:spcBef>
                <a:spcPts val="120"/>
              </a:spcBef>
            </a:pPr>
            <a:r>
              <a:rPr sz="1700" b="0">
                <a:solidFill>
                  <a:srgbClr val="1A1A2E"/>
                </a:solidFill>
                <a:latin typeface="Calibri"/>
              </a:rPr>
              <a:t>• AGI claims are speculative, not scientific</a:t>
            </a:r>
          </a:p>
          <a:p>
            <a:pPr algn="l" lvl="0">
              <a:lnSpc>
                <a:spcPct val="115000"/>
              </a:lnSpc>
              <a:spcBef>
                <a:spcPts val="120"/>
              </a:spcBef>
            </a:pPr>
            <a:r>
              <a:rPr sz="1700" b="0">
                <a:solidFill>
                  <a:srgbClr val="1A1A2E"/>
                </a:solidFill>
                <a:latin typeface="Calibri"/>
              </a:rPr>
              <a:t>• Industry narratives are marketing, not inevitability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Four Industry Narratives as Strategy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AGI Mythology: collapses complex realities into an inevitable, imminent future</a:t>
            </a:r>
          </a:p>
          <a:p>
            <a:pPr algn="l" lvl="0">
              <a:lnSpc>
                <a:spcPct val="115000"/>
              </a:lnSpc>
              <a:spcBef>
                <a:spcPts val="120"/>
              </a:spcBef>
            </a:pPr>
            <a:r>
              <a:rPr sz="1900" b="0">
                <a:solidFill>
                  <a:srgbClr val="1A1A2E"/>
                </a:solidFill>
                <a:latin typeface="Calibri"/>
              </a:rPr>
              <a:t>• 2. 'Too Big to Fail': unprecedented capital deployed to perpetuate bigger-is-better</a:t>
            </a:r>
          </a:p>
          <a:p>
            <a:pPr algn="l" lvl="0">
              <a:lnSpc>
                <a:spcPct val="115000"/>
              </a:lnSpc>
              <a:spcBef>
                <a:spcPts val="120"/>
              </a:spcBef>
            </a:pPr>
            <a:r>
              <a:rPr sz="1900" b="0">
                <a:solidFill>
                  <a:srgbClr val="1A1A2E"/>
                </a:solidFill>
                <a:latin typeface="Calibri"/>
              </a:rPr>
              <a:t>• 3. US-China Arms Race: used to brand industrial policy and avert regulation</a:t>
            </a:r>
          </a:p>
          <a:p>
            <a:pPr algn="l" lvl="0">
              <a:lnSpc>
                <a:spcPct val="115000"/>
              </a:lnSpc>
              <a:spcBef>
                <a:spcPts val="120"/>
              </a:spcBef>
            </a:pPr>
            <a:r>
              <a:rPr sz="1900" b="0">
                <a:solidFill>
                  <a:srgbClr val="1A1A2E"/>
                </a:solidFill>
                <a:latin typeface="Calibri"/>
              </a:rPr>
              <a:t>• 4. Regulation = Anti-Innovation: strategic framing ignoring regulation's role in competition</a:t>
            </a:r>
          </a:p>
          <a:p>
            <a:pPr algn="l" lvl="0">
              <a:lnSpc>
                <a:spcPct val="115000"/>
              </a:lnSpc>
              <a:spcBef>
                <a:spcPts val="120"/>
              </a:spcBef>
            </a:pPr>
            <a:r>
              <a:rPr sz="1900" b="0">
                <a:solidFill>
                  <a:srgbClr val="1A1A2E"/>
                </a:solidFill>
                <a:latin typeface="Calibri"/>
              </a:rPr>
              <a:t>• All four serve to insulate the industry from democratic accountability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AGI Mythology: Claims vs. Function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What Industry Claims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AGI is imminent and transformative</a:t>
            </a:r>
          </a:p>
          <a:p>
            <a:pPr algn="l" lvl="0">
              <a:lnSpc>
                <a:spcPct val="115000"/>
              </a:lnSpc>
              <a:spcBef>
                <a:spcPts val="120"/>
              </a:spcBef>
            </a:pPr>
            <a:r>
              <a:rPr sz="1700" b="0">
                <a:solidFill>
                  <a:srgbClr val="1A1A2E"/>
                </a:solidFill>
                <a:latin typeface="Calibri"/>
              </a:rPr>
              <a:t>• Current spending is necessary investment</a:t>
            </a:r>
          </a:p>
          <a:p>
            <a:pPr algn="l" lvl="0">
              <a:lnSpc>
                <a:spcPct val="115000"/>
              </a:lnSpc>
              <a:spcBef>
                <a:spcPts val="120"/>
              </a:spcBef>
            </a:pPr>
            <a:r>
              <a:rPr sz="1700" b="0">
                <a:solidFill>
                  <a:srgbClr val="1A1A2E"/>
                </a:solidFill>
                <a:latin typeface="Calibri"/>
              </a:rPr>
              <a:t>• Safety concerns require industry self-governance</a:t>
            </a:r>
          </a:p>
          <a:p>
            <a:pPr algn="l" lvl="0">
              <a:lnSpc>
                <a:spcPct val="115000"/>
              </a:lnSpc>
              <a:spcBef>
                <a:spcPts val="120"/>
              </a:spcBef>
            </a:pPr>
            <a:r>
              <a:rPr sz="1700" b="0">
                <a:solidFill>
                  <a:srgbClr val="1A1A2E"/>
                </a:solidFill>
                <a:latin typeface="Calibri"/>
              </a:rPr>
              <a:t>• Regulating now would be premature</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What the Report Argues</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AGI is nebulous and unfalsifiable</a:t>
            </a:r>
          </a:p>
          <a:p>
            <a:pPr algn="l" lvl="0">
              <a:lnSpc>
                <a:spcPct val="115000"/>
              </a:lnSpc>
              <a:spcBef>
                <a:spcPts val="120"/>
              </a:spcBef>
            </a:pPr>
            <a:r>
              <a:rPr sz="1700" b="0">
                <a:solidFill>
                  <a:srgbClr val="1A1A2E"/>
                </a:solidFill>
                <a:latin typeface="Calibri"/>
              </a:rPr>
              <a:t>• Spending is speculative with no profit path</a:t>
            </a:r>
          </a:p>
          <a:p>
            <a:pPr algn="l" lvl="0">
              <a:lnSpc>
                <a:spcPct val="115000"/>
              </a:lnSpc>
              <a:spcBef>
                <a:spcPts val="120"/>
              </a:spcBef>
            </a:pPr>
            <a:r>
              <a:rPr sz="1700" b="0">
                <a:solidFill>
                  <a:srgbClr val="1A1A2E"/>
                </a:solidFill>
                <a:latin typeface="Calibri"/>
              </a:rPr>
              <a:t>• Safety framing centralizes power in builders</a:t>
            </a:r>
          </a:p>
          <a:p>
            <a:pPr algn="l" lvl="0">
              <a:lnSpc>
                <a:spcPct val="115000"/>
              </a:lnSpc>
              <a:spcBef>
                <a:spcPts val="120"/>
              </a:spcBef>
            </a:pPr>
            <a:r>
              <a:rPr sz="1700" b="0">
                <a:solidFill>
                  <a:srgbClr val="1A1A2E"/>
                </a:solidFill>
                <a:latin typeface="Calibri"/>
              </a:rPr>
              <a:t>• Regulation delay serves incumbents' interests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Five-Point Roadmap for Action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Reframe AI as a fight about power, not progress — target material conditions</a:t>
            </a:r>
          </a:p>
          <a:p>
            <a:pPr algn="l" lvl="0">
              <a:lnSpc>
                <a:spcPct val="115000"/>
              </a:lnSpc>
              <a:spcBef>
                <a:spcPts val="120"/>
              </a:spcBef>
            </a:pPr>
            <a:r>
              <a:rPr sz="1900" b="0">
                <a:solidFill>
                  <a:srgbClr val="1A1A2E"/>
                </a:solidFill>
                <a:latin typeface="Calibri"/>
              </a:rPr>
              <a:t>• 2. Advance worker organizing as the clearest path to AI accountability</a:t>
            </a:r>
          </a:p>
          <a:p>
            <a:pPr algn="l" lvl="0">
              <a:lnSpc>
                <a:spcPct val="115000"/>
              </a:lnSpc>
              <a:spcBef>
                <a:spcPts val="120"/>
              </a:spcBef>
            </a:pPr>
            <a:r>
              <a:rPr sz="1900" b="0">
                <a:solidFill>
                  <a:srgbClr val="1A1A2E"/>
                </a:solidFill>
                <a:latin typeface="Calibri"/>
              </a:rPr>
              <a:t>• 3. Enact 'zero trust' policy: bright-line rules, no self-regulation or self-evaluation</a:t>
            </a:r>
          </a:p>
          <a:p>
            <a:pPr algn="l" lvl="0">
              <a:lnSpc>
                <a:spcPct val="115000"/>
              </a:lnSpc>
              <a:spcBef>
                <a:spcPts val="120"/>
              </a:spcBef>
            </a:pPr>
            <a:r>
              <a:rPr sz="1900" b="0">
                <a:solidFill>
                  <a:srgbClr val="1A1A2E"/>
                </a:solidFill>
                <a:latin typeface="Calibri"/>
              </a:rPr>
              <a:t>• 4. Bridge advocacy networks across policy domains (privacy, labor, antitrust, security)</a:t>
            </a:r>
          </a:p>
          <a:p>
            <a:pPr algn="l" lvl="0">
              <a:lnSpc>
                <a:spcPct val="115000"/>
              </a:lnSpc>
              <a:spcBef>
                <a:spcPts val="120"/>
              </a:spcBef>
            </a:pPr>
            <a:r>
              <a:rPr sz="1900" b="0">
                <a:solidFill>
                  <a:srgbClr val="1A1A2E"/>
                </a:solidFill>
                <a:latin typeface="Calibri"/>
              </a:rPr>
              <a:t>• 5. Reclaim public-centered innovation that does not presuppose large-scale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Key Findings &amp; Evidence</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The AI bubble, the record, and de-risking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AI Bubble: By the Numbers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OpenAI: lost $5 billion in 2024, valued at $300 billion (60:1 loss-to-valuation ratio)</a:t>
            </a:r>
          </a:p>
          <a:p>
            <a:pPr algn="l" lvl="0">
              <a:lnSpc>
                <a:spcPct val="115000"/>
              </a:lnSpc>
              <a:spcBef>
                <a:spcPts val="120"/>
              </a:spcBef>
            </a:pPr>
            <a:r>
              <a:rPr sz="1900" b="0">
                <a:solidFill>
                  <a:srgbClr val="1A1A2E"/>
                </a:solidFill>
                <a:latin typeface="Calibri"/>
              </a:rPr>
              <a:t>• Anthropic: burned $5.6 billion in 2024, valued at $61.5 billion (11:1 loss-to-valuation)</a:t>
            </a:r>
          </a:p>
          <a:p>
            <a:pPr algn="l" lvl="0">
              <a:lnSpc>
                <a:spcPct val="115000"/>
              </a:lnSpc>
              <a:spcBef>
                <a:spcPts val="120"/>
              </a:spcBef>
            </a:pPr>
            <a:r>
              <a:rPr sz="1900" b="0">
                <a:solidFill>
                  <a:srgbClr val="1A1A2E"/>
                </a:solidFill>
                <a:latin typeface="Calibri"/>
              </a:rPr>
              <a:t>• No profitable AI use cases currently exist or are on the horizon</a:t>
            </a:r>
          </a:p>
          <a:p>
            <a:pPr algn="l" lvl="0">
              <a:lnSpc>
                <a:spcPct val="115000"/>
              </a:lnSpc>
              <a:spcBef>
                <a:spcPts val="120"/>
              </a:spcBef>
            </a:pPr>
            <a:r>
              <a:rPr sz="1900" b="0">
                <a:solidFill>
                  <a:srgbClr val="1A1A2E"/>
                </a:solidFill>
                <a:latin typeface="Calibri"/>
              </a:rPr>
              <a:t>• Cost of large-scale AI described as 'eye-watering at a level not seen before in tech'</a:t>
            </a:r>
          </a:p>
          <a:p>
            <a:pPr algn="l" lvl="0">
              <a:lnSpc>
                <a:spcPct val="115000"/>
              </a:lnSpc>
              <a:spcBef>
                <a:spcPts val="120"/>
              </a:spcBef>
            </a:pPr>
            <a:r>
              <a:rPr sz="1900" b="0">
                <a:solidFill>
                  <a:srgbClr val="1A1A2E"/>
                </a:solidFill>
                <a:latin typeface="Calibri"/>
              </a:rPr>
              <a:t>• Report argues this is a bubble sustained by speculation and government subsidies</a:t>
            </a:r>
          </a:p>
          <a:p>
            <a:pPr algn="l" lvl="0">
              <a:lnSpc>
                <a:spcPct val="115000"/>
              </a:lnSpc>
              <a:spcBef>
                <a:spcPts val="120"/>
              </a:spcBef>
            </a:pPr>
            <a:r>
              <a:rPr sz="1900" b="0">
                <a:solidFill>
                  <a:srgbClr val="1A1A2E"/>
                </a:solidFill>
                <a:latin typeface="Calibri"/>
              </a:rPr>
              <a:t>• Key question: 'When will the AI bubble burst and who will be impacted?'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'Challengers' or Extensions of Incumbents?</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Apparent Independence</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OpenAI: separate company, own brand</a:t>
            </a:r>
          </a:p>
          <a:p>
            <a:pPr algn="l" lvl="0">
              <a:lnSpc>
                <a:spcPct val="115000"/>
              </a:lnSpc>
              <a:spcBef>
                <a:spcPts val="120"/>
              </a:spcBef>
            </a:pPr>
            <a:r>
              <a:rPr sz="1700" b="0">
                <a:solidFill>
                  <a:srgbClr val="1A1A2E"/>
                </a:solidFill>
                <a:latin typeface="Calibri"/>
              </a:rPr>
              <a:t>• Anthropic: founded by ex-OpenAI staff</a:t>
            </a:r>
          </a:p>
          <a:p>
            <a:pPr algn="l" lvl="0">
              <a:lnSpc>
                <a:spcPct val="115000"/>
              </a:lnSpc>
              <a:spcBef>
                <a:spcPts val="120"/>
              </a:spcBef>
            </a:pPr>
            <a:r>
              <a:rPr sz="1700" b="0">
                <a:solidFill>
                  <a:srgbClr val="1A1A2E"/>
                </a:solidFill>
                <a:latin typeface="Calibri"/>
              </a:rPr>
              <a:t>• Both raise independent venture funding</a:t>
            </a:r>
          </a:p>
          <a:p>
            <a:pPr algn="l" lvl="0">
              <a:lnSpc>
                <a:spcPct val="115000"/>
              </a:lnSpc>
              <a:spcBef>
                <a:spcPts val="120"/>
              </a:spcBef>
            </a:pPr>
            <a:r>
              <a:rPr sz="1700" b="0">
                <a:solidFill>
                  <a:srgbClr val="1A1A2E"/>
                </a:solidFill>
                <a:latin typeface="Calibri"/>
              </a:rPr>
              <a:t>• Marketed as disruptors and innovators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Structural Dependence</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OpenAI backed by Microsoft ($13B+ invested)</a:t>
            </a:r>
          </a:p>
          <a:p>
            <a:pPr algn="l" lvl="0">
              <a:lnSpc>
                <a:spcPct val="115000"/>
              </a:lnSpc>
              <a:spcBef>
                <a:spcPts val="120"/>
              </a:spcBef>
            </a:pPr>
            <a:r>
              <a:rPr sz="1700" b="0">
                <a:solidFill>
                  <a:srgbClr val="1A1A2E"/>
                </a:solidFill>
                <a:latin typeface="Calibri"/>
              </a:rPr>
              <a:t>• Anthropic backed by Amazon ($4B) and Google ($2B)</a:t>
            </a:r>
          </a:p>
          <a:p>
            <a:pPr algn="l" lvl="0">
              <a:lnSpc>
                <a:spcPct val="115000"/>
              </a:lnSpc>
              <a:spcBef>
                <a:spcPts val="120"/>
              </a:spcBef>
            </a:pPr>
            <a:r>
              <a:rPr sz="1700" b="0">
                <a:solidFill>
                  <a:srgbClr val="1A1A2E"/>
                </a:solidFill>
                <a:latin typeface="Calibri"/>
              </a:rPr>
              <a:t>• Both depend on incumbent cloud infrastructure</a:t>
            </a:r>
          </a:p>
          <a:p>
            <a:pPr algn="l" lvl="0">
              <a:lnSpc>
                <a:spcPct val="115000"/>
              </a:lnSpc>
              <a:spcBef>
                <a:spcPts val="120"/>
              </a:spcBef>
            </a:pPr>
            <a:r>
              <a:rPr sz="1700" b="0">
                <a:solidFill>
                  <a:srgbClr val="1A1A2E"/>
                </a:solidFill>
                <a:latin typeface="Calibri"/>
              </a:rPr>
              <a:t>• Revenue flows back to cloud providers regardless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Consulting the Record: Deployed AI Harms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Automated hiring systems: screen and reject applicants with no transparency on why</a:t>
            </a:r>
          </a:p>
          <a:p>
            <a:pPr algn="l" lvl="0">
              <a:lnSpc>
                <a:spcPct val="115000"/>
              </a:lnSpc>
              <a:spcBef>
                <a:spcPts val="120"/>
              </a:spcBef>
            </a:pPr>
            <a:r>
              <a:rPr sz="1900" b="0">
                <a:solidFill>
                  <a:srgbClr val="1A1A2E"/>
                </a:solidFill>
                <a:latin typeface="Calibri"/>
              </a:rPr>
              <a:t>• Immigration enforcement: AI amplifies existing human rights abuses and legal violations</a:t>
            </a:r>
          </a:p>
          <a:p>
            <a:pPr algn="l" lvl="0">
              <a:lnSpc>
                <a:spcPct val="115000"/>
              </a:lnSpc>
              <a:spcBef>
                <a:spcPts val="120"/>
              </a:spcBef>
            </a:pPr>
            <a:r>
              <a:rPr sz="1900" b="0">
                <a:solidFill>
                  <a:srgbClr val="1A1A2E"/>
                </a:solidFill>
                <a:latin typeface="Calibri"/>
              </a:rPr>
              <a:t>• Public services (e.g., NYC MyCity chatbot): millions spent on flawed AI with no tangible benefit</a:t>
            </a:r>
          </a:p>
          <a:p>
            <a:pPr algn="l" lvl="0">
              <a:lnSpc>
                <a:spcPct val="115000"/>
              </a:lnSpc>
              <a:spcBef>
                <a:spcPts val="120"/>
              </a:spcBef>
            </a:pPr>
            <a:r>
              <a:rPr sz="1900" b="0">
                <a:solidFill>
                  <a:srgbClr val="1A1A2E"/>
                </a:solidFill>
                <a:latin typeface="Calibri"/>
              </a:rPr>
              <a:t>• Algorithmic management: makes work unstable, unsafe, more surveilled, less autonomous</a:t>
            </a:r>
          </a:p>
          <a:p>
            <a:pPr algn="l" lvl="0">
              <a:lnSpc>
                <a:spcPct val="115000"/>
              </a:lnSpc>
              <a:spcBef>
                <a:spcPts val="120"/>
              </a:spcBef>
            </a:pPr>
            <a:r>
              <a:rPr sz="1900" b="0">
                <a:solidFill>
                  <a:srgbClr val="1A1A2E"/>
                </a:solidFill>
                <a:latin typeface="Calibri"/>
              </a:rPr>
              <a:t>• Benefits accrue to companies deploying AI, not to workers or the public at large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On the ground AI is consistently deployed in ways that make everyday people's lives, material conditions, and access to opportunities worse and the systems that incorporate them stronger.</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AI Now Institute, Artificial Power (2025), Executive Summary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De-Risking: From Markets to Taxpayers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companies pursue government subsidies to offset unsustainable business models</a:t>
            </a:r>
          </a:p>
          <a:p>
            <a:pPr algn="l" lvl="0">
              <a:lnSpc>
                <a:spcPct val="115000"/>
              </a:lnSpc>
              <a:spcBef>
                <a:spcPts val="120"/>
              </a:spcBef>
            </a:pPr>
            <a:r>
              <a:rPr sz="1900" b="0">
                <a:solidFill>
                  <a:srgbClr val="1A1A2E"/>
                </a:solidFill>
                <a:latin typeface="Calibri"/>
              </a:rPr>
              <a:t>• Public-sector contracts—particularly military and carceral—provide steady revenue</a:t>
            </a:r>
          </a:p>
          <a:p>
            <a:pPr algn="l" lvl="0">
              <a:lnSpc>
                <a:spcPct val="115000"/>
              </a:lnSpc>
              <a:spcBef>
                <a:spcPts val="120"/>
              </a:spcBef>
            </a:pPr>
            <a:r>
              <a:rPr sz="1900" b="0">
                <a:solidFill>
                  <a:srgbClr val="1A1A2E"/>
                </a:solidFill>
                <a:latin typeface="Calibri"/>
              </a:rPr>
              <a:t>• 'Public-interest AI' framing justifies pouring taxpayer dollars into private industry</a:t>
            </a:r>
          </a:p>
          <a:p>
            <a:pPr algn="l" lvl="0">
              <a:lnSpc>
                <a:spcPct val="115000"/>
              </a:lnSpc>
              <a:spcBef>
                <a:spcPts val="120"/>
              </a:spcBef>
            </a:pPr>
            <a:r>
              <a:rPr sz="1900" b="0">
                <a:solidFill>
                  <a:srgbClr val="1A1A2E"/>
                </a:solidFill>
                <a:latin typeface="Calibri"/>
              </a:rPr>
              <a:t>• Data center buildout benefits Big Tech structurally even if AI boom itself fails</a:t>
            </a:r>
          </a:p>
          <a:p>
            <a:pPr algn="l" lvl="0">
              <a:lnSpc>
                <a:spcPct val="115000"/>
              </a:lnSpc>
              <a:spcBef>
                <a:spcPts val="120"/>
              </a:spcBef>
            </a:pPr>
            <a:r>
              <a:rPr sz="1900" b="0">
                <a:solidFill>
                  <a:srgbClr val="1A1A2E"/>
                </a:solidFill>
                <a:latin typeface="Calibri"/>
              </a:rPr>
              <a:t>• Report frames this as 'Heads I Win, Tails You Lose' for incumbents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AI Solutionism: Obscuring Root Causes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deployed as substitute for addressing austerity, underfunding, and concentration</a:t>
            </a:r>
          </a:p>
          <a:p>
            <a:pPr algn="l" lvl="0">
              <a:lnSpc>
                <a:spcPct val="115000"/>
              </a:lnSpc>
              <a:spcBef>
                <a:spcPts val="120"/>
              </a:spcBef>
            </a:pPr>
            <a:r>
              <a:rPr sz="1900" b="0">
                <a:solidFill>
                  <a:srgbClr val="1A1A2E"/>
                </a:solidFill>
                <a:latin typeface="Calibri"/>
              </a:rPr>
              <a:t>• NYC MyCity chatbot: millions invested in flawed AI instead of hiring human staff</a:t>
            </a:r>
          </a:p>
          <a:p>
            <a:pPr algn="l" lvl="0">
              <a:lnSpc>
                <a:spcPct val="115000"/>
              </a:lnSpc>
              <a:spcBef>
                <a:spcPts val="120"/>
              </a:spcBef>
            </a:pPr>
            <a:r>
              <a:rPr sz="1900" b="0">
                <a:solidFill>
                  <a:srgbClr val="1A1A2E"/>
                </a:solidFill>
                <a:latin typeface="Calibri"/>
              </a:rPr>
              <a:t>• DOGE: 'efficiency' rhetoric masks dismantling of public institutions</a:t>
            </a:r>
          </a:p>
          <a:p>
            <a:pPr algn="l" lvl="0">
              <a:lnSpc>
                <a:spcPct val="115000"/>
              </a:lnSpc>
              <a:spcBef>
                <a:spcPts val="120"/>
              </a:spcBef>
            </a:pPr>
            <a:r>
              <a:rPr sz="1900" b="0">
                <a:solidFill>
                  <a:srgbClr val="1A1A2E"/>
                </a:solidFill>
                <a:latin typeface="Calibri"/>
              </a:rPr>
              <a:t>• AI in healthcare and education displaces grounded professional expertise</a:t>
            </a:r>
          </a:p>
          <a:p>
            <a:pPr algn="l" lvl="0">
              <a:lnSpc>
                <a:spcPct val="115000"/>
              </a:lnSpc>
              <a:spcBef>
                <a:spcPts val="120"/>
              </a:spcBef>
            </a:pPr>
            <a:r>
              <a:rPr sz="1900" b="0">
                <a:solidFill>
                  <a:srgbClr val="1A1A2E"/>
                </a:solidFill>
                <a:latin typeface="Calibri"/>
              </a:rPr>
              <a:t>• Systemic problems require structural solutions, not technological band-aids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Discussion: Evidence &amp; Framing</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Is 'no profitable use cases exist' too strong a claim? What about coding assistants, search, ad targeting?</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How do we weigh documented harms of deployed AI against speculative future benefits? What standard of evidence should we use?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Does the 'bubble' framing undermine or strengthen the urgency argument? If AI is a bubble, shouldn't we just wait it out?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Critical Analysis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Evaluating the report's arguments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Strengths of the Report</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Shifts debate from product utility to structural power—a genuine paradigm reframe</a:t>
            </a:r>
          </a:p>
          <a:p>
            <a:pPr algn="l" lvl="0">
              <a:lnSpc>
                <a:spcPct val="115000"/>
              </a:lnSpc>
              <a:spcBef>
                <a:spcPts val="120"/>
              </a:spcBef>
            </a:pPr>
            <a:r>
              <a:rPr sz="1900" b="0">
                <a:solidFill>
                  <a:srgbClr val="1A1A2E"/>
                </a:solidFill>
                <a:latin typeface="Calibri"/>
              </a:rPr>
              <a:t>• Backed by a decade of empirical evidence on deployed AI harms</a:t>
            </a:r>
          </a:p>
          <a:p>
            <a:pPr algn="l" lvl="0">
              <a:lnSpc>
                <a:spcPct val="115000"/>
              </a:lnSpc>
              <a:spcBef>
                <a:spcPts val="120"/>
              </a:spcBef>
            </a:pPr>
            <a:r>
              <a:rPr sz="1900" b="0">
                <a:solidFill>
                  <a:srgbClr val="1A1A2E"/>
                </a:solidFill>
                <a:latin typeface="Calibri"/>
              </a:rPr>
              <a:t>• Concrete financial data grounds the 'bubble' argument quantitatively</a:t>
            </a:r>
          </a:p>
          <a:p>
            <a:pPr algn="l" lvl="0">
              <a:lnSpc>
                <a:spcPct val="115000"/>
              </a:lnSpc>
              <a:spcBef>
                <a:spcPts val="120"/>
              </a:spcBef>
            </a:pPr>
            <a:r>
              <a:rPr sz="1900" b="0">
                <a:solidFill>
                  <a:srgbClr val="1A1A2E"/>
                </a:solidFill>
                <a:latin typeface="Calibri"/>
              </a:rPr>
              <a:t>• Identifies industry narratives as strategic, not descriptive—a powerful analytical move</a:t>
            </a:r>
          </a:p>
          <a:p>
            <a:pPr algn="l" lvl="0">
              <a:lnSpc>
                <a:spcPct val="115000"/>
              </a:lnSpc>
              <a:spcBef>
                <a:spcPts val="120"/>
              </a:spcBef>
            </a:pPr>
            <a:r>
              <a:rPr sz="1900" b="0">
                <a:solidFill>
                  <a:srgbClr val="1A1A2E"/>
                </a:solidFill>
                <a:latin typeface="Calibri"/>
              </a:rPr>
              <a:t>• Actionable five-point roadmap connects analysis to policy and organizing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Limitations &amp; Counterarguments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Report may understate genuine AI utility in specific domains (drug discovery, materials science)</a:t>
            </a:r>
          </a:p>
          <a:p>
            <a:pPr algn="l" lvl="0">
              <a:lnSpc>
                <a:spcPct val="115000"/>
              </a:lnSpc>
              <a:spcBef>
                <a:spcPts val="120"/>
              </a:spcBef>
            </a:pPr>
            <a:r>
              <a:rPr sz="1900" b="0">
                <a:solidFill>
                  <a:srgbClr val="1A1A2E"/>
                </a:solidFill>
                <a:latin typeface="Calibri"/>
              </a:rPr>
              <a:t>• Advocacy framing can lead to selective evidence presentation</a:t>
            </a:r>
          </a:p>
          <a:p>
            <a:pPr algn="l" lvl="0">
              <a:lnSpc>
                <a:spcPct val="115000"/>
              </a:lnSpc>
              <a:spcBef>
                <a:spcPts val="120"/>
              </a:spcBef>
            </a:pPr>
            <a:r>
              <a:rPr sz="1900" b="0">
                <a:solidFill>
                  <a:srgbClr val="1A1A2E"/>
                </a:solidFill>
                <a:latin typeface="Calibri"/>
              </a:rPr>
              <a:t>• Limited engagement with technical trajectories—what if costs drop dramatically?</a:t>
            </a:r>
          </a:p>
          <a:p>
            <a:pPr algn="l" lvl="0">
              <a:lnSpc>
                <a:spcPct val="115000"/>
              </a:lnSpc>
              <a:spcBef>
                <a:spcPts val="120"/>
              </a:spcBef>
            </a:pPr>
            <a:r>
              <a:rPr sz="1900" b="0">
                <a:solidFill>
                  <a:srgbClr val="1A1A2E"/>
                </a:solidFill>
                <a:latin typeface="Calibri"/>
              </a:rPr>
              <a:t>• Roadmap is aspirational but light on political strategy for implementation</a:t>
            </a:r>
          </a:p>
          <a:p>
            <a:pPr algn="l" lvl="0">
              <a:lnSpc>
                <a:spcPct val="115000"/>
              </a:lnSpc>
              <a:spcBef>
                <a:spcPts val="120"/>
              </a:spcBef>
            </a:pPr>
            <a:r>
              <a:rPr sz="1900" b="0">
                <a:solidFill>
                  <a:srgbClr val="1A1A2E"/>
                </a:solidFill>
                <a:latin typeface="Calibri"/>
              </a:rPr>
              <a:t>• 'No profitable use cases' claim may age poorly if enterprise adoption accelerates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What the Report Addresses vs. Leaves Open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Addressed Well</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Market structure and dependencies</a:t>
            </a:r>
          </a:p>
          <a:p>
            <a:pPr algn="l" lvl="0">
              <a:lnSpc>
                <a:spcPct val="115000"/>
              </a:lnSpc>
              <a:spcBef>
                <a:spcPts val="120"/>
              </a:spcBef>
            </a:pPr>
            <a:r>
              <a:rPr sz="1700" b="0">
                <a:solidFill>
                  <a:srgbClr val="1A1A2E"/>
                </a:solidFill>
                <a:latin typeface="Calibri"/>
              </a:rPr>
              <a:t>• Documented harms of deployed systems</a:t>
            </a:r>
          </a:p>
          <a:p>
            <a:pPr algn="l" lvl="0">
              <a:lnSpc>
                <a:spcPct val="115000"/>
              </a:lnSpc>
              <a:spcBef>
                <a:spcPts val="120"/>
              </a:spcBef>
            </a:pPr>
            <a:r>
              <a:rPr sz="1700" b="0">
                <a:solidFill>
                  <a:srgbClr val="1A1A2E"/>
                </a:solidFill>
                <a:latin typeface="Calibri"/>
              </a:rPr>
              <a:t>• Industry narrative deconstruction</a:t>
            </a:r>
          </a:p>
          <a:p>
            <a:pPr algn="l" lvl="0">
              <a:lnSpc>
                <a:spcPct val="115000"/>
              </a:lnSpc>
              <a:spcBef>
                <a:spcPts val="120"/>
              </a:spcBef>
            </a:pPr>
            <a:r>
              <a:rPr sz="1700" b="0">
                <a:solidFill>
                  <a:srgbClr val="1A1A2E"/>
                </a:solidFill>
                <a:latin typeface="Calibri"/>
              </a:rPr>
              <a:t>• US political economy of AI</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Left Underexplored</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Non-US and Global South perspectives</a:t>
            </a:r>
          </a:p>
          <a:p>
            <a:pPr algn="l" lvl="0">
              <a:lnSpc>
                <a:spcPct val="115000"/>
              </a:lnSpc>
              <a:spcBef>
                <a:spcPts val="120"/>
              </a:spcBef>
            </a:pPr>
            <a:r>
              <a:rPr sz="1700" b="0">
                <a:solidFill>
                  <a:srgbClr val="1A1A2E"/>
                </a:solidFill>
                <a:latin typeface="Calibri"/>
              </a:rPr>
              <a:t>• Technical trajectories and cost curves</a:t>
            </a:r>
          </a:p>
          <a:p>
            <a:pPr algn="l" lvl="0">
              <a:lnSpc>
                <a:spcPct val="115000"/>
              </a:lnSpc>
              <a:spcBef>
                <a:spcPts val="120"/>
              </a:spcBef>
            </a:pPr>
            <a:r>
              <a:rPr sz="1700" b="0">
                <a:solidFill>
                  <a:srgbClr val="1A1A2E"/>
                </a:solidFill>
                <a:latin typeface="Calibri"/>
              </a:rPr>
              <a:t>• Positive use cases and their conditions</a:t>
            </a:r>
          </a:p>
          <a:p>
            <a:pPr algn="l" lvl="0">
              <a:lnSpc>
                <a:spcPct val="115000"/>
              </a:lnSpc>
              <a:spcBef>
                <a:spcPts val="120"/>
              </a:spcBef>
            </a:pPr>
            <a:r>
              <a:rPr sz="1700" b="0">
                <a:solidFill>
                  <a:srgbClr val="1A1A2E"/>
                </a:solidFill>
                <a:latin typeface="Calibri"/>
              </a:rPr>
              <a:t>• How to build political coalitions in practice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Discussion: Evaluating the Argument</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Is the report's 'power not progress' frame genuinely more useful than product-level evaluation, or does it obscure important technical distinctions?</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Can the report's critique of AI industry narratives be applied reflexively to the report's own narrative choices?</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What would it take to falsify the report's central thesis? What evidence would change the authors' minds?</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Is the report's treatment of OpenAI/Anthropic as 'extensions of incumbents' fair, or does it understate their agency?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Implications &amp; Applications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So what? For whom?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Policymakers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'Zero trust' framework: do not let AI companies self-regulate or self-evaluate</a:t>
            </a:r>
          </a:p>
          <a:p>
            <a:pPr algn="l" lvl="0">
              <a:lnSpc>
                <a:spcPct val="115000"/>
              </a:lnSpc>
              <a:spcBef>
                <a:spcPts val="120"/>
              </a:spcBef>
            </a:pPr>
            <a:r>
              <a:rPr sz="1900" b="0">
                <a:solidFill>
                  <a:srgbClr val="1A1A2E"/>
                </a:solidFill>
                <a:latin typeface="Calibri"/>
              </a:rPr>
              <a:t>• Bright-line rules: ban specific harmful uses outright rather than relying on audits</a:t>
            </a:r>
          </a:p>
          <a:p>
            <a:pPr algn="l" lvl="0">
              <a:lnSpc>
                <a:spcPct val="115000"/>
              </a:lnSpc>
              <a:spcBef>
                <a:spcPts val="120"/>
              </a:spcBef>
            </a:pPr>
            <a:r>
              <a:rPr sz="1900" b="0">
                <a:solidFill>
                  <a:srgbClr val="1A1A2E"/>
                </a:solidFill>
                <a:latin typeface="Calibri"/>
              </a:rPr>
              <a:t>• Pre-market approval: require AI systems prove they outperform existing processes</a:t>
            </a:r>
          </a:p>
          <a:p>
            <a:pPr algn="l" lvl="0">
              <a:lnSpc>
                <a:spcPct val="115000"/>
              </a:lnSpc>
              <a:spcBef>
                <a:spcPts val="120"/>
              </a:spcBef>
            </a:pPr>
            <a:r>
              <a:rPr sz="1900" b="0">
                <a:solidFill>
                  <a:srgbClr val="1A1A2E"/>
                </a:solidFill>
                <a:latin typeface="Calibri"/>
              </a:rPr>
              <a:t>• Data privacy as an AI governance lever—not just a consumer protection tool</a:t>
            </a:r>
          </a:p>
          <a:p>
            <a:pPr algn="l" lvl="0">
              <a:lnSpc>
                <a:spcPct val="115000"/>
              </a:lnSpc>
              <a:spcBef>
                <a:spcPts val="120"/>
              </a:spcBef>
            </a:pPr>
            <a:r>
              <a:rPr sz="1900" b="0">
                <a:solidFill>
                  <a:srgbClr val="1A1A2E"/>
                </a:solidFill>
                <a:latin typeface="Calibri"/>
              </a:rPr>
              <a:t>• Antitrust enforcement targeting cloud infrastructure dependencies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AI Researchers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Research agendas shaped by industry funding may reinforce power concentration</a:t>
            </a:r>
          </a:p>
          <a:p>
            <a:pPr algn="l" lvl="0">
              <a:lnSpc>
                <a:spcPct val="115000"/>
              </a:lnSpc>
              <a:spcBef>
                <a:spcPts val="120"/>
              </a:spcBef>
            </a:pPr>
            <a:r>
              <a:rPr sz="1900" b="0">
                <a:solidFill>
                  <a:srgbClr val="1A1A2E"/>
                </a:solidFill>
                <a:latin typeface="Calibri"/>
              </a:rPr>
              <a:t>• Need for independent evaluation infrastructure not controlled by AI companies</a:t>
            </a:r>
          </a:p>
          <a:p>
            <a:pPr algn="l" lvl="0">
              <a:lnSpc>
                <a:spcPct val="115000"/>
              </a:lnSpc>
              <a:spcBef>
                <a:spcPts val="120"/>
              </a:spcBef>
            </a:pPr>
            <a:r>
              <a:rPr sz="1900" b="0">
                <a:solidFill>
                  <a:srgbClr val="1A1A2E"/>
                </a:solidFill>
                <a:latin typeface="Calibri"/>
              </a:rPr>
              <a:t>• Study actual deployed systems, not just benchmarks and model capabilities</a:t>
            </a:r>
          </a:p>
          <a:p>
            <a:pPr algn="l" lvl="0">
              <a:lnSpc>
                <a:spcPct val="115000"/>
              </a:lnSpc>
              <a:spcBef>
                <a:spcPts val="120"/>
              </a:spcBef>
            </a:pPr>
            <a:r>
              <a:rPr sz="1900" b="0">
                <a:solidFill>
                  <a:srgbClr val="1A1A2E"/>
                </a:solidFill>
                <a:latin typeface="Calibri"/>
              </a:rPr>
              <a:t>• Interdisciplinary work connecting technical AI research to political economy</a:t>
            </a:r>
          </a:p>
          <a:p>
            <a:pPr algn="l" lvl="0">
              <a:lnSpc>
                <a:spcPct val="115000"/>
              </a:lnSpc>
              <a:spcBef>
                <a:spcPts val="120"/>
              </a:spcBef>
            </a:pPr>
            <a:r>
              <a:rPr sz="1900" b="0">
                <a:solidFill>
                  <a:srgbClr val="1A1A2E"/>
                </a:solidFill>
                <a:latin typeface="Calibri"/>
              </a:rPr>
              <a:t>• Question whether 'scaling' research paradigm serves public interest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Workers &amp; Civil Society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Worker organizing identified as 'clearest path' to AI accountability</a:t>
            </a:r>
          </a:p>
          <a:p>
            <a:pPr algn="l" lvl="0">
              <a:lnSpc>
                <a:spcPct val="115000"/>
              </a:lnSpc>
              <a:spcBef>
                <a:spcPts val="120"/>
              </a:spcBef>
            </a:pPr>
            <a:r>
              <a:rPr sz="1900" b="0">
                <a:solidFill>
                  <a:srgbClr val="1A1A2E"/>
                </a:solidFill>
                <a:latin typeface="Calibri"/>
              </a:rPr>
              <a:t>• Labor power can shape how employers deploy AI and algorithmic management</a:t>
            </a:r>
          </a:p>
          <a:p>
            <a:pPr algn="l" lvl="0">
              <a:lnSpc>
                <a:spcPct val="115000"/>
              </a:lnSpc>
              <a:spcBef>
                <a:spcPts val="120"/>
              </a:spcBef>
            </a:pPr>
            <a:r>
              <a:rPr sz="1900" b="0">
                <a:solidFill>
                  <a:srgbClr val="1A1A2E"/>
                </a:solidFill>
                <a:latin typeface="Calibri"/>
              </a:rPr>
              <a:t>• Cross-domain coalition building: labor + privacy + antitrust + civil rights</a:t>
            </a:r>
          </a:p>
          <a:p>
            <a:pPr algn="l" lvl="0">
              <a:lnSpc>
                <a:spcPct val="115000"/>
              </a:lnSpc>
              <a:spcBef>
                <a:spcPts val="120"/>
              </a:spcBef>
            </a:pPr>
            <a:r>
              <a:rPr sz="1900" b="0">
                <a:solidFill>
                  <a:srgbClr val="1A1A2E"/>
                </a:solidFill>
                <a:latin typeface="Calibri"/>
              </a:rPr>
              <a:t>• Challenge the premise that large-scale AI is inevitable before negotiating terms</a:t>
            </a:r>
          </a:p>
          <a:p>
            <a:pPr algn="l" lvl="0">
              <a:lnSpc>
                <a:spcPct val="115000"/>
              </a:lnSpc>
              <a:spcBef>
                <a:spcPts val="120"/>
              </a:spcBef>
            </a:pPr>
            <a:r>
              <a:rPr sz="1900" b="0">
                <a:solidFill>
                  <a:srgbClr val="1A1A2E"/>
                </a:solidFill>
                <a:latin typeface="Calibri"/>
              </a:rPr>
              <a:t>• Document and publicize concrete harms to shift public narrative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Common Misconceptions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 'All AI is useless': the argument is that product utility is the wrong frame, not that AI has zero utility</a:t>
            </a:r>
          </a:p>
          <a:p>
            <a:pPr algn="l" lvl="0">
              <a:lnSpc>
                <a:spcPct val="115000"/>
              </a:lnSpc>
              <a:spcBef>
                <a:spcPts val="120"/>
              </a:spcBef>
            </a:pPr>
            <a:r>
              <a:rPr sz="1900" b="0">
                <a:solidFill>
                  <a:srgbClr val="1A1A2E"/>
                </a:solidFill>
                <a:latin typeface="Calibri"/>
              </a:rPr>
              <a:t>• ≠ 'Bubble means imminent collapse': Big Tech benefits structurally even if the AI boom busts</a:t>
            </a:r>
          </a:p>
          <a:p>
            <a:pPr algn="l" lvl="0">
              <a:lnSpc>
                <a:spcPct val="115000"/>
              </a:lnSpc>
              <a:spcBef>
                <a:spcPts val="120"/>
              </a:spcBef>
            </a:pPr>
            <a:r>
              <a:rPr sz="1900" b="0">
                <a:solidFill>
                  <a:srgbClr val="1A1A2E"/>
                </a:solidFill>
                <a:latin typeface="Calibri"/>
              </a:rPr>
              <a:t>• ≠ 'OpenAI/Anthropic are genuine Big Tech competitors': they depend on incumbents for funding + infra</a:t>
            </a:r>
          </a:p>
          <a:p>
            <a:pPr algn="l" lvl="0">
              <a:lnSpc>
                <a:spcPct val="115000"/>
              </a:lnSpc>
              <a:spcBef>
                <a:spcPts val="120"/>
              </a:spcBef>
            </a:pPr>
            <a:r>
              <a:rPr sz="1900" b="0">
                <a:solidFill>
                  <a:srgbClr val="1A1A2E"/>
                </a:solidFill>
                <a:latin typeface="Calibri"/>
              </a:rPr>
              <a:t>• ≠ 'Zero trust' = cybersecurity concept: here it means don't trust AI companies to self-regulate</a:t>
            </a:r>
          </a:p>
          <a:p>
            <a:pPr algn="l" lvl="0">
              <a:lnSpc>
                <a:spcPct val="115000"/>
              </a:lnSpc>
              <a:spcBef>
                <a:spcPts val="120"/>
              </a:spcBef>
            </a:pPr>
            <a:r>
              <a:rPr sz="1900" b="0">
                <a:solidFill>
                  <a:srgbClr val="1A1A2E"/>
                </a:solidFill>
                <a:latin typeface="Calibri"/>
              </a:rPr>
              <a:t>• ≠ 'AI power is only inflated': deployed systems cause real harm NOW, even as broader claims are overstated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Final Discussion: Paths Forward</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If you were designing a 'zero trust' regulatory framework for AI hiring systems, what would your bright-line rules be?</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The report calls for 'public-centered innovation without AI at the center.' What does that actually look like in practice?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How do you reckon with the report's argument if you are an AI researcher whose work depends on Big Tech compute?</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Is there a version of large-scale AI development that could serve the public interest, or is concentration inherent to the technology?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E89C13"/>
                </a:solidFill>
                <a:latin typeface="Calibri"/>
              </a:rPr>
              <a:t>Key Takeaways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The core question is not 'Is AI useful?' but 'Does AI's power structure serve the public interest?'</a:t>
            </a:r>
          </a:p>
          <a:p>
            <a:pPr algn="l" lvl="0">
              <a:lnSpc>
                <a:spcPct val="115000"/>
              </a:lnSpc>
              <a:spcBef>
                <a:spcPts val="120"/>
              </a:spcBef>
            </a:pPr>
            <a:r>
              <a:rPr sz="1900" b="0">
                <a:solidFill>
                  <a:srgbClr val="1A1A2E"/>
                </a:solidFill>
                <a:latin typeface="Calibri"/>
              </a:rPr>
              <a:t>• AI market remains an oligopoly: OpenAI and Anthropic extend, not disrupt, Big Tech dominance</a:t>
            </a:r>
          </a:p>
          <a:p>
            <a:pPr algn="l" lvl="0">
              <a:lnSpc>
                <a:spcPct val="115000"/>
              </a:lnSpc>
              <a:spcBef>
                <a:spcPts val="120"/>
              </a:spcBef>
            </a:pPr>
            <a:r>
              <a:rPr sz="1900" b="0">
                <a:solidFill>
                  <a:srgbClr val="1A1A2E"/>
                </a:solidFill>
                <a:latin typeface="Calibri"/>
              </a:rPr>
              <a:t>• The AI bubble is real ($5B+ losses, no profitable use cases) but incumbents are structurally insulated</a:t>
            </a:r>
          </a:p>
          <a:p>
            <a:pPr algn="l" lvl="0">
              <a:lnSpc>
                <a:spcPct val="115000"/>
              </a:lnSpc>
              <a:spcBef>
                <a:spcPts val="120"/>
              </a:spcBef>
            </a:pPr>
            <a:r>
              <a:rPr sz="1900" b="0">
                <a:solidFill>
                  <a:srgbClr val="1A1A2E"/>
                </a:solidFill>
                <a:latin typeface="Calibri"/>
              </a:rPr>
              <a:t>• A decade of evidence shows deployed AI deepens inequality, erodes due process, and reduces transparency</a:t>
            </a:r>
          </a:p>
          <a:p>
            <a:pPr algn="l" lvl="0">
              <a:lnSpc>
                <a:spcPct val="115000"/>
              </a:lnSpc>
              <a:spcBef>
                <a:spcPts val="120"/>
              </a:spcBef>
            </a:pPr>
            <a:r>
              <a:rPr sz="1900" b="0">
                <a:solidFill>
                  <a:srgbClr val="1A1A2E"/>
                </a:solidFill>
                <a:latin typeface="Calibri"/>
              </a:rPr>
              <a:t>• Industry narratives (AGI, arms race, anti-regulation) are strategic devices, not descriptions of reality</a:t>
            </a:r>
          </a:p>
          <a:p>
            <a:pPr algn="l" lvl="0">
              <a:lnSpc>
                <a:spcPct val="115000"/>
              </a:lnSpc>
              <a:spcBef>
                <a:spcPts val="120"/>
              </a:spcBef>
            </a:pPr>
            <a:r>
              <a:rPr sz="1900" b="0">
                <a:solidFill>
                  <a:srgbClr val="1A1A2E"/>
                </a:solidFill>
                <a:latin typeface="Calibri"/>
              </a:rPr>
              <a:t>• Democratic intervention—through regulation, labor organizing, and coalition-building—is both urgent and possible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371600"/>
          </a:xfrm>
          <a:prstGeom prst="rect">
            <a:avLst/>
          </a:prstGeom>
          <a:noFill/>
        </p:spPr>
        <p:txBody>
          <a:bodyPr wrap="square">
            <a:spAutoFit/>
          </a:bodyPr>
          <a:lstStyle/>
          <a:p>
            <a:pPr algn="l"/>
            <a:r>
              <a:rPr sz="4800" b="1" i="0">
                <a:solidFill>
                  <a:srgbClr val="FFFFFF"/>
                </a:solidFill>
                <a:latin typeface="Calibri"/>
              </a:rPr>
              <a:t>Thank You — Questions?</a:t>
            </a:r>
          </a:p>
        </p:txBody>
      </p:sp>
      <p:sp>
        <p:nvSpPr>
          <p:cNvPr id="4" name="TextBox 3"/>
          <p:cNvSpPr txBox="1"/>
          <p:nvPr/>
        </p:nvSpPr>
        <p:spPr>
          <a:xfrm>
            <a:off x="548640" y="3474720"/>
            <a:ext cx="10058400" cy="731520"/>
          </a:xfrm>
          <a:prstGeom prst="rect">
            <a:avLst/>
          </a:prstGeom>
          <a:noFill/>
        </p:spPr>
        <p:txBody>
          <a:bodyPr wrap="square">
            <a:spAutoFit/>
          </a:bodyPr>
          <a:lstStyle/>
          <a:p>
            <a:pPr algn="l"/>
            <a:r>
              <a:rPr sz="2200" b="0" i="0">
                <a:solidFill>
                  <a:srgbClr val="16857B"/>
                </a:solidFill>
                <a:latin typeface="Calibri"/>
              </a:rPr>
              <a:t>Reading: AI Now Institute, 'Artificial Power' (2025) — Full report at ainowinstitute.org</a:t>
            </a:r>
          </a:p>
        </p:txBody>
      </p:sp>
      <p:sp>
        <p:nvSpPr>
          <p:cNvPr id="5" name="Rectangle 4"/>
          <p:cNvSpPr/>
          <p:nvPr/>
        </p:nvSpPr>
        <p:spPr>
          <a:xfrm>
            <a:off x="548640" y="4389120"/>
            <a:ext cx="45720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