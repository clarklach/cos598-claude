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How many of you have asked a classmate for help recently and been told to 'just ChatGPT it'? This paper investigates exactly that phenomenon and its cascading social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concrete skills. By the end of today's lecture, students should be able to do each of these — we will revisit them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only lecture on this reading, so we will cover the paper comprehensively. Flag that the discussion sections are participatory — students should be preparing thoughts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most prior research has focused on individual cognitive and ethical impacts. The authors argue the social dimension — peer learning, mentorship, community — has been systematically neglected.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two-column contrast is the paper's core justification. The left column has a rich literature; the right column is where the authors claim to make their contribution. This gap framing is essential to understanding why the study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this in learning theory. The paper draws on social learning theory, communities of practice, and belonging research. If genAI disrupts these social mechanisms, the consequences go far beyond individual productivity.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methodology carefully. Semi-structured interviews allowed flexibility to probe emerging themes. Reflexive thematic analysis prioritizes researcher reflexivity over inter-rater reliability — this is intentional, not a flaw.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diversity is methodologically important — the study captures perspectives across the adoption spectrum. Crucially, even non-users like P5 reported being affected by genAI through mediated help. No one is untouched.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themes are the paper's main results. Present them as interconnected rather than isolated — each feeds into the others. The numbers in parentheses show how widespread each theme was across the 17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P5 is a non-user of genAI who returned to campus after a two-year gap. Her shock at the transformation illustrates how rapidly social norms around help-seeking have shifted. This quote became the paper's title.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these three behaviors clearly — they have different social implications. Explicit redirection actively pushes people away; silent mediation is invisible; self-selection reflects rational cost-benefit analysis. All three erode authentic peer engagement.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captures the hollowing out of peer help. P16 recognizes that no genuine knowledge transfer occurred — she was a conduit for ChatGPT. Yet the help-seeker felt grateful, unaware of the mediation. Ask students: what is lost in this exchange?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13/17 figure is the paper's most striking data point. Emphasize that this affects users and non-users alike. P3's experience of expressing vulnerability and being redirected to ChatGPT is particularly concerning for help-seeking research.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paradox here is important: private reliance coexists with public hesitation. This mirrors dynamics we see with other stigmatized behaviors. The fact that these reports were unprompted suggests shame is highly salient in students' lived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P11's handwriting vs. Times New Roman metaphor is one of the paper's most vivid images. Use it to drive home the point: genAI optimizes for correctness but flattens the diversity of thought that makes peer learning valuable. P6 explicitly connects reduced discussion to reduced educational adaptation.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hidden curriculum concept is crucial. It refers to tacit knowledge about how academia and industry actually work — not what's in the syllabus. GenAI cannot transmit this because it requires contextual, relational, trust-based communication. First-generation students lose the most.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2-3 minutes to discuss in pairs. The hidden curriculum question usually generates rich examples — career advice, unwritten norms about office hours, research opportunities, etc. These are exactly the things genAI cannot provide.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contradictory — it reflects different motivational orientations. Students driven by mastery and social connection lose motivation; students driven by efficiency gain it. Ask: which orientation does your learning environment reward?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Discord finding is especially concrete and observable. These platforms were not just Q&amp;A forums — they were community spaces where students built relationships. When the questions disappear, so do the connections. P2's self-awareness is notable: he knows isolation is happening but doesn't change behavior.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makes the community erosion tangible. Discord servers didn't disappear — they went silent. The infrastructure exists but the social activity that gave it meaning has evaporated. This is a leading indicator of community breakdown.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paper credit where it's due. The non-user inclusion is methodologically savvy — it shows the phenomenon is not just about individual choice but about environmental transformation. The multi-university sampling adds breadth.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fair but rigorous here. The authors themselves flag these limitations. The key point is that this is hypothesis-generating, not hypothesis-confirming. The findings are compelling signals that need quantitative and longitudinal follow-up.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students to think critically. The paper assumes that reduced peer interaction = harm, but doesn't measure downstream outcomes. Also, the internet was already reducing face-to-face help-seeking long before ChatGPT. How much is truly new here?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4-5 minutes on this discussion. Push students to distinguish between the quality of the signal (compelling qualitative themes) and the strength of the evidence (small, non-generalizable, self-reported). The title's framing is notably stronger than the methodology warrants — is that responsible?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paper's central recommendation is that educators must intentionally balance AI integration with sustaining social structures. The key word is 'intentionally' — left to default, the path of least resistance leads students to genAI and away from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perhaps the most urgent implication. The paper cites literature showing that belonging predicts retention, and peer support disproportionately benefits URM and first-gen students. If genAI erodes these supports, the students who needed them most suffer the greatest losses.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research agenda emerging from the paper. The qualitative findings are hypothesis-generating. Now we need studies that measure the actual prevalence, establish causal mechanisms, and test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 these directly. Students often either over-generalize qualitative findings or dismiss them entirely. The nuanced position is: these are credible signals from a small but diverse sample that warrant serious attention and further study.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this metaphor as a synthesis moment. Times New Roman is clean, efficient, correct — but uniform. Handwriting is messy, personal, diverse — and that diversity is where deeper learning happens. Ask: which do our educational systems value?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design-thinking discussion. Push students to move from critique to construction. The paper identifies problems; now challenge students to propose solutions. Spend 5 minutes; consider cold-calling to ensure diverse voices.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Revisit the learning objectives from slide 2. Can students now explain AI-mediated help-seeking, identify the six social consequences, evaluate the methodology, analyze equity implications, and propose interventions? If so, we've accomplished our goals.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3-5 minutes for open Q&amp;A. If time permits, ask one final provocative question: 'Five years from now, will this paper look prescient or alarmist?' Let students debate briefly before closing.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457200"/>
          </a:xfrm>
          <a:prstGeom prst="rect">
            <a:avLst/>
          </a:prstGeom>
          <a:noFill/>
        </p:spPr>
        <p:txBody>
          <a:bodyPr wrap="square">
            <a:spAutoFit/>
          </a:bodyPr>
          <a:lstStyle/>
          <a:p>
            <a:pPr algn="l"/>
            <a:r>
              <a:rPr sz="1400" b="0" i="0">
                <a:solidFill>
                  <a:srgbClr val="16857B"/>
                </a:solidFill>
                <a:latin typeface="Calibri"/>
              </a:rPr>
              <a:t>COS598</a:t>
            </a:r>
          </a:p>
        </p:txBody>
      </p:sp>
      <p:sp>
        <p:nvSpPr>
          <p:cNvPr id="4" name="TextBox 3"/>
          <p:cNvSpPr txBox="1"/>
          <p:nvPr/>
        </p:nvSpPr>
        <p:spPr>
          <a:xfrm>
            <a:off x="548640" y="1280160"/>
            <a:ext cx="10972800" cy="2560320"/>
          </a:xfrm>
          <a:prstGeom prst="rect">
            <a:avLst/>
          </a:prstGeom>
          <a:noFill/>
        </p:spPr>
        <p:txBody>
          <a:bodyPr wrap="square">
            <a:spAutoFit/>
          </a:bodyPr>
          <a:lstStyle/>
          <a:p>
            <a:pPr algn="l"/>
            <a:r>
              <a:rPr sz="3400" b="1" i="0">
                <a:solidFill>
                  <a:srgbClr val="FFFFFF"/>
                </a:solidFill>
                <a:latin typeface="Calibri"/>
              </a:rPr>
              <a:t>"All Roads Lead to ChatGPT"</a:t>
            </a:r>
          </a:p>
        </p:txBody>
      </p:sp>
      <p:sp>
        <p:nvSpPr>
          <p:cNvPr id="5" name="TextBox 4"/>
          <p:cNvSpPr txBox="1"/>
          <p:nvPr/>
        </p:nvSpPr>
        <p:spPr>
          <a:xfrm>
            <a:off x="548640" y="4023360"/>
            <a:ext cx="10972800" cy="640080"/>
          </a:xfrm>
          <a:prstGeom prst="rect">
            <a:avLst/>
          </a:prstGeom>
          <a:noFill/>
        </p:spPr>
        <p:txBody>
          <a:bodyPr wrap="square">
            <a:spAutoFit/>
          </a:bodyPr>
          <a:lstStyle/>
          <a:p>
            <a:pPr algn="l"/>
            <a:r>
              <a:rPr sz="2000" b="0" i="0">
                <a:solidFill>
                  <a:srgbClr val="CCCCCC"/>
                </a:solidFill>
                <a:latin typeface="Calibri"/>
              </a:rPr>
              <a:t>How Generative AI is Eroding Social Interactions and Student Learning Communities — Hou, Man, Hamilton, Muthusekaran, Johnykutty et al. (Temple University, 2025)</a:t>
            </a:r>
          </a:p>
        </p:txBody>
      </p:sp>
      <p:sp>
        <p:nvSpPr>
          <p:cNvPr id="6" name="Rectangle 5"/>
          <p:cNvSpPr/>
          <p:nvPr/>
        </p:nvSpPr>
        <p:spPr>
          <a:xfrm>
            <a:off x="548640" y="4846320"/>
            <a:ext cx="7315200" cy="36576"/>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Learning Objectives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Explain how generative AI mediates peer help-seeking and why this differs from prior help resources</a:t>
            </a:r>
          </a:p>
          <a:p>
            <a:pPr algn="l" lvl="0">
              <a:lnSpc>
                <a:spcPct val="115000"/>
              </a:lnSpc>
              <a:spcBef>
                <a:spcPts val="120"/>
              </a:spcBef>
            </a:pPr>
            <a:r>
              <a:rPr sz="1900" b="0">
                <a:solidFill>
                  <a:srgbClr val="1A1A2E"/>
                </a:solidFill>
                <a:latin typeface="Calibri"/>
              </a:rPr>
              <a:t>• Identify at least four social consequences of genAI adoption documented in the study</a:t>
            </a:r>
          </a:p>
          <a:p>
            <a:pPr algn="l" lvl="0">
              <a:lnSpc>
                <a:spcPct val="115000"/>
              </a:lnSpc>
              <a:spcBef>
                <a:spcPts val="120"/>
              </a:spcBef>
            </a:pPr>
            <a:r>
              <a:rPr sz="1900" b="0">
                <a:solidFill>
                  <a:srgbClr val="1A1A2E"/>
                </a:solidFill>
                <a:latin typeface="Calibri"/>
              </a:rPr>
              <a:t>• Evaluate the methodological strengths and limitations of a 17-participant qualitative study</a:t>
            </a:r>
          </a:p>
          <a:p>
            <a:pPr algn="l" lvl="0">
              <a:lnSpc>
                <a:spcPct val="115000"/>
              </a:lnSpc>
              <a:spcBef>
                <a:spcPts val="120"/>
              </a:spcBef>
            </a:pPr>
            <a:r>
              <a:rPr sz="1900" b="0">
                <a:solidFill>
                  <a:srgbClr val="1A1A2E"/>
                </a:solidFill>
                <a:latin typeface="Calibri"/>
              </a:rPr>
              <a:t>• Analyze the disproportionate impacts of eroding learning communities on underrepresented students</a:t>
            </a:r>
          </a:p>
          <a:p>
            <a:pPr algn="l" lvl="0">
              <a:lnSpc>
                <a:spcPct val="115000"/>
              </a:lnSpc>
              <a:spcBef>
                <a:spcPts val="120"/>
              </a:spcBef>
            </a:pPr>
            <a:r>
              <a:rPr sz="1900" b="0">
                <a:solidFill>
                  <a:srgbClr val="1A1A2E"/>
                </a:solidFill>
                <a:latin typeface="Calibri"/>
              </a:rPr>
              <a:t>• Propose interventions that balance AI integration with sustaining peer interaction and mentorship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Roadmap for Today</a:t>
            </a:r>
          </a:p>
        </p:txBody>
      </p:sp>
      <p:sp>
        <p:nvSpPr>
          <p:cNvPr id="5" name="TextBox 4"/>
          <p:cNvSpPr txBox="1"/>
          <p:nvPr/>
        </p:nvSpPr>
        <p:spPr>
          <a:xfrm>
            <a:off x="45720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 Context &amp; Motivation: Why social dimensions of genAI matter now</a:t>
            </a:r>
          </a:p>
          <a:p>
            <a:pPr algn="l" lvl="0">
              <a:lnSpc>
                <a:spcPct val="115000"/>
              </a:lnSpc>
              <a:spcBef>
                <a:spcPts val="120"/>
              </a:spcBef>
            </a:pPr>
            <a:r>
              <a:rPr sz="1900" b="0">
                <a:solidFill>
                  <a:srgbClr val="1A1A2E"/>
                </a:solidFill>
                <a:latin typeface="Calibri"/>
              </a:rPr>
              <a:t>• 2. Central Argument: The paper's thesis and framework</a:t>
            </a:r>
          </a:p>
          <a:p>
            <a:pPr algn="l" lvl="0">
              <a:lnSpc>
                <a:spcPct val="115000"/>
              </a:lnSpc>
              <a:spcBef>
                <a:spcPts val="120"/>
              </a:spcBef>
            </a:pPr>
            <a:r>
              <a:rPr sz="1900" b="0">
                <a:solidFill>
                  <a:srgbClr val="1A1A2E"/>
                </a:solidFill>
                <a:latin typeface="Calibri"/>
              </a:rPr>
              <a:t>• 3. Key Findings: Six themes from 17 interviews across 7 R1 universities</a:t>
            </a:r>
          </a:p>
        </p:txBody>
      </p:sp>
      <p:sp>
        <p:nvSpPr>
          <p:cNvPr id="6" name="TextBox 5"/>
          <p:cNvSpPr txBox="1"/>
          <p:nvPr/>
        </p:nvSpPr>
        <p:spPr>
          <a:xfrm>
            <a:off x="621792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4. Critical Analysis: Strengths, limitations, and open questions</a:t>
            </a:r>
          </a:p>
          <a:p>
            <a:pPr algn="l" lvl="0">
              <a:lnSpc>
                <a:spcPct val="115000"/>
              </a:lnSpc>
              <a:spcBef>
                <a:spcPts val="120"/>
              </a:spcBef>
            </a:pPr>
            <a:r>
              <a:rPr sz="1900" b="0">
                <a:solidFill>
                  <a:srgbClr val="1A1A2E"/>
                </a:solidFill>
                <a:latin typeface="Calibri"/>
              </a:rPr>
              <a:t>• 5. Implications: For educators, students, and researchers</a:t>
            </a:r>
          </a:p>
          <a:p>
            <a:pPr algn="l" lvl="0">
              <a:lnSpc>
                <a:spcPct val="115000"/>
              </a:lnSpc>
              <a:spcBef>
                <a:spcPts val="120"/>
              </a:spcBef>
            </a:pPr>
            <a:r>
              <a:rPr sz="1900" b="0">
                <a:solidFill>
                  <a:srgbClr val="1A1A2E"/>
                </a:solidFill>
                <a:latin typeface="Calibri"/>
              </a:rPr>
              <a:t>• 6. Discussion &amp; Takeaways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Context &amp; Motivation</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Why study the social dimensions of genAI in education?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Rapid Rise of GenAI in Computing Education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Computing students have substantially increased genAI use over the past two years (Hou et al., 2024)</a:t>
            </a:r>
          </a:p>
          <a:p>
            <a:pPr algn="l" lvl="0">
              <a:lnSpc>
                <a:spcPct val="115000"/>
              </a:lnSpc>
              <a:spcBef>
                <a:spcPts val="120"/>
              </a:spcBef>
            </a:pPr>
            <a:r>
              <a:rPr sz="1900" b="0">
                <a:solidFill>
                  <a:srgbClr val="1A1A2E"/>
                </a:solidFill>
                <a:latin typeface="Calibri"/>
              </a:rPr>
              <a:t>• Previously identified usage gaps between demographics are closing</a:t>
            </a:r>
          </a:p>
          <a:p>
            <a:pPr algn="l" lvl="0">
              <a:lnSpc>
                <a:spcPct val="115000"/>
              </a:lnSpc>
              <a:spcBef>
                <a:spcPts val="120"/>
              </a:spcBef>
            </a:pPr>
            <a:r>
              <a:rPr sz="1900" b="0">
                <a:solidFill>
                  <a:srgbClr val="1A1A2E"/>
                </a:solidFill>
                <a:latin typeface="Calibri"/>
              </a:rPr>
              <a:t>• Known benefits: personalized explanations, debugging support, intelligent tutoring</a:t>
            </a:r>
          </a:p>
          <a:p>
            <a:pPr algn="l" lvl="0">
              <a:lnSpc>
                <a:spcPct val="115000"/>
              </a:lnSpc>
              <a:spcBef>
                <a:spcPts val="120"/>
              </a:spcBef>
            </a:pPr>
            <a:r>
              <a:rPr sz="1900" b="0">
                <a:solidFill>
                  <a:srgbClr val="1A1A2E"/>
                </a:solidFill>
                <a:latin typeface="Calibri"/>
              </a:rPr>
              <a:t>• Known risks: threats to academic integrity, metacognitive harms, over-reliance</a:t>
            </a:r>
          </a:p>
          <a:p>
            <a:pPr algn="l" lvl="0">
              <a:lnSpc>
                <a:spcPct val="115000"/>
              </a:lnSpc>
              <a:spcBef>
                <a:spcPts val="120"/>
              </a:spcBef>
            </a:pPr>
            <a:r>
              <a:rPr sz="1900" b="0">
                <a:solidFill>
                  <a:srgbClr val="1A1A2E"/>
                </a:solidFill>
                <a:latin typeface="Calibri"/>
              </a:rPr>
              <a:t>• Missing from the conversation: What about the SOCIAL consequences?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What We Knew vs. What Was Missing</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Well-Studied (Pre-2025)</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Cognitive effects on individual learning</a:t>
            </a:r>
          </a:p>
          <a:p>
            <a:pPr algn="l" lvl="0">
              <a:lnSpc>
                <a:spcPct val="115000"/>
              </a:lnSpc>
              <a:spcBef>
                <a:spcPts val="120"/>
              </a:spcBef>
            </a:pPr>
            <a:r>
              <a:rPr sz="1700" b="0">
                <a:solidFill>
                  <a:srgbClr val="1A1A2E"/>
                </a:solidFill>
                <a:latin typeface="Calibri"/>
              </a:rPr>
              <a:t>• Metacognitive risks (over-reliance, misled reasoning)</a:t>
            </a:r>
          </a:p>
          <a:p>
            <a:pPr algn="l" lvl="0">
              <a:lnSpc>
                <a:spcPct val="115000"/>
              </a:lnSpc>
              <a:spcBef>
                <a:spcPts val="120"/>
              </a:spcBef>
            </a:pPr>
            <a:r>
              <a:rPr sz="1700" b="0">
                <a:solidFill>
                  <a:srgbClr val="1A1A2E"/>
                </a:solidFill>
                <a:latin typeface="Calibri"/>
              </a:rPr>
              <a:t>• Academic integrity and cheating threats</a:t>
            </a:r>
          </a:p>
          <a:p>
            <a:pPr algn="l" lvl="0">
              <a:lnSpc>
                <a:spcPct val="115000"/>
              </a:lnSpc>
              <a:spcBef>
                <a:spcPts val="120"/>
              </a:spcBef>
            </a:pPr>
            <a:r>
              <a:rPr sz="1700" b="0">
                <a:solidFill>
                  <a:srgbClr val="1A1A2E"/>
                </a:solidFill>
                <a:latin typeface="Calibri"/>
              </a:rPr>
              <a:t>• Equitable access to AI tools</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Under-Explored (This Paper)</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Peer-to-peer help-seeking dynamics</a:t>
            </a:r>
          </a:p>
          <a:p>
            <a:pPr algn="l" lvl="0">
              <a:lnSpc>
                <a:spcPct val="115000"/>
              </a:lnSpc>
              <a:spcBef>
                <a:spcPts val="120"/>
              </a:spcBef>
            </a:pPr>
            <a:r>
              <a:rPr sz="1700" b="0">
                <a:solidFill>
                  <a:srgbClr val="1A1A2E"/>
                </a:solidFill>
                <a:latin typeface="Calibri"/>
              </a:rPr>
              <a:t>• Mentorship between senior and junior students</a:t>
            </a:r>
          </a:p>
          <a:p>
            <a:pPr algn="l" lvl="0">
              <a:lnSpc>
                <a:spcPct val="115000"/>
              </a:lnSpc>
              <a:spcBef>
                <a:spcPts val="120"/>
              </a:spcBef>
            </a:pPr>
            <a:r>
              <a:rPr sz="1700" b="0">
                <a:solidFill>
                  <a:srgbClr val="1A1A2E"/>
                </a:solidFill>
                <a:latin typeface="Calibri"/>
              </a:rPr>
              <a:t>• Community building and belonging</a:t>
            </a:r>
          </a:p>
          <a:p>
            <a:pPr algn="l" lvl="0">
              <a:lnSpc>
                <a:spcPct val="115000"/>
              </a:lnSpc>
              <a:spcBef>
                <a:spcPts val="120"/>
              </a:spcBef>
            </a:pPr>
            <a:r>
              <a:rPr sz="1700" b="0">
                <a:solidFill>
                  <a:srgbClr val="1A1A2E"/>
                </a:solidFill>
                <a:latin typeface="Calibri"/>
              </a:rPr>
              <a:t>• Emotional consequences: isolation, shame, demotivation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Why Social Interactions Matter in Learning</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Classrooms are social communities where knowledge is socially constructed (Vygotsky, Bandura)</a:t>
            </a:r>
          </a:p>
          <a:p>
            <a:pPr algn="l" lvl="0">
              <a:lnSpc>
                <a:spcPct val="115000"/>
              </a:lnSpc>
              <a:spcBef>
                <a:spcPts val="120"/>
              </a:spcBef>
            </a:pPr>
            <a:r>
              <a:rPr sz="1900" b="0">
                <a:solidFill>
                  <a:srgbClr val="1A1A2E"/>
                </a:solidFill>
                <a:latin typeface="Calibri"/>
              </a:rPr>
              <a:t>• Peer interactions foster camaraderie, mutual support, and informal learning communities</a:t>
            </a:r>
          </a:p>
          <a:p>
            <a:pPr algn="l" lvl="0">
              <a:lnSpc>
                <a:spcPct val="115000"/>
              </a:lnSpc>
              <a:spcBef>
                <a:spcPts val="120"/>
              </a:spcBef>
            </a:pPr>
            <a:r>
              <a:rPr sz="1900" b="0">
                <a:solidFill>
                  <a:srgbClr val="1A1A2E"/>
                </a:solidFill>
                <a:latin typeface="Calibri"/>
              </a:rPr>
              <a:t>• Belonging is consistently linked to academic success and retention (Allen et al., 2008)</a:t>
            </a:r>
          </a:p>
          <a:p>
            <a:pPr algn="l" lvl="0">
              <a:lnSpc>
                <a:spcPct val="115000"/>
              </a:lnSpc>
              <a:spcBef>
                <a:spcPts val="120"/>
              </a:spcBef>
            </a:pPr>
            <a:r>
              <a:rPr sz="1900" b="0">
                <a:solidFill>
                  <a:srgbClr val="1A1A2E"/>
                </a:solidFill>
                <a:latin typeface="Calibri"/>
              </a:rPr>
              <a:t>• Legitimate peripheral participation: newcomers learn by interacting with experienced peers (Lave &amp; Wenger)</a:t>
            </a:r>
          </a:p>
          <a:p>
            <a:pPr algn="l" lvl="0">
              <a:lnSpc>
                <a:spcPct val="115000"/>
              </a:lnSpc>
              <a:spcBef>
                <a:spcPts val="120"/>
              </a:spcBef>
            </a:pPr>
            <a:r>
              <a:rPr sz="1900" b="0">
                <a:solidFill>
                  <a:srgbClr val="1A1A2E"/>
                </a:solidFill>
                <a:latin typeface="Calibri"/>
              </a:rPr>
              <a:t>• Underrepresented &amp; first-gen students benefit most from peer support networks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Central Argument</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The paper's thesis: GenAI is eroding the social fabric of student learning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Research Question &amp; Study Design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RQ: What are the impacts of generative AI on peer interactions and learning communities?</a:t>
            </a:r>
          </a:p>
          <a:p>
            <a:pPr algn="l" lvl="0">
              <a:lnSpc>
                <a:spcPct val="115000"/>
              </a:lnSpc>
              <a:spcBef>
                <a:spcPts val="120"/>
              </a:spcBef>
            </a:pPr>
            <a:r>
              <a:rPr sz="1900" b="0">
                <a:solidFill>
                  <a:srgbClr val="1A1A2E"/>
                </a:solidFill>
                <a:latin typeface="Calibri"/>
              </a:rPr>
              <a:t>• 17 semi-structured interviews, 30–45 minutes each, conducted June–October 2024</a:t>
            </a:r>
          </a:p>
          <a:p>
            <a:pPr algn="l" lvl="0">
              <a:lnSpc>
                <a:spcPct val="115000"/>
              </a:lnSpc>
              <a:spcBef>
                <a:spcPts val="120"/>
              </a:spcBef>
            </a:pPr>
            <a:r>
              <a:rPr sz="1900" b="0">
                <a:solidFill>
                  <a:srgbClr val="1A1A2E"/>
                </a:solidFill>
                <a:latin typeface="Calibri"/>
              </a:rPr>
              <a:t>• 8 women, 9 men; computing undergraduates across 7 R1 universities in North America</a:t>
            </a:r>
          </a:p>
          <a:p>
            <a:pPr algn="l" lvl="0">
              <a:lnSpc>
                <a:spcPct val="115000"/>
              </a:lnSpc>
              <a:spcBef>
                <a:spcPts val="120"/>
              </a:spcBef>
            </a:pPr>
            <a:r>
              <a:rPr sz="1900" b="0">
                <a:solidFill>
                  <a:srgbClr val="1A1A2E"/>
                </a:solidFill>
                <a:latin typeface="Calibri"/>
              </a:rPr>
              <a:t>• Participants varied: daily genAI users, sporadic users, and complete non-users</a:t>
            </a:r>
          </a:p>
          <a:p>
            <a:pPr algn="l" lvl="0">
              <a:lnSpc>
                <a:spcPct val="115000"/>
              </a:lnSpc>
              <a:spcBef>
                <a:spcPts val="120"/>
              </a:spcBef>
            </a:pPr>
            <a:r>
              <a:rPr sz="1900" b="0">
                <a:solidFill>
                  <a:srgbClr val="1A1A2E"/>
                </a:solidFill>
                <a:latin typeface="Calibri"/>
              </a:rPr>
              <a:t>• Analysis: Reflexive thematic analysis (Braun &amp; Clarke, 2019) with three independent coders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Participant Diversity in GenAI Usage</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Daily Users (8 of 17)</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GenAI is primary source of help</a:t>
            </a:r>
          </a:p>
          <a:p>
            <a:pPr algn="l" lvl="0">
              <a:lnSpc>
                <a:spcPct val="115000"/>
              </a:lnSpc>
              <a:spcBef>
                <a:spcPts val="120"/>
              </a:spcBef>
            </a:pPr>
            <a:r>
              <a:rPr sz="1700" b="0">
                <a:solidFill>
                  <a:srgbClr val="1A1A2E"/>
                </a:solidFill>
                <a:latin typeface="Calibri"/>
              </a:rPr>
              <a:t>• Use for debugging, code-writing, conceptual Q's</a:t>
            </a:r>
          </a:p>
          <a:p>
            <a:pPr algn="l" lvl="0">
              <a:lnSpc>
                <a:spcPct val="115000"/>
              </a:lnSpc>
              <a:spcBef>
                <a:spcPts val="120"/>
              </a:spcBef>
            </a:pPr>
            <a:r>
              <a:rPr sz="1700" b="0">
                <a:solidFill>
                  <a:srgbClr val="1A1A2E"/>
                </a:solidFill>
                <a:latin typeface="Calibri"/>
              </a:rPr>
              <a:t>• Examples: P2, P4, P10, P11, P12, P13, P16, P17</a:t>
            </a:r>
          </a:p>
          <a:p>
            <a:pPr algn="l" lvl="0">
              <a:lnSpc>
                <a:spcPct val="115000"/>
              </a:lnSpc>
              <a:spcBef>
                <a:spcPts val="120"/>
              </a:spcBef>
            </a:pPr>
            <a:r>
              <a:rPr sz="1700" b="0">
                <a:solidFill>
                  <a:srgbClr val="1A1A2E"/>
                </a:solidFill>
                <a:latin typeface="Calibri"/>
              </a:rPr>
              <a:t>• Programming experience: 1–16 years</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Sporadic / Non-Users (9 of 17)</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GenAI is secondary/tertiary or never used</a:t>
            </a:r>
          </a:p>
          <a:p>
            <a:pPr algn="l" lvl="0">
              <a:lnSpc>
                <a:spcPct val="115000"/>
              </a:lnSpc>
              <a:spcBef>
                <a:spcPts val="120"/>
              </a:spcBef>
            </a:pPr>
            <a:r>
              <a:rPr sz="1700" b="0">
                <a:solidFill>
                  <a:srgbClr val="1A1A2E"/>
                </a:solidFill>
                <a:latin typeface="Calibri"/>
              </a:rPr>
              <a:t>• Prefer peers, instructors, or internet first</a:t>
            </a:r>
          </a:p>
          <a:p>
            <a:pPr algn="l" lvl="0">
              <a:lnSpc>
                <a:spcPct val="115000"/>
              </a:lnSpc>
              <a:spcBef>
                <a:spcPts val="120"/>
              </a:spcBef>
            </a:pPr>
            <a:r>
              <a:rPr sz="1700" b="0">
                <a:solidFill>
                  <a:srgbClr val="1A1A2E"/>
                </a:solidFill>
                <a:latin typeface="Calibri"/>
              </a:rPr>
              <a:t>• Examples: P1, P3, P5, P6, P7, P8, P9, P14, P15</a:t>
            </a:r>
          </a:p>
          <a:p>
            <a:pPr algn="l" lvl="0">
              <a:lnSpc>
                <a:spcPct val="115000"/>
              </a:lnSpc>
              <a:spcBef>
                <a:spcPts val="120"/>
              </a:spcBef>
            </a:pPr>
            <a:r>
              <a:rPr sz="1700" b="0">
                <a:solidFill>
                  <a:srgbClr val="1A1A2E"/>
                </a:solidFill>
                <a:latin typeface="Calibri"/>
              </a:rPr>
              <a:t>• Includes 2 who never use genAI (P1, P5)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Core Thesis: Six Interconnected Themes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 GenAI as intermediary in help-seeking (13/17 students)</a:t>
            </a:r>
          </a:p>
          <a:p>
            <a:pPr algn="l" lvl="0">
              <a:lnSpc>
                <a:spcPct val="115000"/>
              </a:lnSpc>
              <a:spcBef>
                <a:spcPts val="120"/>
              </a:spcBef>
            </a:pPr>
            <a:r>
              <a:rPr sz="1900" b="0">
                <a:solidFill>
                  <a:srgbClr val="1A1A2E"/>
                </a:solidFill>
                <a:latin typeface="Calibri"/>
              </a:rPr>
              <a:t>• 2. Shame and stigma surrounding genAI use (7/17 unprompted)</a:t>
            </a:r>
          </a:p>
          <a:p>
            <a:pPr algn="l" lvl="0">
              <a:lnSpc>
                <a:spcPct val="115000"/>
              </a:lnSpc>
              <a:spcBef>
                <a:spcPts val="120"/>
              </a:spcBef>
            </a:pPr>
            <a:r>
              <a:rPr sz="1900" b="0">
                <a:solidFill>
                  <a:srgbClr val="1A1A2E"/>
                </a:solidFill>
                <a:latin typeface="Calibri"/>
              </a:rPr>
              <a:t>• 3. Diminished diversity of perspectives and critical discourse</a:t>
            </a:r>
          </a:p>
          <a:p>
            <a:pPr algn="l" lvl="0">
              <a:lnSpc>
                <a:spcPct val="115000"/>
              </a:lnSpc>
              <a:spcBef>
                <a:spcPts val="120"/>
              </a:spcBef>
            </a:pPr>
            <a:r>
              <a:rPr sz="1900" b="0">
                <a:solidFill>
                  <a:srgbClr val="1A1A2E"/>
                </a:solidFill>
                <a:latin typeface="Calibri"/>
              </a:rPr>
              <a:t>• 4. Weakening mentorship between senior and junior students</a:t>
            </a:r>
          </a:p>
          <a:p>
            <a:pPr algn="l" lvl="0">
              <a:lnSpc>
                <a:spcPct val="115000"/>
              </a:lnSpc>
              <a:spcBef>
                <a:spcPts val="120"/>
              </a:spcBef>
            </a:pPr>
            <a:r>
              <a:rPr sz="1900" b="0">
                <a:solidFill>
                  <a:srgbClr val="1A1A2E"/>
                </a:solidFill>
                <a:latin typeface="Calibri"/>
              </a:rPr>
              <a:t>• 5. Bifurcated impacts on motivation (both increased and decreased)</a:t>
            </a:r>
          </a:p>
          <a:p>
            <a:pPr algn="l" lvl="0">
              <a:lnSpc>
                <a:spcPct val="115000"/>
              </a:lnSpc>
              <a:spcBef>
                <a:spcPts val="120"/>
              </a:spcBef>
            </a:pPr>
            <a:r>
              <a:rPr sz="1900" b="0">
                <a:solidFill>
                  <a:srgbClr val="1A1A2E"/>
                </a:solidFill>
                <a:latin typeface="Calibri"/>
              </a:rPr>
              <a:t>• 6. Increased feelings of isolation and silent community spaces (11/17)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Unlike how it was a few years ago, all roads lead to GPT.</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P5, a returning student who left her R1 university for two years before coming back — describing the shift as 'culture shock'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Central Mechanism: AI-Mediated Help-Seeking</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Students ask classmates → classmates redirect them to ChatGPT or share AI output</a:t>
            </a:r>
          </a:p>
          <a:p>
            <a:pPr algn="l" lvl="0">
              <a:lnSpc>
                <a:spcPct val="115000"/>
              </a:lnSpc>
              <a:spcBef>
                <a:spcPts val="120"/>
              </a:spcBef>
            </a:pPr>
            <a:r>
              <a:rPr sz="1900" b="0">
                <a:solidFill>
                  <a:srgbClr val="1A1A2E"/>
                </a:solidFill>
                <a:latin typeface="Calibri"/>
              </a:rPr>
              <a:t>• This occurs across three distinct behaviors:</a:t>
            </a:r>
          </a:p>
          <a:p>
            <a:pPr algn="l" lvl="1">
              <a:lnSpc>
                <a:spcPct val="115000"/>
              </a:lnSpc>
              <a:spcBef>
                <a:spcPts val="0"/>
              </a:spcBef>
            </a:pPr>
            <a:r>
              <a:rPr sz="1700" b="0">
                <a:solidFill>
                  <a:srgbClr val="444444"/>
                </a:solidFill>
                <a:latin typeface="Calibri"/>
              </a:rPr>
              <a:t>  – Explicit redirection: 'Oh, just ChatGPT that instead'</a:t>
            </a:r>
          </a:p>
          <a:p>
            <a:pPr algn="l" lvl="1">
              <a:lnSpc>
                <a:spcPct val="115000"/>
              </a:lnSpc>
              <a:spcBef>
                <a:spcPts val="0"/>
              </a:spcBef>
            </a:pPr>
            <a:r>
              <a:rPr sz="1700" b="0">
                <a:solidFill>
                  <a:srgbClr val="444444"/>
                </a:solidFill>
                <a:latin typeface="Calibri"/>
              </a:rPr>
              <a:t>  – Silent mediation: peer uses ChatGPT, passes output as their own help</a:t>
            </a:r>
          </a:p>
          <a:p>
            <a:pPr algn="l" lvl="1">
              <a:lnSpc>
                <a:spcPct val="115000"/>
              </a:lnSpc>
              <a:spcBef>
                <a:spcPts val="0"/>
              </a:spcBef>
            </a:pPr>
            <a:r>
              <a:rPr sz="1700" b="0">
                <a:solidFill>
                  <a:srgbClr val="444444"/>
                </a:solidFill>
                <a:latin typeface="Calibri"/>
              </a:rPr>
              <a:t>  – Self-selection: student chooses AI over peers due to lower social cost</a:t>
            </a:r>
          </a:p>
          <a:p>
            <a:pPr algn="l" lvl="0">
              <a:lnSpc>
                <a:spcPct val="115000"/>
              </a:lnSpc>
              <a:spcBef>
                <a:spcPts val="120"/>
              </a:spcBef>
            </a:pPr>
            <a:r>
              <a:rPr sz="1900" b="0">
                <a:solidFill>
                  <a:srgbClr val="1A1A2E"/>
                </a:solidFill>
                <a:latin typeface="Calibri"/>
              </a:rPr>
              <a:t>• Result: even non-users receive AI-mediated help indirectly, making AI 'unavoidable'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Key Findings &amp; Evidence</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What the 17 interviews revealed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Sometimes, they would ask me a question, and I would ChatGPT it and give it back. They're like, 'Thank you, you helped me so much!' I'm like, 'I did nothing.' It's such a thing now.</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P16, a daily genAI user and 4th-year CS student, describing how she 'helps' peers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Finding 1: GenAI Mediates Peer Interactions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13 of 17 students described help-seeking mediated by genAI</a:t>
            </a:r>
          </a:p>
          <a:p>
            <a:pPr algn="l" lvl="0">
              <a:lnSpc>
                <a:spcPct val="115000"/>
              </a:lnSpc>
              <a:spcBef>
                <a:spcPts val="120"/>
              </a:spcBef>
            </a:pPr>
            <a:r>
              <a:rPr sz="1900" b="0">
                <a:solidFill>
                  <a:srgbClr val="1A1A2E"/>
                </a:solidFill>
                <a:latin typeface="Calibri"/>
              </a:rPr>
              <a:t>• P5 (non-user): 'Even if I don't use it, I definitely still indirectly use it. You can't escape that.'</a:t>
            </a:r>
          </a:p>
          <a:p>
            <a:pPr algn="l" lvl="0">
              <a:lnSpc>
                <a:spcPct val="115000"/>
              </a:lnSpc>
              <a:spcBef>
                <a:spcPts val="120"/>
              </a:spcBef>
            </a:pPr>
            <a:r>
              <a:rPr sz="1900" b="0">
                <a:solidFill>
                  <a:srgbClr val="1A1A2E"/>
                </a:solidFill>
                <a:latin typeface="Calibri"/>
              </a:rPr>
              <a:t>• P3: 'If you say that you're struggling, someone will respond: Oh, just ChatGPT that instead.'</a:t>
            </a:r>
          </a:p>
          <a:p>
            <a:pPr algn="l" lvl="0">
              <a:lnSpc>
                <a:spcPct val="115000"/>
              </a:lnSpc>
              <a:spcBef>
                <a:spcPts val="120"/>
              </a:spcBef>
            </a:pPr>
            <a:r>
              <a:rPr sz="1900" b="0">
                <a:solidFill>
                  <a:srgbClr val="1A1A2E"/>
                </a:solidFill>
                <a:latin typeface="Calibri"/>
              </a:rPr>
              <a:t>• P13: The 'perceived cost' of asking a friend (time, social capital) is no longer worth paying</a:t>
            </a:r>
          </a:p>
          <a:p>
            <a:pPr algn="l" lvl="0">
              <a:lnSpc>
                <a:spcPct val="115000"/>
              </a:lnSpc>
              <a:spcBef>
                <a:spcPts val="120"/>
              </a:spcBef>
            </a:pPr>
            <a:r>
              <a:rPr sz="1900" b="0">
                <a:solidFill>
                  <a:srgbClr val="1A1A2E"/>
                </a:solidFill>
                <a:latin typeface="Calibri"/>
              </a:rPr>
              <a:t>• Senior students (P3, P5, P6, P10, P13, P16) were most likely to notice the shift over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Finding 2: Shame &amp; Stigma Around GenAI Use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7 of 17 participants reported shame/stigma — these emerged unprompted</a:t>
            </a:r>
          </a:p>
          <a:p>
            <a:pPr algn="l" lvl="0">
              <a:lnSpc>
                <a:spcPct val="115000"/>
              </a:lnSpc>
              <a:spcBef>
                <a:spcPts val="120"/>
              </a:spcBef>
            </a:pPr>
            <a:r>
              <a:rPr sz="1900" b="0">
                <a:solidFill>
                  <a:srgbClr val="1A1A2E"/>
                </a:solidFill>
                <a:latin typeface="Calibri"/>
              </a:rPr>
              <a:t>• Students feared labels: 'lazy,' 'stupid,' 'foolish' (P4, P14, P15, P16)</a:t>
            </a:r>
          </a:p>
          <a:p>
            <a:pPr algn="l" lvl="0">
              <a:lnSpc>
                <a:spcPct val="115000"/>
              </a:lnSpc>
              <a:spcBef>
                <a:spcPts val="120"/>
              </a:spcBef>
            </a:pPr>
            <a:r>
              <a:rPr sz="1900" b="0">
                <a:solidFill>
                  <a:srgbClr val="1A1A2E"/>
                </a:solidFill>
                <a:latin typeface="Calibri"/>
              </a:rPr>
              <a:t>• Paradox: genAI is 'unavoidable' AND socially risky simultaneously</a:t>
            </a:r>
          </a:p>
          <a:p>
            <a:pPr algn="l" lvl="0">
              <a:lnSpc>
                <a:spcPct val="115000"/>
              </a:lnSpc>
              <a:spcBef>
                <a:spcPts val="120"/>
              </a:spcBef>
            </a:pPr>
            <a:r>
              <a:rPr sz="1900" b="0">
                <a:solidFill>
                  <a:srgbClr val="1A1A2E"/>
                </a:solidFill>
                <a:latin typeface="Calibri"/>
              </a:rPr>
              <a:t>• P4: Students avoided using ChatGPT in class despite explicit permission from professors</a:t>
            </a:r>
          </a:p>
          <a:p>
            <a:pPr algn="l" lvl="0">
              <a:lnSpc>
                <a:spcPct val="115000"/>
              </a:lnSpc>
              <a:spcBef>
                <a:spcPts val="120"/>
              </a:spcBef>
            </a:pPr>
            <a:r>
              <a:rPr sz="1900" b="0">
                <a:solidFill>
                  <a:srgbClr val="1A1A2E"/>
                </a:solidFill>
                <a:latin typeface="Calibri"/>
              </a:rPr>
              <a:t>• P14: 'People definitely use it. They just don't talk about it... It still feels like it's wrong somehow.'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Finding 3: Homogenization vs. Diversity</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What GenAI Provides</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'Times New Roman' — uniform output</a:t>
            </a:r>
          </a:p>
          <a:p>
            <a:pPr algn="l" lvl="0">
              <a:lnSpc>
                <a:spcPct val="115000"/>
              </a:lnSpc>
              <a:spcBef>
                <a:spcPts val="120"/>
              </a:spcBef>
            </a:pPr>
            <a:r>
              <a:rPr sz="1700" b="0">
                <a:solidFill>
                  <a:srgbClr val="1A1A2E"/>
                </a:solidFill>
                <a:latin typeface="Calibri"/>
              </a:rPr>
              <a:t>• The 'direct best answer... which will work'</a:t>
            </a:r>
          </a:p>
          <a:p>
            <a:pPr algn="l" lvl="0">
              <a:lnSpc>
                <a:spcPct val="115000"/>
              </a:lnSpc>
              <a:spcBef>
                <a:spcPts val="120"/>
              </a:spcBef>
            </a:pPr>
            <a:r>
              <a:rPr sz="1700" b="0">
                <a:solidFill>
                  <a:srgbClr val="1A1A2E"/>
                </a:solidFill>
                <a:latin typeface="Calibri"/>
              </a:rPr>
              <a:t>• One optimized solution path</a:t>
            </a:r>
          </a:p>
          <a:p>
            <a:pPr algn="l" lvl="0">
              <a:lnSpc>
                <a:spcPct val="115000"/>
              </a:lnSpc>
              <a:spcBef>
                <a:spcPts val="120"/>
              </a:spcBef>
            </a:pPr>
            <a:r>
              <a:rPr sz="1700" b="0">
                <a:solidFill>
                  <a:srgbClr val="1A1A2E"/>
                </a:solidFill>
                <a:latin typeface="Calibri"/>
              </a:rPr>
              <a:t>• Less discussion, less critical discourse</a:t>
            </a:r>
          </a:p>
          <a:p>
            <a:pPr algn="l" lvl="0">
              <a:lnSpc>
                <a:spcPct val="115000"/>
              </a:lnSpc>
              <a:spcBef>
                <a:spcPts val="120"/>
              </a:spcBef>
            </a:pPr>
            <a:r>
              <a:rPr sz="1700" b="0">
                <a:solidFill>
                  <a:srgbClr val="1A1A2E"/>
                </a:solidFill>
                <a:latin typeface="Calibri"/>
              </a:rPr>
              <a:t>• Satisfaction that reduces further inquiry</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What Peers Provide</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'Handwriting' — distinctive styles (P11)</a:t>
            </a:r>
          </a:p>
          <a:p>
            <a:pPr algn="l" lvl="0">
              <a:lnSpc>
                <a:spcPct val="115000"/>
              </a:lnSpc>
              <a:spcBef>
                <a:spcPts val="120"/>
              </a:spcBef>
            </a:pPr>
            <a:r>
              <a:rPr sz="1700" b="0">
                <a:solidFill>
                  <a:srgbClr val="1A1A2E"/>
                </a:solidFill>
                <a:latin typeface="Calibri"/>
              </a:rPr>
              <a:t>• Different coding approaches and perspectives</a:t>
            </a:r>
          </a:p>
          <a:p>
            <a:pPr algn="l" lvl="0">
              <a:lnSpc>
                <a:spcPct val="115000"/>
              </a:lnSpc>
              <a:spcBef>
                <a:spcPts val="120"/>
              </a:spcBef>
            </a:pPr>
            <a:r>
              <a:rPr sz="1700" b="0">
                <a:solidFill>
                  <a:srgbClr val="1A1A2E"/>
                </a:solidFill>
                <a:latin typeface="Calibri"/>
              </a:rPr>
              <a:t>• Multiple solution strategies to compare</a:t>
            </a:r>
          </a:p>
          <a:p>
            <a:pPr algn="l" lvl="0">
              <a:lnSpc>
                <a:spcPct val="115000"/>
              </a:lnSpc>
              <a:spcBef>
                <a:spcPts val="120"/>
              </a:spcBef>
            </a:pPr>
            <a:r>
              <a:rPr sz="1700" b="0">
                <a:solidFill>
                  <a:srgbClr val="1A1A2E"/>
                </a:solidFill>
                <a:latin typeface="Calibri"/>
              </a:rPr>
              <a:t>• Discussion that 'lets education adjust to the individual' (P6)</a:t>
            </a:r>
          </a:p>
          <a:p>
            <a:pPr algn="l" lvl="0">
              <a:lnSpc>
                <a:spcPct val="115000"/>
              </a:lnSpc>
              <a:spcBef>
                <a:spcPts val="120"/>
              </a:spcBef>
            </a:pPr>
            <a:r>
              <a:rPr sz="1700" b="0">
                <a:solidFill>
                  <a:srgbClr val="1A1A2E"/>
                </a:solidFill>
                <a:latin typeface="Calibri"/>
              </a:rPr>
              <a:t>• Exposure to ideas you didn't know to look for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Finding 4: Weakening Mentorship Networks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P6 (4th-year, CS honor society board member): 'There's a lot less interaction between entry-level and more experienced students'</a:t>
            </a:r>
          </a:p>
          <a:p>
            <a:pPr algn="l" lvl="0">
              <a:lnSpc>
                <a:spcPct val="115000"/>
              </a:lnSpc>
              <a:spcBef>
                <a:spcPts val="120"/>
              </a:spcBef>
            </a:pPr>
            <a:r>
              <a:rPr sz="1900" b="0">
                <a:solidFill>
                  <a:srgbClr val="1A1A2E"/>
                </a:solidFill>
                <a:latin typeface="Calibri"/>
              </a:rPr>
              <a:t>• Senior students report a growing disconnect exacerbated by genAI</a:t>
            </a:r>
          </a:p>
          <a:p>
            <a:pPr algn="l" lvl="0">
              <a:lnSpc>
                <a:spcPct val="115000"/>
              </a:lnSpc>
              <a:spcBef>
                <a:spcPts val="120"/>
              </a:spcBef>
            </a:pPr>
            <a:r>
              <a:rPr sz="1900" b="0">
                <a:solidFill>
                  <a:srgbClr val="1A1A2E"/>
                </a:solidFill>
                <a:latin typeface="Calibri"/>
              </a:rPr>
              <a:t>• P4 noted genAI lets students avoid socio-emotional aspects: 'You don't have to be polite'</a:t>
            </a:r>
          </a:p>
          <a:p>
            <a:pPr algn="l" lvl="0">
              <a:lnSpc>
                <a:spcPct val="115000"/>
              </a:lnSpc>
              <a:spcBef>
                <a:spcPts val="120"/>
              </a:spcBef>
            </a:pPr>
            <a:r>
              <a:rPr sz="1900" b="0">
                <a:solidFill>
                  <a:srgbClr val="1A1A2E"/>
                </a:solidFill>
                <a:latin typeface="Calibri"/>
              </a:rPr>
              <a:t>• P9: 'Human conversations can give you knowledge you weren't intending to get'</a:t>
            </a:r>
          </a:p>
          <a:p>
            <a:pPr algn="l" lvl="0">
              <a:lnSpc>
                <a:spcPct val="115000"/>
              </a:lnSpc>
              <a:spcBef>
                <a:spcPts val="120"/>
              </a:spcBef>
            </a:pPr>
            <a:r>
              <a:rPr sz="1900" b="0">
                <a:solidFill>
                  <a:srgbClr val="1A1A2E"/>
                </a:solidFill>
                <a:latin typeface="Calibri"/>
              </a:rPr>
              <a:t>• Hidden curriculum — unwritten rules, professional norms, cultural knowledge — requires human transmission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Pause &amp; Reflect: Mentorship and Hidden Curriculum</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What 'hidden curriculum' knowledge have you gained from peers or mentors that you couldn't have gotten from ChatGPT?</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If you're a senior student: have you noticed less interaction with junior students since genAI became widespread?</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Is the convenience of avoiding socio-emotional costs (being polite, reading tone) worth the loss of mentorship?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Finding 5: Bifurcated Motivation</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GenAI Decreases Motivation</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P11: 'Very unmotivated to learn programming... what point is there anymore since AI can do it so well'</a:t>
            </a:r>
          </a:p>
          <a:p>
            <a:pPr algn="l" lvl="0">
              <a:lnSpc>
                <a:spcPct val="115000"/>
              </a:lnSpc>
              <a:spcBef>
                <a:spcPts val="120"/>
              </a:spcBef>
            </a:pPr>
            <a:r>
              <a:rPr sz="1700" b="0">
                <a:solidFill>
                  <a:srgbClr val="1A1A2E"/>
                </a:solidFill>
                <a:latin typeface="Calibri"/>
              </a:rPr>
              <a:t>• Students motivated by mastery/competence feel purpose eroded</a:t>
            </a:r>
          </a:p>
          <a:p>
            <a:pPr algn="l" lvl="0">
              <a:lnSpc>
                <a:spcPct val="115000"/>
              </a:lnSpc>
              <a:spcBef>
                <a:spcPts val="120"/>
              </a:spcBef>
            </a:pPr>
            <a:r>
              <a:rPr sz="1700" b="0">
                <a:solidFill>
                  <a:srgbClr val="1A1A2E"/>
                </a:solidFill>
                <a:latin typeface="Calibri"/>
              </a:rPr>
              <a:t>• Collaborative 'grinding it out' with friends replaced by solitary tool use</a:t>
            </a:r>
          </a:p>
          <a:p>
            <a:pPr algn="l" lvl="0">
              <a:lnSpc>
                <a:spcPct val="115000"/>
              </a:lnSpc>
              <a:spcBef>
                <a:spcPts val="120"/>
              </a:spcBef>
            </a:pPr>
            <a:r>
              <a:rPr sz="1700" b="0">
                <a:solidFill>
                  <a:srgbClr val="1A1A2E"/>
                </a:solidFill>
                <a:latin typeface="Calibri"/>
              </a:rPr>
              <a:t>• P15: 'With friends, when you get it right together, it feels like an achievement'</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GenAI Increases Motivation</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P12: Reduced 'wheel-spinning' — less time frustrated, more time programming</a:t>
            </a:r>
          </a:p>
          <a:p>
            <a:pPr algn="l" lvl="0">
              <a:lnSpc>
                <a:spcPct val="115000"/>
              </a:lnSpc>
              <a:spcBef>
                <a:spcPts val="120"/>
              </a:spcBef>
            </a:pPr>
            <a:r>
              <a:rPr sz="1700" b="0">
                <a:solidFill>
                  <a:srgbClr val="1A1A2E"/>
                </a:solidFill>
                <a:latin typeface="Calibri"/>
              </a:rPr>
              <a:t>• Students motivated by efficiency appreciate faster progress</a:t>
            </a:r>
          </a:p>
          <a:p>
            <a:pPr algn="l" lvl="0">
              <a:lnSpc>
                <a:spcPct val="115000"/>
              </a:lnSpc>
              <a:spcBef>
                <a:spcPts val="120"/>
              </a:spcBef>
            </a:pPr>
            <a:r>
              <a:rPr sz="1700" b="0">
                <a:solidFill>
                  <a:srgbClr val="1A1A2E"/>
                </a:solidFill>
                <a:latin typeface="Calibri"/>
              </a:rPr>
              <a:t>• P9: Easier to explore topics and go deeper</a:t>
            </a:r>
          </a:p>
          <a:p>
            <a:pPr algn="l" lvl="0">
              <a:lnSpc>
                <a:spcPct val="115000"/>
              </a:lnSpc>
              <a:spcBef>
                <a:spcPts val="120"/>
              </a:spcBef>
            </a:pPr>
            <a:r>
              <a:rPr sz="1700" b="0">
                <a:solidFill>
                  <a:srgbClr val="1A1A2E"/>
                </a:solidFill>
                <a:latin typeface="Calibri"/>
              </a:rPr>
              <a:t>• Removes frustration that might cause students to quit entirely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Finding 6: Isolation &amp; Silent Communities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11 of 17 participants reported increased feelings of isolation</a:t>
            </a:r>
          </a:p>
          <a:p>
            <a:pPr algn="l" lvl="0">
              <a:lnSpc>
                <a:spcPct val="115000"/>
              </a:lnSpc>
              <a:spcBef>
                <a:spcPts val="120"/>
              </a:spcBef>
            </a:pPr>
            <a:r>
              <a:rPr sz="1900" b="0">
                <a:solidFill>
                  <a:srgbClr val="1A1A2E"/>
                </a:solidFill>
                <a:latin typeface="Calibri"/>
              </a:rPr>
              <a:t>• P2 (daily user): 'If I'm relying more on GPT, I might be more isolated in my room'</a:t>
            </a:r>
          </a:p>
          <a:p>
            <a:pPr algn="l" lvl="0">
              <a:lnSpc>
                <a:spcPct val="115000"/>
              </a:lnSpc>
              <a:spcBef>
                <a:spcPts val="120"/>
              </a:spcBef>
            </a:pPr>
            <a:r>
              <a:rPr sz="1900" b="0">
                <a:solidFill>
                  <a:srgbClr val="1A1A2E"/>
                </a:solidFill>
                <a:latin typeface="Calibri"/>
              </a:rPr>
              <a:t>• Class Discord servers — once vibrant Q&amp;A spaces — are now largely silent</a:t>
            </a:r>
          </a:p>
          <a:p>
            <a:pPr algn="l" lvl="0">
              <a:lnSpc>
                <a:spcPct val="115000"/>
              </a:lnSpc>
              <a:spcBef>
                <a:spcPts val="120"/>
              </a:spcBef>
            </a:pPr>
            <a:r>
              <a:rPr sz="1900" b="0">
                <a:solidFill>
                  <a:srgbClr val="1A1A2E"/>
                </a:solidFill>
                <a:latin typeface="Calibri"/>
              </a:rPr>
              <a:t>• P16: 'We still have the Discord, but nobody really talks because all questions are answered by ChatGPT'</a:t>
            </a:r>
          </a:p>
          <a:p>
            <a:pPr algn="l" lvl="0">
              <a:lnSpc>
                <a:spcPct val="115000"/>
              </a:lnSpc>
              <a:spcBef>
                <a:spcPts val="120"/>
              </a:spcBef>
            </a:pPr>
            <a:r>
              <a:rPr sz="1900" b="0">
                <a:solidFill>
                  <a:srgbClr val="1A1A2E"/>
                </a:solidFill>
                <a:latin typeface="Calibri"/>
              </a:rPr>
              <a:t>• P17 stopped browsing Slack and Piazza after adopting ChatGPT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We used to in every class have a Discord... a lot of people just asking questions about a lab or homework... we still have the Discord, but nobody really talks because most or all the questions are answered by ChatGPT.</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P16, 4th-year CS student, describing the decline of online learning communities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Critical Analysis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Evaluating the paper's contributions and limitations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Methodological Strengths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Addresses a genuine gap: social dimensions of genAI largely unexplored in prior work</a:t>
            </a:r>
          </a:p>
          <a:p>
            <a:pPr algn="l" lvl="0">
              <a:lnSpc>
                <a:spcPct val="115000"/>
              </a:lnSpc>
              <a:spcBef>
                <a:spcPts val="120"/>
              </a:spcBef>
            </a:pPr>
            <a:r>
              <a:rPr sz="1900" b="0">
                <a:solidFill>
                  <a:srgbClr val="1A1A2E"/>
                </a:solidFill>
                <a:latin typeface="Calibri"/>
              </a:rPr>
              <a:t>• Diverse sample across 7 R1 universities, both genders, varied genAI usage levels</a:t>
            </a:r>
          </a:p>
          <a:p>
            <a:pPr algn="l" lvl="0">
              <a:lnSpc>
                <a:spcPct val="115000"/>
              </a:lnSpc>
              <a:spcBef>
                <a:spcPts val="120"/>
              </a:spcBef>
            </a:pPr>
            <a:r>
              <a:rPr sz="1900" b="0">
                <a:solidFill>
                  <a:srgbClr val="1A1A2E"/>
                </a:solidFill>
                <a:latin typeface="Calibri"/>
              </a:rPr>
              <a:t>• Reflexive thematic analysis with 3 independent coders + group discussion preserves reflexivity</a:t>
            </a:r>
          </a:p>
          <a:p>
            <a:pPr algn="l" lvl="0">
              <a:lnSpc>
                <a:spcPct val="115000"/>
              </a:lnSpc>
              <a:spcBef>
                <a:spcPts val="120"/>
              </a:spcBef>
            </a:pPr>
            <a:r>
              <a:rPr sz="1900" b="0">
                <a:solidFill>
                  <a:srgbClr val="1A1A2E"/>
                </a:solidFill>
                <a:latin typeface="Calibri"/>
              </a:rPr>
              <a:t>• Compare-and-contrast interview questions elicited rich, grounded responses</a:t>
            </a:r>
          </a:p>
          <a:p>
            <a:pPr algn="l" lvl="0">
              <a:lnSpc>
                <a:spcPct val="115000"/>
              </a:lnSpc>
              <a:spcBef>
                <a:spcPts val="120"/>
              </a:spcBef>
            </a:pPr>
            <a:r>
              <a:rPr sz="1900" b="0">
                <a:solidFill>
                  <a:srgbClr val="1A1A2E"/>
                </a:solidFill>
                <a:latin typeface="Calibri"/>
              </a:rPr>
              <a:t>• Captures non-user perspectives — shows genAI's reach extends beyond direct adopters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Limitations &amp; Methodological Concerns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N=17: small sample, cannot establish prevalence or generalizability</a:t>
            </a:r>
          </a:p>
          <a:p>
            <a:pPr algn="l" lvl="0">
              <a:lnSpc>
                <a:spcPct val="115000"/>
              </a:lnSpc>
              <a:spcBef>
                <a:spcPts val="120"/>
              </a:spcBef>
            </a:pPr>
            <a:r>
              <a:rPr sz="1900" b="0">
                <a:solidFill>
                  <a:srgbClr val="1A1A2E"/>
                </a:solidFill>
                <a:latin typeface="Calibri"/>
              </a:rPr>
              <a:t>• All findings are self-reported perceptions, not behavioral data — 'anecdotal' by authors' own admission</a:t>
            </a:r>
          </a:p>
          <a:p>
            <a:pPr algn="l" lvl="0">
              <a:lnSpc>
                <a:spcPct val="115000"/>
              </a:lnSpc>
              <a:spcBef>
                <a:spcPts val="120"/>
              </a:spcBef>
            </a:pPr>
            <a:r>
              <a:rPr sz="1900" b="0">
                <a:solidFill>
                  <a:srgbClr val="1A1A2E"/>
                </a:solidFill>
                <a:latin typeface="Calibri"/>
              </a:rPr>
              <a:t>• Limited to computing undergraduates at R1 universities in North America</a:t>
            </a:r>
          </a:p>
          <a:p>
            <a:pPr algn="l" lvl="0">
              <a:lnSpc>
                <a:spcPct val="115000"/>
              </a:lnSpc>
              <a:spcBef>
                <a:spcPts val="120"/>
              </a:spcBef>
            </a:pPr>
            <a:r>
              <a:rPr sz="1900" b="0">
                <a:solidFill>
                  <a:srgbClr val="1A1A2E"/>
                </a:solidFill>
                <a:latin typeface="Calibri"/>
              </a:rPr>
              <a:t>• No longitudinal component: captures a snapshot, not a trajectory of change</a:t>
            </a:r>
          </a:p>
          <a:p>
            <a:pPr algn="l" lvl="0">
              <a:lnSpc>
                <a:spcPct val="115000"/>
              </a:lnSpc>
              <a:spcBef>
                <a:spcPts val="120"/>
              </a:spcBef>
            </a:pPr>
            <a:r>
              <a:rPr sz="1900" b="0">
                <a:solidFill>
                  <a:srgbClr val="1A1A2E"/>
                </a:solidFill>
                <a:latin typeface="Calibri"/>
              </a:rPr>
              <a:t>• Selection bias: students willing to discuss genAI experiences may have stronger opinions</a:t>
            </a:r>
          </a:p>
          <a:p>
            <a:pPr algn="l" lvl="0">
              <a:lnSpc>
                <a:spcPct val="115000"/>
              </a:lnSpc>
              <a:spcBef>
                <a:spcPts val="120"/>
              </a:spcBef>
            </a:pPr>
            <a:r>
              <a:rPr sz="1900" b="0">
                <a:solidFill>
                  <a:srgbClr val="1A1A2E"/>
                </a:solidFill>
                <a:latin typeface="Calibri"/>
              </a:rPr>
              <a:t>• Reflexive thematic analysis does not seek inter-rater consensus — interpretive by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Counterarguments &amp; What the Paper Leaves Open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Were peer interactions declining before genAI? (Stack Overflow, YouTube already reduced help-seeking)</a:t>
            </a:r>
          </a:p>
          <a:p>
            <a:pPr algn="l" lvl="0">
              <a:lnSpc>
                <a:spcPct val="115000"/>
              </a:lnSpc>
              <a:spcBef>
                <a:spcPts val="120"/>
              </a:spcBef>
            </a:pPr>
            <a:r>
              <a:rPr sz="1900" b="0">
                <a:solidFill>
                  <a:srgbClr val="1A1A2E"/>
                </a:solidFill>
                <a:latin typeface="Calibri"/>
              </a:rPr>
              <a:t>• Nostalgia bias: senior students may idealize pre-genAI collaboration</a:t>
            </a:r>
          </a:p>
          <a:p>
            <a:pPr algn="l" lvl="0">
              <a:lnSpc>
                <a:spcPct val="115000"/>
              </a:lnSpc>
              <a:spcBef>
                <a:spcPts val="120"/>
              </a:spcBef>
            </a:pPr>
            <a:r>
              <a:rPr sz="1900" b="0">
                <a:solidFill>
                  <a:srgbClr val="1A1A2E"/>
                </a:solidFill>
                <a:latin typeface="Calibri"/>
              </a:rPr>
              <a:t>• Could Discord silence reflect platform fatigue rather than genAI displacement?</a:t>
            </a:r>
          </a:p>
          <a:p>
            <a:pPr algn="l" lvl="0">
              <a:lnSpc>
                <a:spcPct val="115000"/>
              </a:lnSpc>
              <a:spcBef>
                <a:spcPts val="120"/>
              </a:spcBef>
            </a:pPr>
            <a:r>
              <a:rPr sz="1900" b="0">
                <a:solidFill>
                  <a:srgbClr val="1A1A2E"/>
                </a:solidFill>
                <a:latin typeface="Calibri"/>
              </a:rPr>
              <a:t>• The paper doesn't measure actual learning outcomes — social erosion is assumed harmful</a:t>
            </a:r>
          </a:p>
          <a:p>
            <a:pPr algn="l" lvl="0">
              <a:lnSpc>
                <a:spcPct val="115000"/>
              </a:lnSpc>
              <a:spcBef>
                <a:spcPts val="120"/>
              </a:spcBef>
            </a:pPr>
            <a:r>
              <a:rPr sz="1900" b="0">
                <a:solidFill>
                  <a:srgbClr val="1A1A2E"/>
                </a:solidFill>
                <a:latin typeface="Calibri"/>
              </a:rPr>
              <a:t>• Students who gain efficiency from genAI may reinvest time in other social or learning activities</a:t>
            </a:r>
          </a:p>
          <a:p>
            <a:pPr algn="l" lvl="0">
              <a:lnSpc>
                <a:spcPct val="115000"/>
              </a:lnSpc>
              <a:spcBef>
                <a:spcPts val="120"/>
              </a:spcBef>
            </a:pPr>
            <a:r>
              <a:rPr sz="1900" b="0">
                <a:solidFill>
                  <a:srgbClr val="1A1A2E"/>
                </a:solidFill>
                <a:latin typeface="Calibri"/>
              </a:rPr>
              <a:t>• Cross-cultural validity: social help-seeking norms differ significantly outside North America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Critical Discussion: How Convincing Is This Paper?</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Does N=17 with qualitative methods generate sufficient evidence to support the paper's strong claims about 'erosion'?</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How would you design a follow-up study to empirically corroborate these findings?</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Are the authors conflating correlation with causation — could other factors explain declining peer interaction?</a:t>
            </a:r>
          </a:p>
        </p:txBody>
      </p:sp>
      <p:sp>
        <p:nvSpPr>
          <p:cNvPr id="14" name="Rectangle 13"/>
          <p:cNvSpPr/>
          <p:nvPr/>
        </p:nvSpPr>
        <p:spPr>
          <a:xfrm>
            <a:off x="365760" y="521208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5262880"/>
            <a:ext cx="438912" cy="411480"/>
          </a:xfrm>
          <a:prstGeom prst="rect">
            <a:avLst/>
          </a:prstGeom>
          <a:noFill/>
        </p:spPr>
        <p:txBody>
          <a:bodyPr wrap="square">
            <a:spAutoFit/>
          </a:bodyPr>
          <a:lstStyle/>
          <a:p>
            <a:pPr algn="ctr"/>
            <a:r>
              <a:rPr sz="1800" b="1" i="0">
                <a:solidFill>
                  <a:srgbClr val="FFFFFF"/>
                </a:solidFill>
                <a:latin typeface="Calibri"/>
              </a:rPr>
              <a:t>4</a:t>
            </a:r>
          </a:p>
        </p:txBody>
      </p:sp>
      <p:sp>
        <p:nvSpPr>
          <p:cNvPr id="16" name="TextBox 15"/>
          <p:cNvSpPr txBox="1"/>
          <p:nvPr/>
        </p:nvSpPr>
        <p:spPr>
          <a:xfrm>
            <a:off x="1005840" y="5212080"/>
            <a:ext cx="10515600" cy="1097280"/>
          </a:xfrm>
          <a:prstGeom prst="rect">
            <a:avLst/>
          </a:prstGeom>
          <a:noFill/>
        </p:spPr>
        <p:txBody>
          <a:bodyPr wrap="square">
            <a:spAutoFit/>
          </a:bodyPr>
          <a:lstStyle/>
          <a:p>
            <a:pPr algn="l"/>
            <a:r>
              <a:rPr sz="1800" b="0" i="0">
                <a:solidFill>
                  <a:srgbClr val="444444"/>
                </a:solidFill>
                <a:latin typeface="Calibri"/>
              </a:rPr>
              <a:t>The title says genAI is 'eroding' communities — is this language justified by exploratory, self-reported data?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Implications &amp; Applications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So what? What should educators, students, and researchers do?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Implications for Educators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Intentionally design activities that REQUIRE authentic peer interaction — not just permit it</a:t>
            </a:r>
          </a:p>
          <a:p>
            <a:pPr algn="l" lvl="0">
              <a:lnSpc>
                <a:spcPct val="115000"/>
              </a:lnSpc>
              <a:spcBef>
                <a:spcPts val="120"/>
              </a:spcBef>
            </a:pPr>
            <a:r>
              <a:rPr sz="1900" b="0">
                <a:solidFill>
                  <a:srgbClr val="1A1A2E"/>
                </a:solidFill>
                <a:latin typeface="Calibri"/>
              </a:rPr>
              <a:t>• Pair programming, code reviews, and collaborative debugging resist AI mediation</a:t>
            </a:r>
          </a:p>
          <a:p>
            <a:pPr algn="l" lvl="0">
              <a:lnSpc>
                <a:spcPct val="115000"/>
              </a:lnSpc>
              <a:spcBef>
                <a:spcPts val="120"/>
              </a:spcBef>
            </a:pPr>
            <a:r>
              <a:rPr sz="1900" b="0">
                <a:solidFill>
                  <a:srgbClr val="1A1A2E"/>
                </a:solidFill>
                <a:latin typeface="Calibri"/>
              </a:rPr>
              <a:t>• Rebuild mentorship structures: formal senior-junior pairing programs</a:t>
            </a:r>
          </a:p>
          <a:p>
            <a:pPr algn="l" lvl="0">
              <a:lnSpc>
                <a:spcPct val="115000"/>
              </a:lnSpc>
              <a:spcBef>
                <a:spcPts val="120"/>
              </a:spcBef>
            </a:pPr>
            <a:r>
              <a:rPr sz="1900" b="0">
                <a:solidFill>
                  <a:srgbClr val="1A1A2E"/>
                </a:solidFill>
                <a:latin typeface="Calibri"/>
              </a:rPr>
              <a:t>• Create genAI-free zones or assignments to preserve struggle-based camaraderie</a:t>
            </a:r>
          </a:p>
          <a:p>
            <a:pPr algn="l" lvl="0">
              <a:lnSpc>
                <a:spcPct val="115000"/>
              </a:lnSpc>
              <a:spcBef>
                <a:spcPts val="120"/>
              </a:spcBef>
            </a:pPr>
            <a:r>
              <a:rPr sz="1900" b="0">
                <a:solidFill>
                  <a:srgbClr val="1A1A2E"/>
                </a:solidFill>
                <a:latin typeface="Calibri"/>
              </a:rPr>
              <a:t>• Address shame openly: normalize discussion about when and how AI is used</a:t>
            </a:r>
          </a:p>
          <a:p>
            <a:pPr algn="l" lvl="0">
              <a:lnSpc>
                <a:spcPct val="115000"/>
              </a:lnSpc>
              <a:spcBef>
                <a:spcPts val="120"/>
              </a:spcBef>
            </a:pPr>
            <a:r>
              <a:rPr sz="1900" b="0">
                <a:solidFill>
                  <a:srgbClr val="1A1A2E"/>
                </a:solidFill>
                <a:latin typeface="Calibri"/>
              </a:rPr>
              <a:t>• Monitor community health indicators (Discord activity, office hour attendance)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Implications for Equity &amp; Inclusion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First-generation students rely most on peer networks to navigate the hidden curriculum</a:t>
            </a:r>
          </a:p>
          <a:p>
            <a:pPr algn="l" lvl="0">
              <a:lnSpc>
                <a:spcPct val="115000"/>
              </a:lnSpc>
              <a:spcBef>
                <a:spcPts val="120"/>
              </a:spcBef>
            </a:pPr>
            <a:r>
              <a:rPr sz="1900" b="0">
                <a:solidFill>
                  <a:srgbClr val="1A1A2E"/>
                </a:solidFill>
                <a:latin typeface="Calibri"/>
              </a:rPr>
              <a:t>• Underrepresented students benefit disproportionately from mentorship and belonging</a:t>
            </a:r>
          </a:p>
          <a:p>
            <a:pPr algn="l" lvl="0">
              <a:lnSpc>
                <a:spcPct val="115000"/>
              </a:lnSpc>
              <a:spcBef>
                <a:spcPts val="120"/>
              </a:spcBef>
            </a:pPr>
            <a:r>
              <a:rPr sz="1900" b="0">
                <a:solidFill>
                  <a:srgbClr val="1A1A2E"/>
                </a:solidFill>
                <a:latin typeface="Calibri"/>
              </a:rPr>
              <a:t>• If learning communities erode, existing equity gaps may widen</a:t>
            </a:r>
          </a:p>
          <a:p>
            <a:pPr algn="l" lvl="0">
              <a:lnSpc>
                <a:spcPct val="115000"/>
              </a:lnSpc>
              <a:spcBef>
                <a:spcPts val="120"/>
              </a:spcBef>
            </a:pPr>
            <a:r>
              <a:rPr sz="1900" b="0">
                <a:solidFill>
                  <a:srgbClr val="1A1A2E"/>
                </a:solidFill>
                <a:latin typeface="Calibri"/>
              </a:rPr>
              <a:t>• Students who lack family connections to industry lose the most when peer mentorship declines</a:t>
            </a:r>
          </a:p>
          <a:p>
            <a:pPr algn="l" lvl="0">
              <a:lnSpc>
                <a:spcPct val="115000"/>
              </a:lnSpc>
              <a:spcBef>
                <a:spcPts val="120"/>
              </a:spcBef>
            </a:pPr>
            <a:r>
              <a:rPr sz="1900" b="0">
                <a:solidFill>
                  <a:srgbClr val="1A1A2E"/>
                </a:solidFill>
                <a:latin typeface="Calibri"/>
              </a:rPr>
              <a:t>• Shame and stigma may disproportionately affect students already experiencing impostor syndrome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Implications for Researchers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Urgent need for large-scale quantitative studies measuring actual behavioral changes</a:t>
            </a:r>
          </a:p>
          <a:p>
            <a:pPr algn="l" lvl="0">
              <a:lnSpc>
                <a:spcPct val="115000"/>
              </a:lnSpc>
              <a:spcBef>
                <a:spcPts val="120"/>
              </a:spcBef>
            </a:pPr>
            <a:r>
              <a:rPr sz="1900" b="0">
                <a:solidFill>
                  <a:srgbClr val="1A1A2E"/>
                </a:solidFill>
                <a:latin typeface="Calibri"/>
              </a:rPr>
              <a:t>• Longitudinal designs to track community health over semesters as genAI adoption deepens</a:t>
            </a:r>
          </a:p>
          <a:p>
            <a:pPr algn="l" lvl="0">
              <a:lnSpc>
                <a:spcPct val="115000"/>
              </a:lnSpc>
              <a:spcBef>
                <a:spcPts val="120"/>
              </a:spcBef>
            </a:pPr>
            <a:r>
              <a:rPr sz="1900" b="0">
                <a:solidFill>
                  <a:srgbClr val="1A1A2E"/>
                </a:solidFill>
                <a:latin typeface="Calibri"/>
              </a:rPr>
              <a:t>• Cross-cultural studies: do these patterns hold outside North American R1 contexts?</a:t>
            </a:r>
          </a:p>
          <a:p>
            <a:pPr algn="l" lvl="0">
              <a:lnSpc>
                <a:spcPct val="115000"/>
              </a:lnSpc>
              <a:spcBef>
                <a:spcPts val="120"/>
              </a:spcBef>
            </a:pPr>
            <a:r>
              <a:rPr sz="1900" b="0">
                <a:solidFill>
                  <a:srgbClr val="1A1A2E"/>
                </a:solidFill>
                <a:latin typeface="Calibri"/>
              </a:rPr>
              <a:t>• Measure learning outcomes alongside social metrics — does social erosion actually harm grades, retention?</a:t>
            </a:r>
          </a:p>
          <a:p>
            <a:pPr algn="l" lvl="0">
              <a:lnSpc>
                <a:spcPct val="115000"/>
              </a:lnSpc>
              <a:spcBef>
                <a:spcPts val="120"/>
              </a:spcBef>
            </a:pPr>
            <a:r>
              <a:rPr sz="1900" b="0">
                <a:solidFill>
                  <a:srgbClr val="1A1A2E"/>
                </a:solidFill>
                <a:latin typeface="Calibri"/>
              </a:rPr>
              <a:t>• Study the 'silent mediation' phenomenon: how often is peer help actually AI-generated?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Common Misconceptions About This Paper</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 'This paper proves genAI causes social harm' → It documents perceived trends via 17 interviews; findings are exploratory, not causal</a:t>
            </a:r>
          </a:p>
          <a:p>
            <a:pPr algn="l" lvl="0">
              <a:lnSpc>
                <a:spcPct val="115000"/>
              </a:lnSpc>
              <a:spcBef>
                <a:spcPts val="120"/>
              </a:spcBef>
            </a:pPr>
            <a:r>
              <a:rPr sz="1900" b="0">
                <a:solidFill>
                  <a:srgbClr val="1A1A2E"/>
                </a:solidFill>
                <a:latin typeface="Calibri"/>
              </a:rPr>
              <a:t>• ❌ 'The authors argue against all genAI use' → They acknowledge benefits (reduced frustration, personalized help); concern is about unintended social erosion</a:t>
            </a:r>
          </a:p>
          <a:p>
            <a:pPr algn="l" lvl="0">
              <a:lnSpc>
                <a:spcPct val="115000"/>
              </a:lnSpc>
              <a:spcBef>
                <a:spcPts val="120"/>
              </a:spcBef>
            </a:pPr>
            <a:r>
              <a:rPr sz="1900" b="0">
                <a:solidFill>
                  <a:srgbClr val="1A1A2E"/>
                </a:solidFill>
                <a:latin typeface="Calibri"/>
              </a:rPr>
              <a:t>• ❌ 'Hidden curriculum = formal course content' → It means unwritten rules, professional norms, and tacit knowledge transmitted through informal social interaction</a:t>
            </a:r>
          </a:p>
          <a:p>
            <a:pPr algn="l" lvl="0">
              <a:lnSpc>
                <a:spcPct val="115000"/>
              </a:lnSpc>
              <a:spcBef>
                <a:spcPts val="120"/>
              </a:spcBef>
            </a:pPr>
            <a:r>
              <a:rPr sz="1900" b="0">
                <a:solidFill>
                  <a:srgbClr val="1A1A2E"/>
                </a:solidFill>
                <a:latin typeface="Calibri"/>
              </a:rPr>
              <a:t>• ❌ 'The findings apply to all students everywhere' → Sample is limited to computing undergraduates at North American R1 universities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AI will only give you Times New Roman, and like, people will give you handwriting.</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P11, 1st-year CS student with 4 years of programming experience, on why he still seeks help from friends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Forward-Looking Discussion</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If you were designing a CS course for Fall 2025, what specific activities would you include to counteract the social erosion described in this paper?</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Is it possible — or even desirable — to 'put the genie back in the bottle,' or must we redesign learning communities around genAI's presence?</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How might the dynamics described in this paper differ in non-computing disciplines, or in cultures with different help-seeking norms?</a:t>
            </a:r>
          </a:p>
        </p:txBody>
      </p:sp>
      <p:sp>
        <p:nvSpPr>
          <p:cNvPr id="14" name="Rectangle 13"/>
          <p:cNvSpPr/>
          <p:nvPr/>
        </p:nvSpPr>
        <p:spPr>
          <a:xfrm>
            <a:off x="365760" y="521208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5262880"/>
            <a:ext cx="438912" cy="411480"/>
          </a:xfrm>
          <a:prstGeom prst="rect">
            <a:avLst/>
          </a:prstGeom>
          <a:noFill/>
        </p:spPr>
        <p:txBody>
          <a:bodyPr wrap="square">
            <a:spAutoFit/>
          </a:bodyPr>
          <a:lstStyle/>
          <a:p>
            <a:pPr algn="ctr"/>
            <a:r>
              <a:rPr sz="1800" b="1" i="0">
                <a:solidFill>
                  <a:srgbClr val="FFFFFF"/>
                </a:solidFill>
                <a:latin typeface="Calibri"/>
              </a:rPr>
              <a:t>4</a:t>
            </a:r>
          </a:p>
        </p:txBody>
      </p:sp>
      <p:sp>
        <p:nvSpPr>
          <p:cNvPr id="16" name="TextBox 15"/>
          <p:cNvSpPr txBox="1"/>
          <p:nvPr/>
        </p:nvSpPr>
        <p:spPr>
          <a:xfrm>
            <a:off x="1005840" y="5212080"/>
            <a:ext cx="10515600" cy="1097280"/>
          </a:xfrm>
          <a:prstGeom prst="rect">
            <a:avLst/>
          </a:prstGeom>
          <a:noFill/>
        </p:spPr>
        <p:txBody>
          <a:bodyPr wrap="square">
            <a:spAutoFit/>
          </a:bodyPr>
          <a:lstStyle/>
          <a:p>
            <a:pPr algn="l"/>
            <a:r>
              <a:rPr sz="1800" b="0" i="0">
                <a:solidFill>
                  <a:srgbClr val="444444"/>
                </a:solidFill>
                <a:latin typeface="Calibri"/>
              </a:rPr>
              <a:t>What would a healthy relationship between genAI use and peer interaction look like in practice?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E89C13"/>
                </a:solidFill>
                <a:latin typeface="Calibri"/>
              </a:rPr>
              <a:t>Key Takeaways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GenAI is not just a cognitive tool — it is reshaping the social fabric of how students learn together</a:t>
            </a:r>
          </a:p>
          <a:p>
            <a:pPr algn="l" lvl="0">
              <a:lnSpc>
                <a:spcPct val="115000"/>
              </a:lnSpc>
              <a:spcBef>
                <a:spcPts val="120"/>
              </a:spcBef>
            </a:pPr>
            <a:r>
              <a:rPr sz="1900" b="0">
                <a:solidFill>
                  <a:srgbClr val="1A1A2E"/>
                </a:solidFill>
                <a:latin typeface="Calibri"/>
              </a:rPr>
              <a:t>• 13/17 students reported AI-mediated help-seeking; 11/17 reported increased isolation</a:t>
            </a:r>
          </a:p>
          <a:p>
            <a:pPr algn="l" lvl="0">
              <a:lnSpc>
                <a:spcPct val="115000"/>
              </a:lnSpc>
              <a:spcBef>
                <a:spcPts val="120"/>
              </a:spcBef>
            </a:pPr>
            <a:r>
              <a:rPr sz="1900" b="0">
                <a:solidFill>
                  <a:srgbClr val="1A1A2E"/>
                </a:solidFill>
                <a:latin typeface="Calibri"/>
              </a:rPr>
              <a:t>• Even non-users are affected: genAI mediation is 'unavoidable' and 'inevitable' in computing communities</a:t>
            </a:r>
          </a:p>
          <a:p>
            <a:pPr algn="l" lvl="0">
              <a:lnSpc>
                <a:spcPct val="115000"/>
              </a:lnSpc>
              <a:spcBef>
                <a:spcPts val="120"/>
              </a:spcBef>
            </a:pPr>
            <a:r>
              <a:rPr sz="1900" b="0">
                <a:solidFill>
                  <a:srgbClr val="1A1A2E"/>
                </a:solidFill>
                <a:latin typeface="Calibri"/>
              </a:rPr>
              <a:t>• The hidden curriculum, mentorship, diverse perspectives, and belonging are all at risk</a:t>
            </a:r>
          </a:p>
          <a:p>
            <a:pPr algn="l" lvl="0">
              <a:lnSpc>
                <a:spcPct val="115000"/>
              </a:lnSpc>
              <a:spcBef>
                <a:spcPts val="120"/>
              </a:spcBef>
            </a:pPr>
            <a:r>
              <a:rPr sz="1900" b="0">
                <a:solidFill>
                  <a:srgbClr val="1A1A2E"/>
                </a:solidFill>
                <a:latin typeface="Calibri"/>
              </a:rPr>
              <a:t>• The paper is exploratory (N=17, qualitative) — compelling signals, not established facts</a:t>
            </a:r>
          </a:p>
          <a:p>
            <a:pPr algn="l" lvl="0">
              <a:lnSpc>
                <a:spcPct val="115000"/>
              </a:lnSpc>
              <a:spcBef>
                <a:spcPts val="120"/>
              </a:spcBef>
            </a:pPr>
            <a:r>
              <a:rPr sz="1900" b="0">
                <a:solidFill>
                  <a:srgbClr val="1A1A2E"/>
                </a:solidFill>
                <a:latin typeface="Calibri"/>
              </a:rPr>
              <a:t>• Educators must intentionally design for human interaction; efficiency alone is insufficient for learning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1371600"/>
          </a:xfrm>
          <a:prstGeom prst="rect">
            <a:avLst/>
          </a:prstGeom>
          <a:noFill/>
        </p:spPr>
        <p:txBody>
          <a:bodyPr wrap="square">
            <a:spAutoFit/>
          </a:bodyPr>
          <a:lstStyle/>
          <a:p>
            <a:pPr algn="l"/>
            <a:r>
              <a:rPr sz="4800" b="1" i="0">
                <a:solidFill>
                  <a:srgbClr val="FFFFFF"/>
                </a:solidFill>
                <a:latin typeface="Calibri"/>
              </a:rPr>
              <a:t>Questions &amp; Discussion</a:t>
            </a:r>
          </a:p>
        </p:txBody>
      </p:sp>
      <p:sp>
        <p:nvSpPr>
          <p:cNvPr id="4" name="TextBox 3"/>
          <p:cNvSpPr txBox="1"/>
          <p:nvPr/>
        </p:nvSpPr>
        <p:spPr>
          <a:xfrm>
            <a:off x="548640" y="3474720"/>
            <a:ext cx="10058400" cy="731520"/>
          </a:xfrm>
          <a:prstGeom prst="rect">
            <a:avLst/>
          </a:prstGeom>
          <a:noFill/>
        </p:spPr>
        <p:txBody>
          <a:bodyPr wrap="square">
            <a:spAutoFit/>
          </a:bodyPr>
          <a:lstStyle/>
          <a:p>
            <a:pPr algn="l"/>
            <a:r>
              <a:rPr sz="2200" b="0" i="0">
                <a:solidFill>
                  <a:srgbClr val="16857B"/>
                </a:solidFill>
                <a:latin typeface="Calibri"/>
              </a:rPr>
              <a:t>Thank you — next week's reading will be posted tonight. Office hours: Thursday 2–4pm.</a:t>
            </a:r>
          </a:p>
        </p:txBody>
      </p:sp>
      <p:sp>
        <p:nvSpPr>
          <p:cNvPr id="5" name="Rectangle 4"/>
          <p:cNvSpPr/>
          <p:nvPr/>
        </p:nvSpPr>
        <p:spPr>
          <a:xfrm>
            <a:off x="548640" y="4389120"/>
            <a:ext cx="45720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