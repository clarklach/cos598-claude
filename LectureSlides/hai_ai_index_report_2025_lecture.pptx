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We're covering the most comprehensive annual assessment of AI's trajectory—Stanford HAI's AI Index Report 2025. This is a data-driven, 400+ page report that spans research, performance, economics, policy, and public opinion. Our goal is to extract the critical insights and evaluate them critically.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map to the major sections of today's lecture. By the end, you should be able to not only summarize the report's findings but critically evaluate its claims and identify what it leaves unaddressed.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briskly through context, spend the most time on the framework and evidence sections, then shift to critical evaluation and forward-looking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2024 was a watershed year. AI received the highest possible scientific recognition—two Nobels and a Turing Award. Meanwhile, adoption hit an inflection point and governments shifted from debating AI to investing in it at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concrete deployment milestones to show that AI is no longer hypothetical. The FDA device number is particularly striking—a 37x increase in 8 years. This grounds the rest of the lecture in real-world impact.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from the co-directors captures the central framing of the entire report. It signals a shift from speculative AI discourse to empirical assessment of deployed AI systems. Ask students: what does it mean for AI research when the object of study is already deeply embedded in society?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strength is its multi-dimensional approach. No single metric captures 'the state of AI.' Explain that Chapters 7 (Education) and 8 (Public Opinion) round out the eight domains. This framework is what makes the Index unique—it's not just about model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tension of the report. Frame it as a scissors diagram: capability curve going up steeply, responsible governance curve lagging behind. This tension is the lens through which students should evaluate every subsequent finding.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crucial to get right. Students often assume U.S. dominance is universal. It's not—the U.S. leads in frontier models and capital, China leads in volume metrics (publications, patents, robots). Benchmark convergence is particularly noteworthy: gaps shrank from double digits to near zero in one year.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back on the narrative that academia is irrelevant. The report shows a clear division of labor: industry builds and deploys models, academia produces the most influential foundational research. This complementarity is important for students considering career paths.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the critical distinction: 'open-weight' ≠ 'open-source.' Open-weight releases model parameters but not necessarily training data, code, or the full reproducibility pipeline. This matters enormously for responsible AI evaluations and reproducible research.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is the dominant paradigm but it faces headwinds. The shrinking data commons is a potential bottleneck—websites are increasingly restricting scraping. The frontier convergence suggests diminishing returns from scaling alone, pushing toward new approaches like test-time compute.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juxtaposition is key: AI crushes well-defined benchmarks rapidly, but new harder benchmarks show enormous gaps remain. SWE-bench going from 4.4% to 71.7% is perhaps the most dramatic single-year improvement ever recorded. Yet Humanity's Last Exam at 8.80% shows how much headroom remains.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280-fold cost drop is one of the report's headline numbers, but be precise: this is for GPT-3.5-level performance on MMLU specifically. Frontier model costs (like o1) are actually much higher. The Phi-3-mini example shows a 142-fold parameter reduction for equivalent performance—a powerful efficiency trend.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is surging but returns are modest. This is a critical nuance: AI's business value is real but still early-stage. The adoption-to-returns gap suggests we're in an investment and experimentation phase, not yet a mature deployment phase. Compare to earlier technology adoption curves.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Nobel Prizes represent a cultural milestone—AI's contributions are now considered among the most important in all of science. AlphaFold's database growth from 2021 is staggering (585%) and shows how AI is becoming infrastructure for biological research.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56% rise in AI incidents is alarming, especially alongside the finding that standardized RAI evaluations remain rare. The implicit bias finding is particularly important: models trained to be explicitly unbiased still harbor implicit biases—a deep and unsolved challenge.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regulatory acceleration is remarkable—U.S. state laws nearly tripled in one year. But note the tension: federal legislation remains slow while states rush ahead, creating a patchwork. Globally, the investment figures signal that AI infrastructure is now treated as national strategic priority.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this discussion. Guide students toward recognizing that benchmarks measure narrow capabilities while real-world deployment requires broad generalization. The investment-performance gap between U.S. and China raises questions about capital efficiency and what benchmarks actually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credibility comes from its institutional backing, named contributors, and reproducible data. Note that they publish raw data and high-resolution charts publicly on Google Drive—this is good practice. The admission of using ChatGPT and Claude for editing is a nice transparency touch.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students to think about what's NOT in the report. Labor displacement receives almost no attention despite massive adoption increases. Inference emissions at scale could dwarf training emissions but aren't systematically tracked. The Global South is mentioned but thinly covered.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captures the fundamental reliability gap. IMO problems are hard but well-defined. PlanBench tests open-ended logical reasoning where solutions are provably correct—and AI fails. This has direct implications for high-stakes deployment in law, medicine, and engineering. Ask students: what does this mean for trust in AI systems?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efficiency gains are real but are being outpaced by the growth in model scale—a classic Jevons paradox scenario. The nuclear energy deals (Microsoft reviving Three Mile Island for AI) are remarkable and worth highlighting as signals of AI's energy appetite. The data scarcity trend could fundamentally alter how models are trained.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practitioners, the message is clear: AI adoption is accelerating and the cost barriers are falling fast. But set realistic expectations—most companies are seeing modest returns so far. The regulatory landscape is shifting rapidly, especially at the state level, so compliance planning is urgent.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federal-vs-state regulatory mismatch in the U.S. is a policy challenge worth emphasizing. Globally, the proliferation of safety institutes is promising but coordination challenges are real. The education readiness gap is a sleeper issue—if we can't train teachers, we can't prepare the next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graduate students in this room, the message is encouraging: academia still drives the most influential research. The unsolved problems—complex reasoning, planning, bias mitigation—represent major opportunities. The Nobel recognition of AI+science work validates interdisciplinary research paths.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misconception carefully. These are sourced directly from the report's own data and the confusion areas identified in the course reading analysis. The open-weight vs. open-source distinction is particularly important for anyone working on reproducibility or responsible AI.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here. These questions connect the report's findings to unresolved tensions. The data commons question points toward synthetic data and federated learning. The incidents question forces students to think about base rates. The public opinion gap connects to governance legitimacy.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central tension one final time. The report documents both extraordinary progress and extraordinary risk. The students' challenge—as future researchers, practitioners, and policymakers—is to navigate this tension with evidence-based thinking.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the full dataset and interactive Global AI Vibrancy Tool are publicly available. Encourage them to explore the raw data for their course projects. The report's DOI is 10.48550/arXiv.2504.07139 for citation purposes.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457200"/>
          </a:xfrm>
          <a:prstGeom prst="rect">
            <a:avLst/>
          </a:prstGeom>
          <a:noFill/>
        </p:spPr>
        <p:txBody>
          <a:bodyPr wrap="square">
            <a:spAutoFit/>
          </a:bodyPr>
          <a:lstStyle/>
          <a:p>
            <a:pPr algn="l"/>
            <a:r>
              <a:rPr sz="1400" b="0" i="0">
                <a:solidFill>
                  <a:srgbClr val="16857B"/>
                </a:solidFill>
                <a:latin typeface="Calibri"/>
              </a:rPr>
              <a:t>COS598</a:t>
            </a:r>
          </a:p>
        </p:txBody>
      </p:sp>
      <p:sp>
        <p:nvSpPr>
          <p:cNvPr id="4" name="TextBox 3"/>
          <p:cNvSpPr txBox="1"/>
          <p:nvPr/>
        </p:nvSpPr>
        <p:spPr>
          <a:xfrm>
            <a:off x="548640" y="1280160"/>
            <a:ext cx="10972800" cy="2560320"/>
          </a:xfrm>
          <a:prstGeom prst="rect">
            <a:avLst/>
          </a:prstGeom>
          <a:noFill/>
        </p:spPr>
        <p:txBody>
          <a:bodyPr wrap="square">
            <a:spAutoFit/>
          </a:bodyPr>
          <a:lstStyle/>
          <a:p>
            <a:pPr algn="l"/>
            <a:r>
              <a:rPr sz="3400" b="1" i="0">
                <a:solidFill>
                  <a:srgbClr val="FFFFFF"/>
                </a:solidFill>
                <a:latin typeface="Calibri"/>
              </a:rPr>
              <a:t>The State of AI in 2025</a:t>
            </a:r>
          </a:p>
        </p:txBody>
      </p:sp>
      <p:sp>
        <p:nvSpPr>
          <p:cNvPr id="5" name="TextBox 4"/>
          <p:cNvSpPr txBox="1"/>
          <p:nvPr/>
        </p:nvSpPr>
        <p:spPr>
          <a:xfrm>
            <a:off x="548640" y="4023360"/>
            <a:ext cx="10972800" cy="640080"/>
          </a:xfrm>
          <a:prstGeom prst="rect">
            <a:avLst/>
          </a:prstGeom>
          <a:noFill/>
        </p:spPr>
        <p:txBody>
          <a:bodyPr wrap="square">
            <a:spAutoFit/>
          </a:bodyPr>
          <a:lstStyle/>
          <a:p>
            <a:pPr algn="l"/>
            <a:r>
              <a:rPr sz="2000" b="0" i="0">
                <a:solidFill>
                  <a:srgbClr val="CCCCCC"/>
                </a:solidFill>
                <a:latin typeface="Calibri"/>
              </a:rPr>
              <a:t>Deep Dive into the Stanford HAI AI Index Report 2025</a:t>
            </a:r>
          </a:p>
        </p:txBody>
      </p:sp>
      <p:sp>
        <p:nvSpPr>
          <p:cNvPr id="6" name="Rectangle 5"/>
          <p:cNvSpPr/>
          <p:nvPr/>
        </p:nvSpPr>
        <p:spPr>
          <a:xfrm>
            <a:off x="548640" y="4846320"/>
            <a:ext cx="7315200" cy="36576"/>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Learning Objectives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Analyze the AI Index's eight-domain framework for assessing AI progress globally</a:t>
            </a:r>
          </a:p>
          <a:p>
            <a:pPr algn="l" lvl="0">
              <a:lnSpc>
                <a:spcPct val="115000"/>
              </a:lnSpc>
              <a:spcBef>
                <a:spcPts val="120"/>
              </a:spcBef>
            </a:pPr>
            <a:r>
              <a:rPr sz="1900" b="0">
                <a:solidFill>
                  <a:srgbClr val="1A1A2E"/>
                </a:solidFill>
                <a:latin typeface="Calibri"/>
              </a:rPr>
              <a:t>• Evaluate quantitative evidence on AI capability gains, cost reductions, and adoption trends</a:t>
            </a:r>
          </a:p>
          <a:p>
            <a:pPr algn="l" lvl="0">
              <a:lnSpc>
                <a:spcPct val="115000"/>
              </a:lnSpc>
              <a:spcBef>
                <a:spcPts val="120"/>
              </a:spcBef>
            </a:pPr>
            <a:r>
              <a:rPr sz="1900" b="0">
                <a:solidFill>
                  <a:srgbClr val="1A1A2E"/>
                </a:solidFill>
                <a:latin typeface="Calibri"/>
              </a:rPr>
              <a:t>• Distinguish between U.S. and Chinese AI leadership across different dimensions</a:t>
            </a:r>
          </a:p>
          <a:p>
            <a:pPr algn="l" lvl="0">
              <a:lnSpc>
                <a:spcPct val="115000"/>
              </a:lnSpc>
              <a:spcBef>
                <a:spcPts val="120"/>
              </a:spcBef>
            </a:pPr>
            <a:r>
              <a:rPr sz="1900" b="0">
                <a:solidFill>
                  <a:srgbClr val="1A1A2E"/>
                </a:solidFill>
                <a:latin typeface="Calibri"/>
              </a:rPr>
              <a:t>• Critically assess tensions between AI capability advances and responsible AI gaps</a:t>
            </a:r>
          </a:p>
          <a:p>
            <a:pPr algn="l" lvl="0">
              <a:lnSpc>
                <a:spcPct val="115000"/>
              </a:lnSpc>
              <a:spcBef>
                <a:spcPts val="120"/>
              </a:spcBef>
            </a:pPr>
            <a:r>
              <a:rPr sz="1900" b="0">
                <a:solidFill>
                  <a:srgbClr val="1A1A2E"/>
                </a:solidFill>
                <a:latin typeface="Calibri"/>
              </a:rPr>
              <a:t>• Synthesize implications for policy, industry, and research from longitudinal AI trend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Lecture Roadmap</a:t>
            </a:r>
          </a:p>
        </p:txBody>
      </p:sp>
      <p:sp>
        <p:nvSpPr>
          <p:cNvPr id="5" name="TextBox 4"/>
          <p:cNvSpPr txBox="1"/>
          <p:nvPr/>
        </p:nvSpPr>
        <p:spPr>
          <a:xfrm>
            <a:off x="45720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Context &amp; Motivation: Why this report matters now (5 min)</a:t>
            </a:r>
          </a:p>
          <a:p>
            <a:pPr algn="l" lvl="0">
              <a:lnSpc>
                <a:spcPct val="115000"/>
              </a:lnSpc>
              <a:spcBef>
                <a:spcPts val="120"/>
              </a:spcBef>
            </a:pPr>
            <a:r>
              <a:rPr sz="1900" b="0">
                <a:solidFill>
                  <a:srgbClr val="1A1A2E"/>
                </a:solidFill>
                <a:latin typeface="Calibri"/>
              </a:rPr>
              <a:t>• Core Framework: The eight-domain assessment model (12 min)</a:t>
            </a:r>
          </a:p>
          <a:p>
            <a:pPr algn="l" lvl="0">
              <a:lnSpc>
                <a:spcPct val="115000"/>
              </a:lnSpc>
              <a:spcBef>
                <a:spcPts val="120"/>
              </a:spcBef>
            </a:pPr>
            <a:r>
              <a:rPr sz="1900" b="0">
                <a:solidFill>
                  <a:srgbClr val="1A1A2E"/>
                </a:solidFill>
                <a:latin typeface="Calibri"/>
              </a:rPr>
              <a:t>• Key Findings: Data-driven evidence across domains (12 min)</a:t>
            </a:r>
          </a:p>
        </p:txBody>
      </p:sp>
      <p:sp>
        <p:nvSpPr>
          <p:cNvPr id="6" name="TextBox 5"/>
          <p:cNvSpPr txBox="1"/>
          <p:nvPr/>
        </p:nvSpPr>
        <p:spPr>
          <a:xfrm>
            <a:off x="621792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Critical Analysis: Strengths, limits, and tensions (8 min)</a:t>
            </a:r>
          </a:p>
          <a:p>
            <a:pPr algn="l" lvl="0">
              <a:lnSpc>
                <a:spcPct val="115000"/>
              </a:lnSpc>
              <a:spcBef>
                <a:spcPts val="120"/>
              </a:spcBef>
            </a:pPr>
            <a:r>
              <a:rPr sz="1900" b="0">
                <a:solidFill>
                  <a:srgbClr val="1A1A2E"/>
                </a:solidFill>
                <a:latin typeface="Calibri"/>
              </a:rPr>
              <a:t>• Implications &amp; Applications: So what? (8 min)</a:t>
            </a:r>
          </a:p>
          <a:p>
            <a:pPr algn="l" lvl="0">
              <a:lnSpc>
                <a:spcPct val="115000"/>
              </a:lnSpc>
              <a:spcBef>
                <a:spcPts val="120"/>
              </a:spcBef>
            </a:pPr>
            <a:r>
              <a:rPr sz="1900" b="0">
                <a:solidFill>
                  <a:srgbClr val="1A1A2E"/>
                </a:solidFill>
                <a:latin typeface="Calibri"/>
              </a:rPr>
              <a:t>• Common Misconceptions &amp; Discussion (5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Context &amp; Motivation</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Why the AI Index Report matters 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Why This Report, Why Now?</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8th annual edition; most comprehensive to date with new hardware and inference cost analyses</a:t>
            </a:r>
          </a:p>
          <a:p>
            <a:pPr algn="l" lvl="0">
              <a:lnSpc>
                <a:spcPct val="115000"/>
              </a:lnSpc>
              <a:spcBef>
                <a:spcPts val="120"/>
              </a:spcBef>
            </a:pPr>
            <a:r>
              <a:rPr sz="1900" b="0">
                <a:solidFill>
                  <a:srgbClr val="1A1A2E"/>
                </a:solidFill>
                <a:latin typeface="Calibri"/>
              </a:rPr>
              <a:t>• AI moved from experimental to a central force reshaping science, industry, and governance</a:t>
            </a:r>
          </a:p>
          <a:p>
            <a:pPr algn="l" lvl="0">
              <a:lnSpc>
                <a:spcPct val="115000"/>
              </a:lnSpc>
              <a:spcBef>
                <a:spcPts val="120"/>
              </a:spcBef>
            </a:pPr>
            <a:r>
              <a:rPr sz="1900" b="0">
                <a:solidFill>
                  <a:srgbClr val="1A1A2E"/>
                </a:solidFill>
                <a:latin typeface="Calibri"/>
              </a:rPr>
              <a:t>• 2024: Nobel Prizes for deep learning (Physics) and protein folding (Chemistry)</a:t>
            </a:r>
          </a:p>
          <a:p>
            <a:pPr algn="l" lvl="0">
              <a:lnSpc>
                <a:spcPct val="115000"/>
              </a:lnSpc>
              <a:spcBef>
                <a:spcPts val="120"/>
              </a:spcBef>
            </a:pPr>
            <a:r>
              <a:rPr sz="1900" b="0">
                <a:solidFill>
                  <a:srgbClr val="1A1A2E"/>
                </a:solidFill>
                <a:latin typeface="Calibri"/>
              </a:rPr>
              <a:t>• Organizational AI adoption jumped from 55% → 78% in a single year</a:t>
            </a:r>
          </a:p>
          <a:p>
            <a:pPr algn="l" lvl="0">
              <a:lnSpc>
                <a:spcPct val="115000"/>
              </a:lnSpc>
              <a:spcBef>
                <a:spcPts val="120"/>
              </a:spcBef>
            </a:pPr>
            <a:r>
              <a:rPr sz="1900" b="0">
                <a:solidFill>
                  <a:srgbClr val="1A1A2E"/>
                </a:solidFill>
                <a:latin typeface="Calibri"/>
              </a:rPr>
              <a:t>• Governments pledged hundreds of billions of dollars for AI infrastructure globally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AI's Trajectory: Lab to Everywhere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2017: AI Index founded as offshoot of Stanford's One Hundred Year Study on AI</a:t>
            </a:r>
          </a:p>
          <a:p>
            <a:pPr algn="l" lvl="0">
              <a:lnSpc>
                <a:spcPct val="115000"/>
              </a:lnSpc>
              <a:spcBef>
                <a:spcPts val="120"/>
              </a:spcBef>
            </a:pPr>
            <a:r>
              <a:rPr sz="1900" b="0">
                <a:solidFill>
                  <a:srgbClr val="1A1A2E"/>
                </a:solidFill>
                <a:latin typeface="Calibri"/>
              </a:rPr>
              <a:t>• 2015: FDA had approved only 6 AI-enabled medical devices; by 2023: 223 devices</a:t>
            </a:r>
          </a:p>
          <a:p>
            <a:pPr algn="l" lvl="0">
              <a:lnSpc>
                <a:spcPct val="115000"/>
              </a:lnSpc>
              <a:spcBef>
                <a:spcPts val="120"/>
              </a:spcBef>
            </a:pPr>
            <a:r>
              <a:rPr sz="1900" b="0">
                <a:solidFill>
                  <a:srgbClr val="1A1A2E"/>
                </a:solidFill>
                <a:latin typeface="Calibri"/>
              </a:rPr>
              <a:t>• Waymo now provides 150,000+ autonomous rides weekly in the U.S.</a:t>
            </a:r>
          </a:p>
          <a:p>
            <a:pPr algn="l" lvl="0">
              <a:lnSpc>
                <a:spcPct val="115000"/>
              </a:lnSpc>
              <a:spcBef>
                <a:spcPts val="120"/>
              </a:spcBef>
            </a:pPr>
            <a:r>
              <a:rPr sz="1900" b="0">
                <a:solidFill>
                  <a:srgbClr val="1A1A2E"/>
                </a:solidFill>
                <a:latin typeface="Calibri"/>
              </a:rPr>
              <a:t>• Baidu's Apollo Go robotaxi fleet serves numerous cities across China</a:t>
            </a:r>
          </a:p>
          <a:p>
            <a:pPr algn="l" lvl="0">
              <a:lnSpc>
                <a:spcPct val="115000"/>
              </a:lnSpc>
              <a:spcBef>
                <a:spcPts val="120"/>
              </a:spcBef>
            </a:pPr>
            <a:r>
              <a:rPr sz="1900" b="0">
                <a:solidFill>
                  <a:srgbClr val="1A1A2E"/>
                </a:solidFill>
                <a:latin typeface="Calibri"/>
              </a:rPr>
              <a:t>• The Turing Test is 'no longer considered an ambitious goal' for modern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AI is no longer just a story of what's possible—it's a story of what's happening now and how we are collectively shaping the future of humanity.</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Yolanda Gil and Raymond Perrault, Co-directors, AI Index Report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Core Framework</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How the AI Index assesses global AI progress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Eight Domains of Assessment</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Research &amp; Development: publications, patents, models, hardware trends</a:t>
            </a:r>
          </a:p>
          <a:p>
            <a:pPr algn="l" lvl="0">
              <a:lnSpc>
                <a:spcPct val="115000"/>
              </a:lnSpc>
              <a:spcBef>
                <a:spcPts val="120"/>
              </a:spcBef>
            </a:pPr>
            <a:r>
              <a:rPr sz="1900" b="0">
                <a:solidFill>
                  <a:srgbClr val="1A1A2E"/>
                </a:solidFill>
                <a:latin typeface="Calibri"/>
              </a:rPr>
              <a:t>• 2. Technical Performance: benchmarks, capabilities, reasoning limits</a:t>
            </a:r>
          </a:p>
          <a:p>
            <a:pPr algn="l" lvl="0">
              <a:lnSpc>
                <a:spcPct val="115000"/>
              </a:lnSpc>
              <a:spcBef>
                <a:spcPts val="120"/>
              </a:spcBef>
            </a:pPr>
            <a:r>
              <a:rPr sz="1900" b="0">
                <a:solidFill>
                  <a:srgbClr val="1A1A2E"/>
                </a:solidFill>
                <a:latin typeface="Calibri"/>
              </a:rPr>
              <a:t>• 3. Responsible AI: bias, safety incidents, transparency, factuality</a:t>
            </a:r>
          </a:p>
          <a:p>
            <a:pPr algn="l" lvl="0">
              <a:lnSpc>
                <a:spcPct val="115000"/>
              </a:lnSpc>
              <a:spcBef>
                <a:spcPts val="120"/>
              </a:spcBef>
            </a:pPr>
            <a:r>
              <a:rPr sz="1900" b="0">
                <a:solidFill>
                  <a:srgbClr val="1A1A2E"/>
                </a:solidFill>
                <a:latin typeface="Calibri"/>
              </a:rPr>
              <a:t>• 4. Economy: investment, adoption, productivity, robotics, energy</a:t>
            </a:r>
          </a:p>
          <a:p>
            <a:pPr algn="l" lvl="0">
              <a:lnSpc>
                <a:spcPct val="115000"/>
              </a:lnSpc>
              <a:spcBef>
                <a:spcPts val="120"/>
              </a:spcBef>
            </a:pPr>
            <a:r>
              <a:rPr sz="1900" b="0">
                <a:solidFill>
                  <a:srgbClr val="1A1A2E"/>
                </a:solidFill>
                <a:latin typeface="Calibri"/>
              </a:rPr>
              <a:t>• 5. Science &amp; Medicine: protein models, clinical AI, FDA approvals</a:t>
            </a:r>
          </a:p>
          <a:p>
            <a:pPr algn="l" lvl="0">
              <a:lnSpc>
                <a:spcPct val="115000"/>
              </a:lnSpc>
              <a:spcBef>
                <a:spcPts val="120"/>
              </a:spcBef>
            </a:pPr>
            <a:r>
              <a:rPr sz="1900" b="0">
                <a:solidFill>
                  <a:srgbClr val="1A1A2E"/>
                </a:solidFill>
                <a:latin typeface="Calibri"/>
              </a:rPr>
              <a:t>• 6. Policy &amp; Governance: regulation, legislation, safety institutes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Central Argument: Capability vs. Responsibility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capabilities are advancing at unprecedented speed across nearly every dimension</a:t>
            </a:r>
          </a:p>
          <a:p>
            <a:pPr algn="l" lvl="0">
              <a:lnSpc>
                <a:spcPct val="115000"/>
              </a:lnSpc>
              <a:spcBef>
                <a:spcPts val="120"/>
              </a:spcBef>
            </a:pPr>
            <a:r>
              <a:rPr sz="1900" b="0">
                <a:solidFill>
                  <a:srgbClr val="1A1A2E"/>
                </a:solidFill>
                <a:latin typeface="Calibri"/>
              </a:rPr>
              <a:t>• Costs are plummeting: 280x inference cost drop, 30% annual hardware cost decline</a:t>
            </a:r>
          </a:p>
          <a:p>
            <a:pPr algn="l" lvl="0">
              <a:lnSpc>
                <a:spcPct val="115000"/>
              </a:lnSpc>
              <a:spcBef>
                <a:spcPts val="120"/>
              </a:spcBef>
            </a:pPr>
            <a:r>
              <a:rPr sz="1900" b="0">
                <a:solidFill>
                  <a:srgbClr val="1A1A2E"/>
                </a:solidFill>
                <a:latin typeface="Calibri"/>
              </a:rPr>
              <a:t>• BUT: Carbon emissions escalating (0.01 tons for AlexNet → 8,930 tons for Llama 3.1)</a:t>
            </a:r>
          </a:p>
          <a:p>
            <a:pPr algn="l" lvl="0">
              <a:lnSpc>
                <a:spcPct val="115000"/>
              </a:lnSpc>
              <a:spcBef>
                <a:spcPts val="120"/>
              </a:spcBef>
            </a:pPr>
            <a:r>
              <a:rPr sz="1900" b="0">
                <a:solidFill>
                  <a:srgbClr val="1A1A2E"/>
                </a:solidFill>
                <a:latin typeface="Calibri"/>
              </a:rPr>
              <a:t>• BUT: AI incidents rose 56% in 2024; trust in AI companies is declining</a:t>
            </a:r>
          </a:p>
          <a:p>
            <a:pPr algn="l" lvl="0">
              <a:lnSpc>
                <a:spcPct val="115000"/>
              </a:lnSpc>
              <a:spcBef>
                <a:spcPts val="120"/>
              </a:spcBef>
            </a:pPr>
            <a:r>
              <a:rPr sz="1900" b="0">
                <a:solidFill>
                  <a:srgbClr val="1A1A2E"/>
                </a:solidFill>
                <a:latin typeface="Calibri"/>
              </a:rPr>
              <a:t>• The gap between what AI can do and what we can responsibly manage is widening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U.S. vs. China: A Nuanced Picture</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United States Leads In</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Notable AI models: 40 vs. China's 15 in 2024</a:t>
            </a:r>
          </a:p>
          <a:p>
            <a:pPr algn="l" lvl="0">
              <a:lnSpc>
                <a:spcPct val="115000"/>
              </a:lnSpc>
              <a:spcBef>
                <a:spcPts val="120"/>
              </a:spcBef>
            </a:pPr>
            <a:r>
              <a:rPr sz="1700" b="0">
                <a:solidFill>
                  <a:srgbClr val="1A1A2E"/>
                </a:solidFill>
                <a:latin typeface="Calibri"/>
              </a:rPr>
              <a:t>• Private AI investment: $109.1B vs. $9.3B</a:t>
            </a:r>
          </a:p>
          <a:p>
            <a:pPr algn="l" lvl="0">
              <a:lnSpc>
                <a:spcPct val="115000"/>
              </a:lnSpc>
              <a:spcBef>
                <a:spcPts val="120"/>
              </a:spcBef>
            </a:pPr>
            <a:r>
              <a:rPr sz="1700" b="0">
                <a:solidFill>
                  <a:srgbClr val="1A1A2E"/>
                </a:solidFill>
                <a:latin typeface="Calibri"/>
              </a:rPr>
              <a:t>• Highly cited top-100 AI publications</a:t>
            </a:r>
          </a:p>
          <a:p>
            <a:pPr algn="l" lvl="0">
              <a:lnSpc>
                <a:spcPct val="115000"/>
              </a:lnSpc>
              <a:spcBef>
                <a:spcPts val="120"/>
              </a:spcBef>
            </a:pPr>
            <a:r>
              <a:rPr sz="1700" b="0">
                <a:solidFill>
                  <a:srgbClr val="1A1A2E"/>
                </a:solidFill>
                <a:latin typeface="Calibri"/>
              </a:rPr>
              <a:t>• Frontier model development &amp; VC ecosystem</a:t>
            </a:r>
          </a:p>
          <a:p>
            <a:pPr algn="l" lvl="0">
              <a:lnSpc>
                <a:spcPct val="115000"/>
              </a:lnSpc>
              <a:spcBef>
                <a:spcPts val="120"/>
              </a:spcBef>
            </a:pPr>
            <a:r>
              <a:rPr sz="1700" b="0">
                <a:solidFill>
                  <a:srgbClr val="1A1A2E"/>
                </a:solidFill>
                <a:latin typeface="Calibri"/>
              </a:rPr>
              <a:t>• Generative AI investment: dominant globally</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China Leads In</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Total AI publications: 23.2% of global share</a:t>
            </a:r>
          </a:p>
          <a:p>
            <a:pPr algn="l" lvl="0">
              <a:lnSpc>
                <a:spcPct val="115000"/>
              </a:lnSpc>
              <a:spcBef>
                <a:spcPts val="120"/>
              </a:spcBef>
            </a:pPr>
            <a:r>
              <a:rPr sz="1700" b="0">
                <a:solidFill>
                  <a:srgbClr val="1A1A2E"/>
                </a:solidFill>
                <a:latin typeface="Calibri"/>
              </a:rPr>
              <a:t>• Total AI citations: 22.6% of global share</a:t>
            </a:r>
          </a:p>
          <a:p>
            <a:pPr algn="l" lvl="0">
              <a:lnSpc>
                <a:spcPct val="115000"/>
              </a:lnSpc>
              <a:spcBef>
                <a:spcPts val="120"/>
              </a:spcBef>
            </a:pPr>
            <a:r>
              <a:rPr sz="1700" b="0">
                <a:solidFill>
                  <a:srgbClr val="1A1A2E"/>
                </a:solidFill>
                <a:latin typeface="Calibri"/>
              </a:rPr>
              <a:t>• AI patents: 69.7% of all global grants</a:t>
            </a:r>
          </a:p>
          <a:p>
            <a:pPr algn="l" lvl="0">
              <a:lnSpc>
                <a:spcPct val="115000"/>
              </a:lnSpc>
              <a:spcBef>
                <a:spcPts val="120"/>
              </a:spcBef>
            </a:pPr>
            <a:r>
              <a:rPr sz="1700" b="0">
                <a:solidFill>
                  <a:srgbClr val="1A1A2E"/>
                </a:solidFill>
                <a:latin typeface="Calibri"/>
              </a:rPr>
              <a:t>• Industrial robot installations: 276,300 in 2023</a:t>
            </a:r>
          </a:p>
          <a:p>
            <a:pPr algn="l" lvl="0">
              <a:lnSpc>
                <a:spcPct val="115000"/>
              </a:lnSpc>
              <a:spcBef>
                <a:spcPts val="120"/>
              </a:spcBef>
            </a:pPr>
            <a:r>
              <a:rPr sz="1700" b="0">
                <a:solidFill>
                  <a:srgbClr val="1A1A2E"/>
                </a:solidFill>
                <a:latin typeface="Calibri"/>
              </a:rPr>
              <a:t>• Benchmark parity: MMLU gap now only 0.3 pts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Industry vs. Academia in AI</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Industry Dominates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~90% of notable AI models in 2024 from industry</a:t>
            </a:r>
          </a:p>
          <a:p>
            <a:pPr algn="l" lvl="0">
              <a:lnSpc>
                <a:spcPct val="115000"/>
              </a:lnSpc>
              <a:spcBef>
                <a:spcPts val="120"/>
              </a:spcBef>
            </a:pPr>
            <a:r>
              <a:rPr sz="1700" b="0">
                <a:solidFill>
                  <a:srgbClr val="1A1A2E"/>
                </a:solidFill>
                <a:latin typeface="Calibri"/>
              </a:rPr>
              <a:t>• Up from 60% in 2023—dramatic acceleration</a:t>
            </a:r>
          </a:p>
          <a:p>
            <a:pPr algn="l" lvl="0">
              <a:lnSpc>
                <a:spcPct val="115000"/>
              </a:lnSpc>
              <a:spcBef>
                <a:spcPts val="120"/>
              </a:spcBef>
            </a:pPr>
            <a:r>
              <a:rPr sz="1700" b="0">
                <a:solidFill>
                  <a:srgbClr val="1A1A2E"/>
                </a:solidFill>
                <a:latin typeface="Calibri"/>
              </a:rPr>
              <a:t>• Training compute doubles every 5 months</a:t>
            </a:r>
          </a:p>
          <a:p>
            <a:pPr algn="l" lvl="0">
              <a:lnSpc>
                <a:spcPct val="115000"/>
              </a:lnSpc>
              <a:spcBef>
                <a:spcPts val="120"/>
              </a:spcBef>
            </a:pPr>
            <a:r>
              <a:rPr sz="1700" b="0">
                <a:solidFill>
                  <a:srgbClr val="1A1A2E"/>
                </a:solidFill>
                <a:latin typeface="Calibri"/>
              </a:rPr>
              <a:t>• Massive capital enables scaling: billions per model</a:t>
            </a:r>
          </a:p>
          <a:p>
            <a:pPr algn="l" lvl="0">
              <a:lnSpc>
                <a:spcPct val="115000"/>
              </a:lnSpc>
              <a:spcBef>
                <a:spcPts val="120"/>
              </a:spcBef>
            </a:pPr>
            <a:r>
              <a:rPr sz="1700" b="0">
                <a:solidFill>
                  <a:srgbClr val="1A1A2E"/>
                </a:solidFill>
                <a:latin typeface="Calibri"/>
              </a:rPr>
              <a:t>• Industry drives deployment and commercialization</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Academia Still Leads</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Single leading source of top-100 cited papers</a:t>
            </a:r>
          </a:p>
          <a:p>
            <a:pPr algn="l" lvl="0">
              <a:lnSpc>
                <a:spcPct val="115000"/>
              </a:lnSpc>
              <a:spcBef>
                <a:spcPts val="120"/>
              </a:spcBef>
            </a:pPr>
            <a:r>
              <a:rPr sz="1700" b="0">
                <a:solidFill>
                  <a:srgbClr val="1A1A2E"/>
                </a:solidFill>
                <a:latin typeface="Calibri"/>
              </a:rPr>
              <a:t>• Foundational research still originates in academia</a:t>
            </a:r>
          </a:p>
          <a:p>
            <a:pPr algn="l" lvl="0">
              <a:lnSpc>
                <a:spcPct val="115000"/>
              </a:lnSpc>
              <a:spcBef>
                <a:spcPts val="120"/>
              </a:spcBef>
            </a:pPr>
            <a:r>
              <a:rPr sz="1700" b="0">
                <a:solidFill>
                  <a:srgbClr val="1A1A2E"/>
                </a:solidFill>
                <a:latin typeface="Calibri"/>
              </a:rPr>
              <a:t>• RAI research growing: 28.8% increase 2023→2024</a:t>
            </a:r>
          </a:p>
          <a:p>
            <a:pPr algn="l" lvl="0">
              <a:lnSpc>
                <a:spcPct val="115000"/>
              </a:lnSpc>
              <a:spcBef>
                <a:spcPts val="120"/>
              </a:spcBef>
            </a:pPr>
            <a:r>
              <a:rPr sz="1700" b="0">
                <a:solidFill>
                  <a:srgbClr val="1A1A2E"/>
                </a:solidFill>
                <a:latin typeface="Calibri"/>
              </a:rPr>
              <a:t>• Benchmark design &amp; evaluation from universities</a:t>
            </a:r>
          </a:p>
          <a:p>
            <a:pPr algn="l" lvl="0">
              <a:lnSpc>
                <a:spcPct val="115000"/>
              </a:lnSpc>
              <a:spcBef>
                <a:spcPts val="120"/>
              </a:spcBef>
            </a:pPr>
            <a:r>
              <a:rPr sz="1700" b="0">
                <a:solidFill>
                  <a:srgbClr val="1A1A2E"/>
                </a:solidFill>
                <a:latin typeface="Calibri"/>
              </a:rPr>
              <a:t>• Long-term theoretical advances remain academic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Open-Weight vs. Proprietary Models</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Open-Weight Models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Performance gap shrunk from 8.0% to 1.7% in one year</a:t>
            </a:r>
          </a:p>
          <a:p>
            <a:pPr algn="l" lvl="0">
              <a:lnSpc>
                <a:spcPct val="115000"/>
              </a:lnSpc>
              <a:spcBef>
                <a:spcPts val="120"/>
              </a:spcBef>
            </a:pPr>
            <a:r>
              <a:rPr sz="1700" b="0">
                <a:solidFill>
                  <a:srgbClr val="1A1A2E"/>
                </a:solidFill>
                <a:latin typeface="Calibri"/>
              </a:rPr>
              <a:t>• Measured on Chatbot Arena Leaderboard</a:t>
            </a:r>
          </a:p>
          <a:p>
            <a:pPr algn="l" lvl="0">
              <a:lnSpc>
                <a:spcPct val="115000"/>
              </a:lnSpc>
              <a:spcBef>
                <a:spcPts val="120"/>
              </a:spcBef>
            </a:pPr>
            <a:r>
              <a:rPr sz="1700" b="0">
                <a:solidFill>
                  <a:srgbClr val="1A1A2E"/>
                </a:solidFill>
                <a:latin typeface="Calibri"/>
              </a:rPr>
              <a:t>• Lowers barriers to entry for AI development</a:t>
            </a:r>
          </a:p>
          <a:p>
            <a:pPr algn="l" lvl="0">
              <a:lnSpc>
                <a:spcPct val="115000"/>
              </a:lnSpc>
              <a:spcBef>
                <a:spcPts val="120"/>
              </a:spcBef>
            </a:pPr>
            <a:r>
              <a:rPr sz="1700" b="0">
                <a:solidFill>
                  <a:srgbClr val="1A1A2E"/>
                </a:solidFill>
                <a:latin typeface="Calibri"/>
              </a:rPr>
              <a:t>• Parameters publicly released</a:t>
            </a:r>
          </a:p>
          <a:p>
            <a:pPr algn="l" lvl="0">
              <a:lnSpc>
                <a:spcPct val="115000"/>
              </a:lnSpc>
              <a:spcBef>
                <a:spcPts val="120"/>
              </a:spcBef>
            </a:pPr>
            <a:r>
              <a:rPr sz="1700" b="0">
                <a:solidFill>
                  <a:srgbClr val="1A1A2E"/>
                </a:solidFill>
                <a:latin typeface="Calibri"/>
              </a:rPr>
              <a:t>• Training data/code may NOT be included</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Proprietary (Closed) Models</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Still hold slight performance edge at frontier</a:t>
            </a:r>
          </a:p>
          <a:p>
            <a:pPr algn="l" lvl="0">
              <a:lnSpc>
                <a:spcPct val="115000"/>
              </a:lnSpc>
              <a:spcBef>
                <a:spcPts val="120"/>
              </a:spcBef>
            </a:pPr>
            <a:r>
              <a:rPr sz="1700" b="0">
                <a:solidFill>
                  <a:srgbClr val="1A1A2E"/>
                </a:solidFill>
                <a:latin typeface="Calibri"/>
              </a:rPr>
              <a:t>• Full pipeline controlled by developer</a:t>
            </a:r>
          </a:p>
          <a:p>
            <a:pPr algn="l" lvl="0">
              <a:lnSpc>
                <a:spcPct val="115000"/>
              </a:lnSpc>
              <a:spcBef>
                <a:spcPts val="120"/>
              </a:spcBef>
            </a:pPr>
            <a:r>
              <a:rPr sz="1700" b="0">
                <a:solidFill>
                  <a:srgbClr val="1A1A2E"/>
                </a:solidFill>
                <a:latin typeface="Calibri"/>
              </a:rPr>
              <a:t>• Frontier reasoning models (o1) are 6x more expensive</a:t>
            </a:r>
          </a:p>
          <a:p>
            <a:pPr algn="l" lvl="0">
              <a:lnSpc>
                <a:spcPct val="115000"/>
              </a:lnSpc>
              <a:spcBef>
                <a:spcPts val="120"/>
              </a:spcBef>
            </a:pPr>
            <a:r>
              <a:rPr sz="1700" b="0">
                <a:solidFill>
                  <a:srgbClr val="1A1A2E"/>
                </a:solidFill>
                <a:latin typeface="Calibri"/>
              </a:rPr>
              <a:t>• o1 is 30x slower than GPT-4o</a:t>
            </a:r>
          </a:p>
          <a:p>
            <a:pPr algn="l" lvl="0">
              <a:lnSpc>
                <a:spcPct val="115000"/>
              </a:lnSpc>
              <a:spcBef>
                <a:spcPts val="120"/>
              </a:spcBef>
            </a:pPr>
            <a:r>
              <a:rPr sz="1700" b="0">
                <a:solidFill>
                  <a:srgbClr val="1A1A2E"/>
                </a:solidFill>
                <a:latin typeface="Calibri"/>
              </a:rPr>
              <a:t>• Business model based on API access/licensing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Scaling Laws and Resource Demands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Training compute for notable models doubles every ~5 months</a:t>
            </a:r>
          </a:p>
          <a:p>
            <a:pPr algn="l" lvl="0">
              <a:lnSpc>
                <a:spcPct val="115000"/>
              </a:lnSpc>
              <a:spcBef>
                <a:spcPts val="120"/>
              </a:spcBef>
            </a:pPr>
            <a:r>
              <a:rPr sz="1900" b="0">
                <a:solidFill>
                  <a:srgbClr val="1A1A2E"/>
                </a:solidFill>
                <a:latin typeface="Calibri"/>
              </a:rPr>
              <a:t>• Dataset sizes for LLM training double every ~8 months</a:t>
            </a:r>
          </a:p>
          <a:p>
            <a:pPr algn="l" lvl="0">
              <a:lnSpc>
                <a:spcPct val="115000"/>
              </a:lnSpc>
              <a:spcBef>
                <a:spcPts val="120"/>
              </a:spcBef>
            </a:pPr>
            <a:r>
              <a:rPr sz="1900" b="0">
                <a:solidFill>
                  <a:srgbClr val="1A1A2E"/>
                </a:solidFill>
                <a:latin typeface="Calibri"/>
              </a:rPr>
              <a:t>• Power required for training doubles approximately annually</a:t>
            </a:r>
          </a:p>
          <a:p>
            <a:pPr algn="l" lvl="0">
              <a:lnSpc>
                <a:spcPct val="115000"/>
              </a:lnSpc>
              <a:spcBef>
                <a:spcPts val="120"/>
              </a:spcBef>
            </a:pPr>
            <a:r>
              <a:rPr sz="1900" b="0">
                <a:solidFill>
                  <a:srgbClr val="1A1A2E"/>
                </a:solidFill>
                <a:latin typeface="Calibri"/>
              </a:rPr>
              <a:t>• Elo score gap between #1 and #10 models shrank from 11.9% to 5.4%</a:t>
            </a:r>
          </a:p>
          <a:p>
            <a:pPr algn="l" lvl="0">
              <a:lnSpc>
                <a:spcPct val="115000"/>
              </a:lnSpc>
              <a:spcBef>
                <a:spcPts val="120"/>
              </a:spcBef>
            </a:pPr>
            <a:r>
              <a:rPr sz="1900" b="0">
                <a:solidFill>
                  <a:srgbClr val="1A1A2E"/>
                </a:solidFill>
                <a:latin typeface="Calibri"/>
              </a:rPr>
              <a:t>• Top two models separated by just 0.7%—frontier is crowded</a:t>
            </a:r>
          </a:p>
          <a:p>
            <a:pPr algn="l" lvl="0">
              <a:lnSpc>
                <a:spcPct val="115000"/>
              </a:lnSpc>
              <a:spcBef>
                <a:spcPts val="120"/>
              </a:spcBef>
            </a:pPr>
            <a:r>
              <a:rPr sz="1900" b="0">
                <a:solidFill>
                  <a:srgbClr val="1A1A2E"/>
                </a:solidFill>
                <a:latin typeface="Calibri"/>
              </a:rPr>
              <a:t>• The data commons is shrinking: restricted tokens jumped from 5–7% to 20–33%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Key Findings &amp; Evidence</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Quantitative insights across the eight domains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Benchmark Performance Explosion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SWE-bench (coding): 4.4% → 71.7% in one year (+67.3 percentage points)</a:t>
            </a:r>
          </a:p>
          <a:p>
            <a:pPr algn="l" lvl="0">
              <a:lnSpc>
                <a:spcPct val="115000"/>
              </a:lnSpc>
              <a:spcBef>
                <a:spcPts val="120"/>
              </a:spcBef>
            </a:pPr>
            <a:r>
              <a:rPr sz="1900" b="0">
                <a:solidFill>
                  <a:srgbClr val="1A1A2E"/>
                </a:solidFill>
                <a:latin typeface="Calibri"/>
              </a:rPr>
              <a:t>• GPQA (graduate-level QA): +48.9 percentage point improvement in 2024</a:t>
            </a:r>
          </a:p>
          <a:p>
            <a:pPr algn="l" lvl="0">
              <a:lnSpc>
                <a:spcPct val="115000"/>
              </a:lnSpc>
              <a:spcBef>
                <a:spcPts val="120"/>
              </a:spcBef>
            </a:pPr>
            <a:r>
              <a:rPr sz="1900" b="0">
                <a:solidFill>
                  <a:srgbClr val="1A1A2E"/>
                </a:solidFill>
                <a:latin typeface="Calibri"/>
              </a:rPr>
              <a:t>• MMMU (multimodal understanding): +18.8 percentage point gain in 2024</a:t>
            </a:r>
          </a:p>
          <a:p>
            <a:pPr algn="l" lvl="0">
              <a:lnSpc>
                <a:spcPct val="115000"/>
              </a:lnSpc>
              <a:spcBef>
                <a:spcPts val="120"/>
              </a:spcBef>
            </a:pPr>
            <a:r>
              <a:rPr sz="1900" b="0">
                <a:solidFill>
                  <a:srgbClr val="1A1A2E"/>
                </a:solidFill>
                <a:latin typeface="Calibri"/>
              </a:rPr>
              <a:t>• MedQA (clinical knowledge): +28.4 pp since late 2022; o1 scores 96.0%</a:t>
            </a:r>
          </a:p>
          <a:p>
            <a:pPr algn="l" lvl="0">
              <a:lnSpc>
                <a:spcPct val="115000"/>
              </a:lnSpc>
              <a:spcBef>
                <a:spcPts val="120"/>
              </a:spcBef>
            </a:pPr>
            <a:r>
              <a:rPr sz="1900" b="0">
                <a:solidFill>
                  <a:srgbClr val="1A1A2E"/>
                </a:solidFill>
                <a:latin typeface="Calibri"/>
              </a:rPr>
              <a:t>• BUT: Humanity's Last Exam—top system scores only 8.80%</a:t>
            </a:r>
          </a:p>
          <a:p>
            <a:pPr algn="l" lvl="0">
              <a:lnSpc>
                <a:spcPct val="115000"/>
              </a:lnSpc>
              <a:spcBef>
                <a:spcPts val="120"/>
              </a:spcBef>
            </a:pPr>
            <a:r>
              <a:rPr sz="1900" b="0">
                <a:solidFill>
                  <a:srgbClr val="1A1A2E"/>
                </a:solidFill>
                <a:latin typeface="Calibri"/>
              </a:rPr>
              <a:t>• BUT: FrontierMath—AI solves only 2% of problems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Cost &amp; Efficiency Revolution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GPT-3.5-level inference cost: $20.00/M tokens (Nov 2022) → $0.07/M (Oct 2024)</a:t>
            </a:r>
          </a:p>
          <a:p>
            <a:pPr algn="l" lvl="0">
              <a:lnSpc>
                <a:spcPct val="115000"/>
              </a:lnSpc>
              <a:spcBef>
                <a:spcPts val="120"/>
              </a:spcBef>
            </a:pPr>
            <a:r>
              <a:rPr sz="1900" b="0">
                <a:solidFill>
                  <a:srgbClr val="1A1A2E"/>
                </a:solidFill>
                <a:latin typeface="Calibri"/>
              </a:rPr>
              <a:t>• That's a 280-fold reduction in ~18 months</a:t>
            </a:r>
          </a:p>
          <a:p>
            <a:pPr algn="l" lvl="0">
              <a:lnSpc>
                <a:spcPct val="115000"/>
              </a:lnSpc>
              <a:spcBef>
                <a:spcPts val="120"/>
              </a:spcBef>
            </a:pPr>
            <a:r>
              <a:rPr sz="1900" b="0">
                <a:solidFill>
                  <a:srgbClr val="1A1A2E"/>
                </a:solidFill>
                <a:latin typeface="Calibri"/>
              </a:rPr>
              <a:t>• LLM inference prices falling 9x to 900x per year depending on task</a:t>
            </a:r>
          </a:p>
          <a:p>
            <a:pPr algn="l" lvl="0">
              <a:lnSpc>
                <a:spcPct val="115000"/>
              </a:lnSpc>
              <a:spcBef>
                <a:spcPts val="120"/>
              </a:spcBef>
            </a:pPr>
            <a:r>
              <a:rPr sz="1900" b="0">
                <a:solidFill>
                  <a:srgbClr val="1A1A2E"/>
                </a:solidFill>
                <a:latin typeface="Calibri"/>
              </a:rPr>
              <a:t>• ML hardware performance: +43% annually, doubling every 1.9 years</a:t>
            </a:r>
          </a:p>
          <a:p>
            <a:pPr algn="l" lvl="0">
              <a:lnSpc>
                <a:spcPct val="115000"/>
              </a:lnSpc>
              <a:spcBef>
                <a:spcPts val="120"/>
              </a:spcBef>
            </a:pPr>
            <a:r>
              <a:rPr sz="1900" b="0">
                <a:solidFill>
                  <a:srgbClr val="1A1A2E"/>
                </a:solidFill>
                <a:latin typeface="Calibri"/>
              </a:rPr>
              <a:t>• Hardware costs declining 30% per year; energy efficiency improving 40%/year</a:t>
            </a:r>
          </a:p>
          <a:p>
            <a:pPr algn="l" lvl="0">
              <a:lnSpc>
                <a:spcPct val="115000"/>
              </a:lnSpc>
              <a:spcBef>
                <a:spcPts val="120"/>
              </a:spcBef>
            </a:pPr>
            <a:r>
              <a:rPr sz="1900" b="0">
                <a:solidFill>
                  <a:srgbClr val="1A1A2E"/>
                </a:solidFill>
                <a:latin typeface="Calibri"/>
              </a:rPr>
              <a:t>• Smaller models matching larger ones: Phi-3-mini (3.8B) matches PaLM (540B) on MMLU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Business Adoption &amp; Financial Impact</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Organizational AI adoption: 55% → 78% in one year (McKinsey survey)</a:t>
            </a:r>
          </a:p>
          <a:p>
            <a:pPr algn="l" lvl="0">
              <a:lnSpc>
                <a:spcPct val="115000"/>
              </a:lnSpc>
              <a:spcBef>
                <a:spcPts val="120"/>
              </a:spcBef>
            </a:pPr>
            <a:r>
              <a:rPr sz="1900" b="0">
                <a:solidFill>
                  <a:srgbClr val="1A1A2E"/>
                </a:solidFill>
                <a:latin typeface="Calibri"/>
              </a:rPr>
              <a:t>• GenAI use in at least one business function: 33% → 71% in one year</a:t>
            </a:r>
          </a:p>
          <a:p>
            <a:pPr algn="l" lvl="0">
              <a:lnSpc>
                <a:spcPct val="115000"/>
              </a:lnSpc>
              <a:spcBef>
                <a:spcPts val="120"/>
              </a:spcBef>
            </a:pPr>
            <a:r>
              <a:rPr sz="1900" b="0">
                <a:solidFill>
                  <a:srgbClr val="1A1A2E"/>
                </a:solidFill>
                <a:latin typeface="Calibri"/>
              </a:rPr>
              <a:t>• Global private AI investment: $252.3B total; private investment up 44.5%</a:t>
            </a:r>
          </a:p>
          <a:p>
            <a:pPr algn="l" lvl="0">
              <a:lnSpc>
                <a:spcPct val="115000"/>
              </a:lnSpc>
              <a:spcBef>
                <a:spcPts val="120"/>
              </a:spcBef>
            </a:pPr>
            <a:r>
              <a:rPr sz="1900" b="0">
                <a:solidFill>
                  <a:srgbClr val="1A1A2E"/>
                </a:solidFill>
                <a:latin typeface="Calibri"/>
              </a:rPr>
              <a:t>• GenAI private investment: $33.9B in 2024 (+18.7% from 2023)</a:t>
            </a:r>
          </a:p>
          <a:p>
            <a:pPr algn="l" lvl="0">
              <a:lnSpc>
                <a:spcPct val="115000"/>
              </a:lnSpc>
              <a:spcBef>
                <a:spcPts val="120"/>
              </a:spcBef>
            </a:pPr>
            <a:r>
              <a:rPr sz="1900" b="0">
                <a:solidFill>
                  <a:srgbClr val="1A1A2E"/>
                </a:solidFill>
                <a:latin typeface="Calibri"/>
              </a:rPr>
              <a:t>• Cost savings: most companies report &lt;10% reduction so far</a:t>
            </a:r>
          </a:p>
          <a:p>
            <a:pPr algn="l" lvl="0">
              <a:lnSpc>
                <a:spcPct val="115000"/>
              </a:lnSpc>
              <a:spcBef>
                <a:spcPts val="120"/>
              </a:spcBef>
            </a:pPr>
            <a:r>
              <a:rPr sz="1900" b="0">
                <a:solidFill>
                  <a:srgbClr val="1A1A2E"/>
                </a:solidFill>
                <a:latin typeface="Calibri"/>
              </a:rPr>
              <a:t>• Revenue gains: most common level is &lt;5% increase—real but early-stage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AI in Science: Nobel-Level Recognition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Nobel Prize in Chemistry: Hassabis &amp; Jumper for AlphaFold protein folding</a:t>
            </a:r>
          </a:p>
          <a:p>
            <a:pPr algn="l" lvl="0">
              <a:lnSpc>
                <a:spcPct val="115000"/>
              </a:lnSpc>
              <a:spcBef>
                <a:spcPts val="120"/>
              </a:spcBef>
            </a:pPr>
            <a:r>
              <a:rPr sz="1900" b="0">
                <a:solidFill>
                  <a:srgbClr val="1A1A2E"/>
                </a:solidFill>
                <a:latin typeface="Calibri"/>
              </a:rPr>
              <a:t>• Nobel Prize in Physics: Hopfield &amp; Hinton for foundational neural network work</a:t>
            </a:r>
          </a:p>
          <a:p>
            <a:pPr algn="l" lvl="0">
              <a:lnSpc>
                <a:spcPct val="115000"/>
              </a:lnSpc>
              <a:spcBef>
                <a:spcPts val="120"/>
              </a:spcBef>
            </a:pPr>
            <a:r>
              <a:rPr sz="1900" b="0">
                <a:solidFill>
                  <a:srgbClr val="1A1A2E"/>
                </a:solidFill>
                <a:latin typeface="Calibri"/>
              </a:rPr>
              <a:t>• Turing Award: Honored groundbreaking contributions to reinforcement learning</a:t>
            </a:r>
          </a:p>
          <a:p>
            <a:pPr algn="l" lvl="0">
              <a:lnSpc>
                <a:spcPct val="115000"/>
              </a:lnSpc>
              <a:spcBef>
                <a:spcPts val="120"/>
              </a:spcBef>
            </a:pPr>
            <a:r>
              <a:rPr sz="1900" b="0">
                <a:solidFill>
                  <a:srgbClr val="1A1A2E"/>
                </a:solidFill>
                <a:latin typeface="Calibri"/>
              </a:rPr>
              <a:t>• ESM3 and AlphaFold 3 launched in 2024 with improved protein prediction accuracy</a:t>
            </a:r>
          </a:p>
          <a:p>
            <a:pPr algn="l" lvl="0">
              <a:lnSpc>
                <a:spcPct val="115000"/>
              </a:lnSpc>
              <a:spcBef>
                <a:spcPts val="120"/>
              </a:spcBef>
            </a:pPr>
            <a:r>
              <a:rPr sz="1900" b="0">
                <a:solidFill>
                  <a:srgbClr val="1A1A2E"/>
                </a:solidFill>
                <a:latin typeface="Calibri"/>
              </a:rPr>
              <a:t>• AlphaFold database grew 585% since 2021; UniProt grew 31%, PDB grew 23%</a:t>
            </a:r>
          </a:p>
          <a:p>
            <a:pPr algn="l" lvl="0">
              <a:lnSpc>
                <a:spcPct val="115000"/>
              </a:lnSpc>
              <a:spcBef>
                <a:spcPts val="120"/>
              </a:spcBef>
            </a:pPr>
            <a:r>
              <a:rPr sz="1900" b="0">
                <a:solidFill>
                  <a:srgbClr val="1A1A2E"/>
                </a:solidFill>
                <a:latin typeface="Calibri"/>
              </a:rPr>
              <a:t>• New AI tools: Aviary (bio tasks via LLM agents), FireSat (wildfire prediction)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Responsible AI Gap</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incidents reported: 233 in 2024, up 56.4% from 2023 (AI Incidents Database)</a:t>
            </a:r>
          </a:p>
          <a:p>
            <a:pPr algn="l" lvl="0">
              <a:lnSpc>
                <a:spcPct val="115000"/>
              </a:lnSpc>
              <a:spcBef>
                <a:spcPts val="120"/>
              </a:spcBef>
            </a:pPr>
            <a:r>
              <a:rPr sz="1900" b="0">
                <a:solidFill>
                  <a:srgbClr val="1A1A2E"/>
                </a:solidFill>
                <a:latin typeface="Calibri"/>
              </a:rPr>
              <a:t>• Standardized RAI evaluations remain rare among major industrial model developers</a:t>
            </a:r>
          </a:p>
          <a:p>
            <a:pPr algn="l" lvl="0">
              <a:lnSpc>
                <a:spcPct val="115000"/>
              </a:lnSpc>
              <a:spcBef>
                <a:spcPts val="120"/>
              </a:spcBef>
            </a:pPr>
            <a:r>
              <a:rPr sz="1900" b="0">
                <a:solidFill>
                  <a:srgbClr val="1A1A2E"/>
                </a:solidFill>
                <a:latin typeface="Calibri"/>
              </a:rPr>
              <a:t>• Foundation Model Transparency Index: average score improved 37% → 58%</a:t>
            </a:r>
          </a:p>
          <a:p>
            <a:pPr algn="l" lvl="0">
              <a:lnSpc>
                <a:spcPct val="115000"/>
              </a:lnSpc>
              <a:spcBef>
                <a:spcPts val="120"/>
              </a:spcBef>
            </a:pPr>
            <a:r>
              <a:rPr sz="1900" b="0">
                <a:solidFill>
                  <a:srgbClr val="1A1A2E"/>
                </a:solidFill>
                <a:latin typeface="Calibri"/>
              </a:rPr>
              <a:t>• LLMs (GPT-4, Claude 3) still exhibit implicit racial/gender biases</a:t>
            </a:r>
          </a:p>
          <a:p>
            <a:pPr algn="l" lvl="1">
              <a:lnSpc>
                <a:spcPct val="115000"/>
              </a:lnSpc>
              <a:spcBef>
                <a:spcPts val="0"/>
              </a:spcBef>
            </a:pPr>
            <a:r>
              <a:rPr sz="1700" b="0">
                <a:solidFill>
                  <a:srgbClr val="444444"/>
                </a:solidFill>
                <a:latin typeface="Calibri"/>
              </a:rPr>
              <a:t>  – Associate negative terms with Black individuals disproportionately</a:t>
            </a:r>
          </a:p>
          <a:p>
            <a:pPr algn="l" lvl="1">
              <a:lnSpc>
                <a:spcPct val="115000"/>
              </a:lnSpc>
              <a:spcBef>
                <a:spcPts val="0"/>
              </a:spcBef>
            </a:pPr>
            <a:r>
              <a:rPr sz="1700" b="0">
                <a:solidFill>
                  <a:srgbClr val="444444"/>
                </a:solidFill>
                <a:latin typeface="Calibri"/>
              </a:rPr>
              <a:t>  – Favor men for leadership roles; associate women with humanities over 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Global Policy &amp; Governance Response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U.S. federal AI regulations: 59 in 2024 (more than double 2023's 25)</a:t>
            </a:r>
          </a:p>
          <a:p>
            <a:pPr algn="l" lvl="0">
              <a:lnSpc>
                <a:spcPct val="115000"/>
              </a:lnSpc>
              <a:spcBef>
                <a:spcPts val="120"/>
              </a:spcBef>
            </a:pPr>
            <a:r>
              <a:rPr sz="1900" b="0">
                <a:solidFill>
                  <a:srgbClr val="1A1A2E"/>
                </a:solidFill>
                <a:latin typeface="Calibri"/>
              </a:rPr>
              <a:t>• Issued by 42 unique federal agencies, up from 21 in 2023</a:t>
            </a:r>
          </a:p>
          <a:p>
            <a:pPr algn="l" lvl="0">
              <a:lnSpc>
                <a:spcPct val="115000"/>
              </a:lnSpc>
              <a:spcBef>
                <a:spcPts val="120"/>
              </a:spcBef>
            </a:pPr>
            <a:r>
              <a:rPr sz="1900" b="0">
                <a:solidFill>
                  <a:srgbClr val="1A1A2E"/>
                </a:solidFill>
                <a:latin typeface="Calibri"/>
              </a:rPr>
              <a:t>• U.S. state AI laws surged from 49 (2023) to 131 (2024)</a:t>
            </a:r>
          </a:p>
          <a:p>
            <a:pPr algn="l" lvl="0">
              <a:lnSpc>
                <a:spcPct val="115000"/>
              </a:lnSpc>
              <a:spcBef>
                <a:spcPts val="120"/>
              </a:spcBef>
            </a:pPr>
            <a:r>
              <a:rPr sz="1900" b="0">
                <a:solidFill>
                  <a:srgbClr val="1A1A2E"/>
                </a:solidFill>
                <a:latin typeface="Calibri"/>
              </a:rPr>
              <a:t>• Global legislative AI mentions up 21.3% across 75 countries; 9x since 2016</a:t>
            </a:r>
          </a:p>
          <a:p>
            <a:pPr algn="l" lvl="0">
              <a:lnSpc>
                <a:spcPct val="115000"/>
              </a:lnSpc>
              <a:spcBef>
                <a:spcPts val="120"/>
              </a:spcBef>
            </a:pPr>
            <a:r>
              <a:rPr sz="1900" b="0">
                <a:solidFill>
                  <a:srgbClr val="1A1A2E"/>
                </a:solidFill>
                <a:latin typeface="Calibri"/>
              </a:rPr>
              <a:t>• Major national investments: France €109B, Saudi Arabia $100B, China $47.5B</a:t>
            </a:r>
          </a:p>
          <a:p>
            <a:pPr algn="l" lvl="0">
              <a:lnSpc>
                <a:spcPct val="115000"/>
              </a:lnSpc>
              <a:spcBef>
                <a:spcPts val="120"/>
              </a:spcBef>
            </a:pPr>
            <a:r>
              <a:rPr sz="1900" b="0">
                <a:solidFill>
                  <a:srgbClr val="1A1A2E"/>
                </a:solidFill>
                <a:latin typeface="Calibri"/>
              </a:rPr>
              <a:t>• AI safety institutes launched across 11+ countries following AI Safety Summits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Interpreting the Evidence</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The report shows AI benchmark scores improving dramatically, yet complex reasoning remains unsolved. How should we interpret this paradox?</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Chinese models achieved near-parity with U.S. models on benchmarks despite receiving 12x less private investment. What explains this? What doesn't it capture?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Is the 280-fold inference cost reduction a meaningful indicator of democratization, or does the cost of frontier models (o1 is 6x more expensive) tell a different 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Critical Analysis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Evaluating the report's strengths, limits, and tensions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Strengths of the AI Index Report</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Longitudinal tracking since 2017 provides essential temporal context</a:t>
            </a:r>
          </a:p>
          <a:p>
            <a:pPr algn="l" lvl="0">
              <a:lnSpc>
                <a:spcPct val="115000"/>
              </a:lnSpc>
              <a:spcBef>
                <a:spcPts val="120"/>
              </a:spcBef>
            </a:pPr>
            <a:r>
              <a:rPr sz="1900" b="0">
                <a:solidFill>
                  <a:srgbClr val="1A1A2E"/>
                </a:solidFill>
                <a:latin typeface="Calibri"/>
              </a:rPr>
              <a:t>• Multi-dimensional: covers 8 domains, avoiding single-metric reductionism</a:t>
            </a:r>
          </a:p>
          <a:p>
            <a:pPr algn="l" lvl="0">
              <a:lnSpc>
                <a:spcPct val="115000"/>
              </a:lnSpc>
              <a:spcBef>
                <a:spcPts val="120"/>
              </a:spcBef>
            </a:pPr>
            <a:r>
              <a:rPr sz="1900" b="0">
                <a:solidFill>
                  <a:srgbClr val="1A1A2E"/>
                </a:solidFill>
                <a:latin typeface="Calibri"/>
              </a:rPr>
              <a:t>• Data-driven and rigorously validated with named analytics partners</a:t>
            </a:r>
          </a:p>
          <a:p>
            <a:pPr algn="l" lvl="0">
              <a:lnSpc>
                <a:spcPct val="115000"/>
              </a:lnSpc>
              <a:spcBef>
                <a:spcPts val="120"/>
              </a:spcBef>
            </a:pPr>
            <a:r>
              <a:rPr sz="1900" b="0">
                <a:solidFill>
                  <a:srgbClr val="1A1A2E"/>
                </a:solidFill>
                <a:latin typeface="Calibri"/>
              </a:rPr>
              <a:t>• Globally sourced: covers 75+ countries' legislative data, cross-national surveys</a:t>
            </a:r>
          </a:p>
          <a:p>
            <a:pPr algn="l" lvl="0">
              <a:lnSpc>
                <a:spcPct val="115000"/>
              </a:lnSpc>
              <a:spcBef>
                <a:spcPts val="120"/>
              </a:spcBef>
            </a:pPr>
            <a:r>
              <a:rPr sz="1900" b="0">
                <a:solidFill>
                  <a:srgbClr val="1A1A2E"/>
                </a:solidFill>
                <a:latin typeface="Calibri"/>
              </a:rPr>
              <a:t>• Transparent about its own AI tool usage in the writing process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Limitations &amp; Open Questions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Benchmark-centric framing: excelling on benchmarks ≠ real-world reliability</a:t>
            </a:r>
          </a:p>
          <a:p>
            <a:pPr algn="l" lvl="0">
              <a:lnSpc>
                <a:spcPct val="115000"/>
              </a:lnSpc>
              <a:spcBef>
                <a:spcPts val="120"/>
              </a:spcBef>
            </a:pPr>
            <a:r>
              <a:rPr sz="1900" b="0">
                <a:solidFill>
                  <a:srgbClr val="1A1A2E"/>
                </a:solidFill>
                <a:latin typeface="Calibri"/>
              </a:rPr>
              <a:t>• Limited treatment of labor displacement—focuses on productivity gains</a:t>
            </a:r>
          </a:p>
          <a:p>
            <a:pPr algn="l" lvl="0">
              <a:lnSpc>
                <a:spcPct val="115000"/>
              </a:lnSpc>
              <a:spcBef>
                <a:spcPts val="120"/>
              </a:spcBef>
            </a:pPr>
            <a:r>
              <a:rPr sz="1900" b="0">
                <a:solidFill>
                  <a:srgbClr val="1A1A2E"/>
                </a:solidFill>
                <a:latin typeface="Calibri"/>
              </a:rPr>
              <a:t>• Public opinion data limited to 26 nations; developing world underrepresented</a:t>
            </a:r>
          </a:p>
          <a:p>
            <a:pPr algn="l" lvl="0">
              <a:lnSpc>
                <a:spcPct val="115000"/>
              </a:lnSpc>
              <a:spcBef>
                <a:spcPts val="120"/>
              </a:spcBef>
            </a:pPr>
            <a:r>
              <a:rPr sz="1900" b="0">
                <a:solidFill>
                  <a:srgbClr val="1A1A2E"/>
                </a:solidFill>
                <a:latin typeface="Calibri"/>
              </a:rPr>
              <a:t>• Environmental costs only cover training, not inference at scale or full lifecycle</a:t>
            </a:r>
          </a:p>
          <a:p>
            <a:pPr algn="l" lvl="0">
              <a:lnSpc>
                <a:spcPct val="115000"/>
              </a:lnSpc>
              <a:spcBef>
                <a:spcPts val="120"/>
              </a:spcBef>
            </a:pPr>
            <a:r>
              <a:rPr sz="1900" b="0">
                <a:solidFill>
                  <a:srgbClr val="1A1A2E"/>
                </a:solidFill>
                <a:latin typeface="Calibri"/>
              </a:rPr>
              <a:t>• Geopolitical framing centers U.S./China; limited coverage of EU, Global South models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AI models excel at tasks like International Mathematical Olympiad problems but still struggle with complex reasoning benchmarks like PlanBench. They often fail to reliably solve logic tasks even when provably correct solutions exist.</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AI Index Report 2025, Top Takeaway #12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Sustainability Dilemma</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Carbon emissions from training: AlexNet (0.01t) → GPT-3 (588t) → GPT-4 (5,184t) → Llama 3.1 (8,930t)</a:t>
            </a:r>
          </a:p>
          <a:p>
            <a:pPr algn="l" lvl="0">
              <a:lnSpc>
                <a:spcPct val="115000"/>
              </a:lnSpc>
              <a:spcBef>
                <a:spcPts val="120"/>
              </a:spcBef>
            </a:pPr>
            <a:r>
              <a:rPr sz="1900" b="0">
                <a:solidFill>
                  <a:srgbClr val="1A1A2E"/>
                </a:solidFill>
                <a:latin typeface="Calibri"/>
              </a:rPr>
              <a:t>• Average American emits 18 tons/year; Llama 3.1 training ≈ 496 person-years</a:t>
            </a:r>
          </a:p>
          <a:p>
            <a:pPr algn="l" lvl="0">
              <a:lnSpc>
                <a:spcPct val="115000"/>
              </a:lnSpc>
              <a:spcBef>
                <a:spcPts val="120"/>
              </a:spcBef>
            </a:pPr>
            <a:r>
              <a:rPr sz="1900" b="0">
                <a:solidFill>
                  <a:srgbClr val="1A1A2E"/>
                </a:solidFill>
                <a:latin typeface="Calibri"/>
              </a:rPr>
              <a:t>• Hardware efficiency improving 40%/year, but model scale growing faster</a:t>
            </a:r>
          </a:p>
          <a:p>
            <a:pPr algn="l" lvl="0">
              <a:lnSpc>
                <a:spcPct val="115000"/>
              </a:lnSpc>
              <a:spcBef>
                <a:spcPts val="120"/>
              </a:spcBef>
            </a:pPr>
            <a:r>
              <a:rPr sz="1900" b="0">
                <a:solidFill>
                  <a:srgbClr val="1A1A2E"/>
                </a:solidFill>
                <a:latin typeface="Calibri"/>
              </a:rPr>
              <a:t>• Microsoft, Google, Amazon pursuing nuclear energy deals to power AI</a:t>
            </a:r>
          </a:p>
          <a:p>
            <a:pPr algn="l" lvl="0">
              <a:lnSpc>
                <a:spcPct val="115000"/>
              </a:lnSpc>
              <a:spcBef>
                <a:spcPts val="120"/>
              </a:spcBef>
            </a:pPr>
            <a:r>
              <a:rPr sz="1900" b="0">
                <a:solidFill>
                  <a:srgbClr val="1A1A2E"/>
                </a:solidFill>
                <a:latin typeface="Calibri"/>
              </a:rPr>
              <a:t>• Data commons shrinking: restricted tokens jumped from 5–7% to 20–33%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Implications &amp; Applications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What does this mean for practitioners, policymakers, and researchers?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Industry &amp; Practitioners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Adoption is now table stakes: 78% of organizations using AI—competitive pressure is real</a:t>
            </a:r>
          </a:p>
          <a:p>
            <a:pPr algn="l" lvl="0">
              <a:lnSpc>
                <a:spcPct val="115000"/>
              </a:lnSpc>
              <a:spcBef>
                <a:spcPts val="120"/>
              </a:spcBef>
            </a:pPr>
            <a:r>
              <a:rPr sz="1900" b="0">
                <a:solidFill>
                  <a:srgbClr val="1A1A2E"/>
                </a:solidFill>
                <a:latin typeface="Calibri"/>
              </a:rPr>
              <a:t>• Open-weight models (1.7% gap) lower build-vs-buy barriers significantly</a:t>
            </a:r>
          </a:p>
          <a:p>
            <a:pPr algn="l" lvl="0">
              <a:lnSpc>
                <a:spcPct val="115000"/>
              </a:lnSpc>
              <a:spcBef>
                <a:spcPts val="120"/>
              </a:spcBef>
            </a:pPr>
            <a:r>
              <a:rPr sz="1900" b="0">
                <a:solidFill>
                  <a:srgbClr val="1A1A2E"/>
                </a:solidFill>
                <a:latin typeface="Calibri"/>
              </a:rPr>
              <a:t>• Cost reductions enable AI deployment in smaller organizations and startups</a:t>
            </a:r>
          </a:p>
          <a:p>
            <a:pPr algn="l" lvl="0">
              <a:lnSpc>
                <a:spcPct val="115000"/>
              </a:lnSpc>
              <a:spcBef>
                <a:spcPts val="120"/>
              </a:spcBef>
            </a:pPr>
            <a:r>
              <a:rPr sz="1900" b="0">
                <a:solidFill>
                  <a:srgbClr val="1A1A2E"/>
                </a:solidFill>
                <a:latin typeface="Calibri"/>
              </a:rPr>
              <a:t>• BUT: expect modest ROI in the near term (&lt;10% cost savings, &lt;5% revenue gains)</a:t>
            </a:r>
          </a:p>
          <a:p>
            <a:pPr algn="l" lvl="0">
              <a:lnSpc>
                <a:spcPct val="115000"/>
              </a:lnSpc>
              <a:spcBef>
                <a:spcPts val="120"/>
              </a:spcBef>
            </a:pPr>
            <a:r>
              <a:rPr sz="1900" b="0">
                <a:solidFill>
                  <a:srgbClr val="1A1A2E"/>
                </a:solidFill>
                <a:latin typeface="Calibri"/>
              </a:rPr>
              <a:t>• Workforce strategy: AI narrows skill gaps but requires reskilling investment</a:t>
            </a:r>
          </a:p>
          <a:p>
            <a:pPr algn="l" lvl="0">
              <a:lnSpc>
                <a:spcPct val="115000"/>
              </a:lnSpc>
              <a:spcBef>
                <a:spcPts val="120"/>
              </a:spcBef>
            </a:pPr>
            <a:r>
              <a:rPr sz="1900" b="0">
                <a:solidFill>
                  <a:srgbClr val="1A1A2E"/>
                </a:solidFill>
                <a:latin typeface="Calibri"/>
              </a:rPr>
              <a:t>• Prepare for regulatory compliance: U.S. state AI laws tripled in one year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Policymakers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Regulatory patchwork risk: 131 state laws, limited federal legislation</a:t>
            </a:r>
          </a:p>
          <a:p>
            <a:pPr algn="l" lvl="0">
              <a:lnSpc>
                <a:spcPct val="115000"/>
              </a:lnSpc>
              <a:spcBef>
                <a:spcPts val="120"/>
              </a:spcBef>
            </a:pPr>
            <a:r>
              <a:rPr sz="1900" b="0">
                <a:solidFill>
                  <a:srgbClr val="1A1A2E"/>
                </a:solidFill>
                <a:latin typeface="Calibri"/>
              </a:rPr>
              <a:t>• AI safety institutes expanding globally—coordination is critical</a:t>
            </a:r>
          </a:p>
          <a:p>
            <a:pPr algn="l" lvl="0">
              <a:lnSpc>
                <a:spcPct val="115000"/>
              </a:lnSpc>
              <a:spcBef>
                <a:spcPts val="120"/>
              </a:spcBef>
            </a:pPr>
            <a:r>
              <a:rPr sz="1900" b="0">
                <a:solidFill>
                  <a:srgbClr val="1A1A2E"/>
                </a:solidFill>
                <a:latin typeface="Calibri"/>
              </a:rPr>
              <a:t>• Carbon accounting for AI must extend beyond training to full lifecycle</a:t>
            </a:r>
          </a:p>
          <a:p>
            <a:pPr algn="l" lvl="0">
              <a:lnSpc>
                <a:spcPct val="115000"/>
              </a:lnSpc>
              <a:spcBef>
                <a:spcPts val="120"/>
              </a:spcBef>
            </a:pPr>
            <a:r>
              <a:rPr sz="1900" b="0">
                <a:solidFill>
                  <a:srgbClr val="1A1A2E"/>
                </a:solidFill>
                <a:latin typeface="Calibri"/>
              </a:rPr>
              <a:t>• Data governance: shrinking data commons raises competition and fairness issues</a:t>
            </a:r>
          </a:p>
          <a:p>
            <a:pPr algn="l" lvl="0">
              <a:lnSpc>
                <a:spcPct val="115000"/>
              </a:lnSpc>
              <a:spcBef>
                <a:spcPts val="120"/>
              </a:spcBef>
            </a:pPr>
            <a:r>
              <a:rPr sz="1900" b="0">
                <a:solidFill>
                  <a:srgbClr val="1A1A2E"/>
                </a:solidFill>
                <a:latin typeface="Calibri"/>
              </a:rPr>
              <a:t>• Education gap: 81% of CS teachers want to teach AI, &lt;50% feel equipped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Researchers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Academia's role: foundational research and benchmark design remain essential</a:t>
            </a:r>
          </a:p>
          <a:p>
            <a:pPr algn="l" lvl="0">
              <a:lnSpc>
                <a:spcPct val="115000"/>
              </a:lnSpc>
              <a:spcBef>
                <a:spcPts val="120"/>
              </a:spcBef>
            </a:pPr>
            <a:r>
              <a:rPr sz="1900" b="0">
                <a:solidFill>
                  <a:srgbClr val="1A1A2E"/>
                </a:solidFill>
                <a:latin typeface="Calibri"/>
              </a:rPr>
              <a:t>• RAI research growing fast (28.8% increase)—high-impact area for contributions</a:t>
            </a:r>
          </a:p>
          <a:p>
            <a:pPr algn="l" lvl="0">
              <a:lnSpc>
                <a:spcPct val="115000"/>
              </a:lnSpc>
              <a:spcBef>
                <a:spcPts val="120"/>
              </a:spcBef>
            </a:pPr>
            <a:r>
              <a:rPr sz="1900" b="0">
                <a:solidFill>
                  <a:srgbClr val="1A1A2E"/>
                </a:solidFill>
                <a:latin typeface="Calibri"/>
              </a:rPr>
              <a:t>• Complex reasoning, planning, and reliability are unsolved frontier problems</a:t>
            </a:r>
          </a:p>
          <a:p>
            <a:pPr algn="l" lvl="0">
              <a:lnSpc>
                <a:spcPct val="115000"/>
              </a:lnSpc>
              <a:spcBef>
                <a:spcPts val="120"/>
              </a:spcBef>
            </a:pPr>
            <a:r>
              <a:rPr sz="1900" b="0">
                <a:solidFill>
                  <a:srgbClr val="1A1A2E"/>
                </a:solidFill>
                <a:latin typeface="Calibri"/>
              </a:rPr>
              <a:t>• New benchmarks needed: Humanity's Last Exam (8.8%), FrontierMath (2%)</a:t>
            </a:r>
          </a:p>
          <a:p>
            <a:pPr algn="l" lvl="0">
              <a:lnSpc>
                <a:spcPct val="115000"/>
              </a:lnSpc>
              <a:spcBef>
                <a:spcPts val="120"/>
              </a:spcBef>
            </a:pPr>
            <a:r>
              <a:rPr sz="1900" b="0">
                <a:solidFill>
                  <a:srgbClr val="1A1A2E"/>
                </a:solidFill>
                <a:latin typeface="Calibri"/>
              </a:rPr>
              <a:t>• Interdisciplinary AI+science is being recognized at the highest levels (Nobels)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Common Misconceptions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 'U.S. leads in everything AI' → China leads in publications, patents, and robots</a:t>
            </a:r>
          </a:p>
          <a:p>
            <a:pPr algn="l" lvl="1">
              <a:lnSpc>
                <a:spcPct val="115000"/>
              </a:lnSpc>
              <a:spcBef>
                <a:spcPts val="0"/>
              </a:spcBef>
            </a:pPr>
            <a:r>
              <a:rPr sz="1700" b="0">
                <a:solidFill>
                  <a:srgbClr val="444444"/>
                </a:solidFill>
                <a:latin typeface="Calibri"/>
              </a:rPr>
              <a:t>  – U.S. advantage is concentrated in frontier models and venture capital</a:t>
            </a:r>
          </a:p>
          <a:p>
            <a:pPr algn="l" lvl="0">
              <a:lnSpc>
                <a:spcPct val="115000"/>
              </a:lnSpc>
              <a:spcBef>
                <a:spcPts val="120"/>
              </a:spcBef>
            </a:pPr>
            <a:r>
              <a:rPr sz="1900" b="0">
                <a:solidFill>
                  <a:srgbClr val="1A1A2E"/>
                </a:solidFill>
                <a:latin typeface="Calibri"/>
              </a:rPr>
              <a:t>• ❌ 'Open-weight = open-source' → Open-weight releases parameters only</a:t>
            </a:r>
          </a:p>
          <a:p>
            <a:pPr algn="l" lvl="1">
              <a:lnSpc>
                <a:spcPct val="115000"/>
              </a:lnSpc>
              <a:spcBef>
                <a:spcPts val="0"/>
              </a:spcBef>
            </a:pPr>
            <a:r>
              <a:rPr sz="1700" b="0">
                <a:solidFill>
                  <a:srgbClr val="444444"/>
                </a:solidFill>
                <a:latin typeface="Calibri"/>
              </a:rPr>
              <a:t>  – Training data, code, and full reproducibility pipeline may be withheld</a:t>
            </a:r>
          </a:p>
          <a:p>
            <a:pPr algn="l" lvl="0">
              <a:lnSpc>
                <a:spcPct val="115000"/>
              </a:lnSpc>
              <a:spcBef>
                <a:spcPts val="120"/>
              </a:spcBef>
            </a:pPr>
            <a:r>
              <a:rPr sz="1900" b="0">
                <a:solidFill>
                  <a:srgbClr val="1A1A2E"/>
                </a:solidFill>
                <a:latin typeface="Calibri"/>
              </a:rPr>
              <a:t>• ❌ '280x cost drop means all AI is cheap' → Only for GPT-3.5-level MMLU tasks</a:t>
            </a:r>
          </a:p>
          <a:p>
            <a:pPr algn="l" lvl="1">
              <a:lnSpc>
                <a:spcPct val="115000"/>
              </a:lnSpc>
              <a:spcBef>
                <a:spcPts val="0"/>
              </a:spcBef>
            </a:pPr>
            <a:r>
              <a:rPr sz="1700" b="0">
                <a:solidFill>
                  <a:srgbClr val="444444"/>
                </a:solidFill>
                <a:latin typeface="Calibri"/>
              </a:rPr>
              <a:t>  – Frontier reasoning model o1 is 6x more expensive and 30x slower than GPT-4o</a:t>
            </a:r>
          </a:p>
          <a:p>
            <a:pPr algn="l" lvl="0">
              <a:lnSpc>
                <a:spcPct val="115000"/>
              </a:lnSpc>
              <a:spcBef>
                <a:spcPts val="120"/>
              </a:spcBef>
            </a:pPr>
            <a:r>
              <a:rPr sz="1900" b="0">
                <a:solidFill>
                  <a:srgbClr val="1A1A2E"/>
                </a:solidFill>
                <a:latin typeface="Calibri"/>
              </a:rPr>
              <a:t>• ❌ 'AI boosts productivity universally' → Most companies report &lt;10% cost savings</a:t>
            </a:r>
          </a:p>
          <a:p>
            <a:pPr algn="l" lvl="1">
              <a:lnSpc>
                <a:spcPct val="115000"/>
              </a:lnSpc>
              <a:spcBef>
                <a:spcPts val="0"/>
              </a:spcBef>
            </a:pPr>
            <a:r>
              <a:rPr sz="1700" b="0">
                <a:solidFill>
                  <a:srgbClr val="444444"/>
                </a:solidFill>
                <a:latin typeface="Calibri"/>
              </a:rPr>
              <a:t>  – Study designs vary; productivity literature is still emerging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Forward-Looking Discussion</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If the data commons continues shrinking (restricted tokens: 5% → 33%), how might AI training paradigms need to fundamentally change?</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The report shows AI incidents rising 56% while adoption surges to 78%. Should we interpret this as a crisis or a natural consequence of scale?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Given that 90% of notable models come from industry but academia leads in citations, how should universities position their AI research strategy?</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Public opinion varies wildly: China 83% optimistic vs. U.S. 39%. What explains this gap, and does it matter for AI governance?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E89C13"/>
                </a:solidFill>
                <a:latin typeface="Calibri"/>
              </a:rPr>
              <a:t>Key Takeaways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capabilities are advancing at unprecedented speed; benchmarks mastered in months</a:t>
            </a:r>
          </a:p>
          <a:p>
            <a:pPr algn="l" lvl="0">
              <a:lnSpc>
                <a:spcPct val="115000"/>
              </a:lnSpc>
              <a:spcBef>
                <a:spcPts val="120"/>
              </a:spcBef>
            </a:pPr>
            <a:r>
              <a:rPr sz="1900" b="0">
                <a:solidFill>
                  <a:srgbClr val="1A1A2E"/>
                </a:solidFill>
                <a:latin typeface="Calibri"/>
              </a:rPr>
              <a:t>• Costs plummeting (280x) and open-weight models closing gap (1.7%) democratize access</a:t>
            </a:r>
          </a:p>
          <a:p>
            <a:pPr algn="l" lvl="0">
              <a:lnSpc>
                <a:spcPct val="115000"/>
              </a:lnSpc>
              <a:spcBef>
                <a:spcPts val="120"/>
              </a:spcBef>
            </a:pPr>
            <a:r>
              <a:rPr sz="1900" b="0">
                <a:solidFill>
                  <a:srgbClr val="1A1A2E"/>
                </a:solidFill>
                <a:latin typeface="Calibri"/>
              </a:rPr>
              <a:t>• U.S. leads in models and capital; China leads in publications, patents, and robots</a:t>
            </a:r>
          </a:p>
          <a:p>
            <a:pPr algn="l" lvl="0">
              <a:lnSpc>
                <a:spcPct val="115000"/>
              </a:lnSpc>
              <a:spcBef>
                <a:spcPts val="120"/>
              </a:spcBef>
            </a:pPr>
            <a:r>
              <a:rPr sz="1900" b="0">
                <a:solidFill>
                  <a:srgbClr val="1A1A2E"/>
                </a:solidFill>
                <a:latin typeface="Calibri"/>
              </a:rPr>
              <a:t>• Responsible AI lags: incidents up 56%, implicit bias persists, trust declining</a:t>
            </a:r>
          </a:p>
          <a:p>
            <a:pPr algn="l" lvl="0">
              <a:lnSpc>
                <a:spcPct val="115000"/>
              </a:lnSpc>
              <a:spcBef>
                <a:spcPts val="120"/>
              </a:spcBef>
            </a:pPr>
            <a:r>
              <a:rPr sz="1900" b="0">
                <a:solidFill>
                  <a:srgbClr val="1A1A2E"/>
                </a:solidFill>
                <a:latin typeface="Calibri"/>
              </a:rPr>
              <a:t>• Governments responding with regulation and massive investment ($100B+ pledges)</a:t>
            </a:r>
          </a:p>
          <a:p>
            <a:pPr algn="l" lvl="0">
              <a:lnSpc>
                <a:spcPct val="115000"/>
              </a:lnSpc>
              <a:spcBef>
                <a:spcPts val="120"/>
              </a:spcBef>
            </a:pPr>
            <a:r>
              <a:rPr sz="1900" b="0">
                <a:solidFill>
                  <a:srgbClr val="1A1A2E"/>
                </a:solidFill>
                <a:latin typeface="Calibri"/>
              </a:rPr>
              <a:t>• Core tension: capability growth outpaces our ability to ensure safety and fairness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371600"/>
          </a:xfrm>
          <a:prstGeom prst="rect">
            <a:avLst/>
          </a:prstGeom>
          <a:noFill/>
        </p:spPr>
        <p:txBody>
          <a:bodyPr wrap="square">
            <a:spAutoFit/>
          </a:bodyPr>
          <a:lstStyle/>
          <a:p>
            <a:pPr algn="l"/>
            <a:r>
              <a:rPr sz="4800" b="1" i="0">
                <a:solidFill>
                  <a:srgbClr val="FFFFFF"/>
                </a:solidFill>
                <a:latin typeface="Calibri"/>
              </a:rPr>
              <a:t>Thank You &amp; Q&amp;A</a:t>
            </a:r>
          </a:p>
        </p:txBody>
      </p:sp>
      <p:sp>
        <p:nvSpPr>
          <p:cNvPr id="4" name="TextBox 3"/>
          <p:cNvSpPr txBox="1"/>
          <p:nvPr/>
        </p:nvSpPr>
        <p:spPr>
          <a:xfrm>
            <a:off x="548640" y="3474720"/>
            <a:ext cx="10058400" cy="731520"/>
          </a:xfrm>
          <a:prstGeom prst="rect">
            <a:avLst/>
          </a:prstGeom>
          <a:noFill/>
        </p:spPr>
        <p:txBody>
          <a:bodyPr wrap="square">
            <a:spAutoFit/>
          </a:bodyPr>
          <a:lstStyle/>
          <a:p>
            <a:pPr algn="l"/>
            <a:r>
              <a:rPr sz="2200" b="0" i="0">
                <a:solidFill>
                  <a:srgbClr val="16857B"/>
                </a:solidFill>
                <a:latin typeface="Calibri"/>
              </a:rPr>
              <a:t>Next week: [upcoming topic]. Report data available at aiindex.stanford.edu</a:t>
            </a:r>
          </a:p>
        </p:txBody>
      </p:sp>
      <p:sp>
        <p:nvSpPr>
          <p:cNvPr id="5" name="Rectangle 4"/>
          <p:cNvSpPr/>
          <p:nvPr/>
        </p:nvSpPr>
        <p:spPr>
          <a:xfrm>
            <a:off x="548640" y="4389120"/>
            <a:ext cx="45720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